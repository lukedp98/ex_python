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4" r:id="rId4"/>
    <p:sldId id="275" r:id="rId5"/>
    <p:sldId id="276" r:id="rId6"/>
    <p:sldId id="277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1E820B-E4B9-4326-9E0A-32245E96C64A}">
          <p14:sldIdLst>
            <p14:sldId id="256"/>
            <p14:sldId id="273"/>
            <p14:sldId id="274"/>
            <p14:sldId id="275"/>
            <p14:sldId id="276"/>
            <p14:sldId id="277"/>
          </p14:sldIdLst>
        </p14:section>
        <p14:section name="Seção sem Título" id="{5D3938C1-01F9-431A-A6F1-E3F345A874E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FF66FF"/>
    <a:srgbClr val="FF5050"/>
    <a:srgbClr val="0066CC"/>
    <a:srgbClr val="CC0000"/>
    <a:srgbClr val="CC3300"/>
    <a:srgbClr val="00B0F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napToGrid="0">
      <p:cViewPr varScale="1">
        <p:scale>
          <a:sx n="76" d="100"/>
          <a:sy n="76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56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05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667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69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15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840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855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2693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40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349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333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52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81445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42229" y="979663"/>
            <a:ext cx="86464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FF0000"/>
                </a:solidFill>
              </a:rPr>
              <a:t>Curso de Formação Inicial e Continuada</a:t>
            </a:r>
          </a:p>
          <a:p>
            <a:pPr algn="ctr"/>
            <a:r>
              <a:rPr lang="pt-BR" sz="3600" b="1" dirty="0"/>
              <a:t>Programação em Python</a:t>
            </a:r>
          </a:p>
          <a:p>
            <a:pPr algn="ctr"/>
            <a:r>
              <a:rPr lang="pt-BR" sz="3600" dirty="0"/>
              <a:t>Aula 5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986" y="4575360"/>
            <a:ext cx="2571113" cy="164413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-4911" y="6488668"/>
            <a:ext cx="12196911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+mn-lt"/>
              </a:rPr>
              <a:t>Rua Santo André, 680 – Boa Vista – São Caetano do Sul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36" y="3868032"/>
            <a:ext cx="2272376" cy="94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53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/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elif</a:t>
            </a: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pt-BR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endParaRPr lang="pt-BR" sz="5400" b="1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517371" y="875327"/>
            <a:ext cx="5796344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b="1" dirty="0"/>
              <a:t>Lógica Condicional em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lógica condicional permite que o programa execute 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diferentes blocos de código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dependendo se uma condição é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verdadeira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ou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False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É usado sempre que podemos ter mais de uma resposta para o mesmo problema.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Na maioria das situações condicionais é possível uma resposta SE a pergunta for VERDADEIRA e SENÃO uma outra resposta se a pergunta for FALSA.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A pergunta em lógica condicionais recebe o nome de TESTE LÓGICO.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Para realizar o teste lógico, utilizamos os operadores lógicos: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b="1" dirty="0">
                <a:solidFill>
                  <a:srgbClr val="0070C0"/>
                </a:solidFill>
                <a:latin typeface="Arial Nova" panose="020F0502020204030204" pitchFamily="34" charset="0"/>
              </a:rPr>
              <a:t>&lt;	&lt;=	&gt;	&gt;=	==	!=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C1F12C75-56A4-DDE5-E503-C3F7738E9390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8" name="Fluxograma: Decisão 7">
            <a:extLst>
              <a:ext uri="{FF2B5EF4-FFF2-40B4-BE49-F238E27FC236}">
                <a16:creationId xmlns:a16="http://schemas.microsoft.com/office/drawing/2014/main" id="{FEDF9B54-931F-B2D3-1247-1EDD946FA0AC}"/>
              </a:ext>
            </a:extLst>
          </p:cNvPr>
          <p:cNvSpPr/>
          <p:nvPr/>
        </p:nvSpPr>
        <p:spPr>
          <a:xfrm>
            <a:off x="7899013" y="1534484"/>
            <a:ext cx="2707689" cy="1085295"/>
          </a:xfrm>
          <a:prstGeom prst="flowChartDecision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225F1C9-61B2-464F-572B-E27E1796B29C}"/>
              </a:ext>
            </a:extLst>
          </p:cNvPr>
          <p:cNvSpPr/>
          <p:nvPr/>
        </p:nvSpPr>
        <p:spPr>
          <a:xfrm>
            <a:off x="6831086" y="3098496"/>
            <a:ext cx="1580225" cy="577049"/>
          </a:xfrm>
          <a:prstGeom prst="rect">
            <a:avLst/>
          </a:prstGeom>
          <a:noFill/>
          <a:ln w="38100"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4E42F98-65C2-CA13-F755-2FC471A316B5}"/>
              </a:ext>
            </a:extLst>
          </p:cNvPr>
          <p:cNvSpPr/>
          <p:nvPr/>
        </p:nvSpPr>
        <p:spPr>
          <a:xfrm>
            <a:off x="10111701" y="3140475"/>
            <a:ext cx="1580225" cy="577049"/>
          </a:xfrm>
          <a:prstGeom prst="rect">
            <a:avLst/>
          </a:prstGeom>
          <a:noFill/>
          <a:ln w="38100"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5ACCDDA-7CA5-4452-37B7-5F2A630D9CD5}"/>
              </a:ext>
            </a:extLst>
          </p:cNvPr>
          <p:cNvSpPr/>
          <p:nvPr/>
        </p:nvSpPr>
        <p:spPr>
          <a:xfrm>
            <a:off x="8888873" y="4238222"/>
            <a:ext cx="727969" cy="683580"/>
          </a:xfrm>
          <a:prstGeom prst="ellipse">
            <a:avLst/>
          </a:prstGeom>
          <a:noFill/>
          <a:ln w="38100"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B0A5EAF8-F887-F646-D1E8-49A0D0890A5C}"/>
              </a:ext>
            </a:extLst>
          </p:cNvPr>
          <p:cNvCxnSpPr>
            <a:cxnSpLocks/>
            <a:stCxn id="8" idx="1"/>
            <a:endCxn id="10" idx="0"/>
          </p:cNvCxnSpPr>
          <p:nvPr/>
        </p:nvCxnSpPr>
        <p:spPr>
          <a:xfrm rot="10800000" flipV="1">
            <a:off x="7621199" y="2077132"/>
            <a:ext cx="277814" cy="102136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do 19">
            <a:extLst>
              <a:ext uri="{FF2B5EF4-FFF2-40B4-BE49-F238E27FC236}">
                <a16:creationId xmlns:a16="http://schemas.microsoft.com/office/drawing/2014/main" id="{52AA8A3E-19D2-F742-CA5E-15E5E6728342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0606702" y="2077132"/>
            <a:ext cx="343732" cy="106334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C2290B26-2B14-1D77-951C-23B9702A0893}"/>
              </a:ext>
            </a:extLst>
          </p:cNvPr>
          <p:cNvCxnSpPr>
            <a:cxnSpLocks/>
            <a:stCxn id="10" idx="2"/>
          </p:cNvCxnSpPr>
          <p:nvPr/>
        </p:nvCxnSpPr>
        <p:spPr>
          <a:xfrm rot="16200000" flipH="1">
            <a:off x="7822707" y="3474036"/>
            <a:ext cx="904467" cy="130748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Angulado 25">
            <a:extLst>
              <a:ext uri="{FF2B5EF4-FFF2-40B4-BE49-F238E27FC236}">
                <a16:creationId xmlns:a16="http://schemas.microsoft.com/office/drawing/2014/main" id="{B41D0994-E06B-5BF3-102A-9FCCBF30D05F}"/>
              </a:ext>
            </a:extLst>
          </p:cNvPr>
          <p:cNvCxnSpPr>
            <a:cxnSpLocks/>
            <a:endCxn id="12" idx="6"/>
          </p:cNvCxnSpPr>
          <p:nvPr/>
        </p:nvCxnSpPr>
        <p:spPr>
          <a:xfrm rot="10800000" flipV="1">
            <a:off x="9616842" y="3730122"/>
            <a:ext cx="1400348" cy="849890"/>
          </a:xfrm>
          <a:prstGeom prst="bentConnector3">
            <a:avLst>
              <a:gd name="adj1" fmla="val -8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8BE8AC9B-9FBC-74EA-CAC8-4FCD96C60DB8}"/>
              </a:ext>
            </a:extLst>
          </p:cNvPr>
          <p:cNvCxnSpPr>
            <a:cxnSpLocks/>
            <a:stCxn id="12" idx="4"/>
          </p:cNvCxnSpPr>
          <p:nvPr/>
        </p:nvCxnSpPr>
        <p:spPr>
          <a:xfrm>
            <a:off x="9252858" y="4921802"/>
            <a:ext cx="9160" cy="4017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DA0F0163-B84A-0B9A-3C22-50A20756D8D9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252857" y="1065320"/>
            <a:ext cx="1" cy="4691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044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62D21-04F2-F84C-5BA0-E538B9DE4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DC396A05-4D00-28C7-DB66-3B21E429B80C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6FBE3AF2-BA3A-6299-8578-C1B8EB1E1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287B6777-4BAE-2901-E076-4B3F0EC93BA4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E1DA31C5-9E38-AEB9-D428-9CBCADFB45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A7D4DEF-9CDB-6721-7C22-28F963A64A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197C8391-92D2-0426-A49C-0C42D3F2E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elif</a:t>
            </a: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pt-BR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364BB53E-9EEB-7784-DC09-226A8F52B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11290696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Estrutura básica do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if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condição: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   # Código que será executado se a condição for verdadeira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Exemplo: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idade = 18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if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idade &gt;= 18: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   print("Você é maior de idade.")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5267F526-A2F1-3667-974B-2A6F07B657A7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338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66DED-46C9-12C3-99D7-3D6FE9292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0B0D90F9-ABE0-D7C2-66E1-144A004151DC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8F549E63-6E29-5E56-F7A1-5F839423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A55EEB0C-F0B0-0AA0-9713-02004795EEBC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06F105C9-59F3-E91E-0D9C-2B645EC469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48DED91-3DA2-E285-9CD5-FECA1D648B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2FA048F2-E0C4-9733-F645-6A58598A7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elif</a:t>
            </a: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pt-BR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529B9CDF-C6ED-2C05-D7AE-D38A2C5B7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11290696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Estrutura básica do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usando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else</a:t>
            </a: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else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executa um bloco de código 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caso a condição seja falsa.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Exemplo: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idade = 16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if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idade &gt;= 18: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   print("Você é maior de idade.")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else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   print("Você é menor de idade.")</a:t>
            </a: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6A3AB9B9-A70C-BA03-C43B-7E3BF3420678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139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5EAFC-A7A5-9D96-43F7-9AB9F4A75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339A7D01-D9BA-941D-9816-7CEF53497A62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90E0EEA4-542C-FCF1-E081-935C7B430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EECD4A1D-22B5-6BD9-D0DF-4D20127935A0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A5A7FF66-2942-3FFA-75CE-05172C11FE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116B2C6-585E-050D-F354-AFAF60D4FD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F5DF24E9-AC9D-7F09-04F6-C55BCFAD4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elif</a:t>
            </a: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pt-BR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7BA94137-34D4-7473-45E7-E45152C88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11290696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Estrutura básica do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,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elif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else</a:t>
            </a: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elif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else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if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permite testar 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várias condições diferentes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Exemplo: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nota = 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if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nota &gt;= 9: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   print("Excelente!")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elif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nota &gt;= 7: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   print("Bom trabalho!")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elif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nota &gt;= 5: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   print("Você passou, mas pode melhorar.")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else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   print("Reprovado.")</a:t>
            </a: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AD9347B6-F093-668B-415E-5BA2F4D9F05E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226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00833-723B-94EE-C212-2FE47ACFE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5D2D701C-38AC-EE5C-CAD1-1786486475ED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977F8F5A-6617-CACA-53FA-565F99CA1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ED7698D6-2F87-FAB4-030C-663F26F64F3F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FC8FF09C-D794-32A4-E421-E1E0BFCEEE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13BAFCB-770E-AD05-C4AB-C8CF43D15A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FB15AE83-7505-200B-7F40-894249D4C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elif</a:t>
            </a: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pt-BR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AD6B7AD6-8028-1C70-B5BF-3BE9CBE42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6794236" cy="5215431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Operadores lógicos: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AND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500" b="1" dirty="0"/>
              <a:t>AND  (E):</a:t>
            </a:r>
            <a:r>
              <a:rPr lang="pt-BR" sz="1500" dirty="0"/>
              <a:t> Todas as condições precisam ser verdadeiras para apresentar resultado VERDADERO.</a:t>
            </a:r>
            <a:br>
              <a:rPr lang="pt-BR" sz="1500" dirty="0"/>
            </a:br>
            <a:r>
              <a:rPr lang="pt-BR" sz="1500" b="1" dirty="0"/>
              <a:t>OR (OU):</a:t>
            </a:r>
            <a:r>
              <a:rPr lang="pt-BR" sz="1500" dirty="0"/>
              <a:t> Apenas uma condição precisa ser verdadeira. Só apresenta resultado FALSO se todas as condições forem FALSAS.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5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Exemplo AND: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idade = 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tem_carteira</a:t>
            </a:r>
            <a:r>
              <a:rPr lang="pt-BR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= </a:t>
            </a:r>
            <a:r>
              <a:rPr lang="pt-BR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True</a:t>
            </a:r>
            <a:endParaRPr lang="pt-BR" sz="15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5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if</a:t>
            </a:r>
            <a:r>
              <a:rPr lang="pt-BR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idade &gt;= 18 </a:t>
            </a:r>
            <a:r>
              <a:rPr lang="pt-BR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and</a:t>
            </a:r>
            <a:r>
              <a:rPr lang="pt-BR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</a:t>
            </a:r>
            <a:r>
              <a:rPr lang="pt-BR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tem_carteira</a:t>
            </a:r>
            <a:r>
              <a:rPr lang="pt-BR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   print("Você pode dirigir.")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else</a:t>
            </a:r>
            <a:r>
              <a:rPr lang="pt-BR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   print("Você não pode dirigir.")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5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Exemplo de 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feriado = False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fim_de_semana</a:t>
            </a:r>
            <a:r>
              <a:rPr lang="pt-BR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= </a:t>
            </a:r>
            <a:r>
              <a:rPr lang="pt-BR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True</a:t>
            </a:r>
            <a:endParaRPr lang="pt-BR" sz="15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5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if</a:t>
            </a:r>
            <a:r>
              <a:rPr lang="pt-BR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feriado </a:t>
            </a:r>
            <a:r>
              <a:rPr lang="pt-BR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or</a:t>
            </a:r>
            <a:r>
              <a:rPr lang="pt-BR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</a:t>
            </a:r>
            <a:r>
              <a:rPr lang="pt-BR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fim_de_semana</a:t>
            </a:r>
            <a:r>
              <a:rPr lang="pt-BR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   print("Hoje é dia de descanso!")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else</a:t>
            </a:r>
            <a:r>
              <a:rPr lang="pt-BR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    print("Dia útil, vamos trabalhar!")</a:t>
            </a: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91891360-F39F-88BB-1465-C315D776BCF9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F39C2C5C-E360-CA65-123D-AD1A867E3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967039"/>
              </p:ext>
            </p:extLst>
          </p:nvPr>
        </p:nvGraphicFramePr>
        <p:xfrm>
          <a:off x="7311607" y="2451963"/>
          <a:ext cx="4593700" cy="22250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148425">
                  <a:extLst>
                    <a:ext uri="{9D8B030D-6E8A-4147-A177-3AD203B41FA5}">
                      <a16:colId xmlns:a16="http://schemas.microsoft.com/office/drawing/2014/main" val="3318356558"/>
                    </a:ext>
                  </a:extLst>
                </a:gridCol>
                <a:gridCol w="1148425">
                  <a:extLst>
                    <a:ext uri="{9D8B030D-6E8A-4147-A177-3AD203B41FA5}">
                      <a16:colId xmlns:a16="http://schemas.microsoft.com/office/drawing/2014/main" val="1805965174"/>
                    </a:ext>
                  </a:extLst>
                </a:gridCol>
                <a:gridCol w="1148425">
                  <a:extLst>
                    <a:ext uri="{9D8B030D-6E8A-4147-A177-3AD203B41FA5}">
                      <a16:colId xmlns:a16="http://schemas.microsoft.com/office/drawing/2014/main" val="2340866404"/>
                    </a:ext>
                  </a:extLst>
                </a:gridCol>
                <a:gridCol w="1148425">
                  <a:extLst>
                    <a:ext uri="{9D8B030D-6E8A-4147-A177-3AD203B41FA5}">
                      <a16:colId xmlns:a16="http://schemas.microsoft.com/office/drawing/2014/main" val="4101729296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TABELA VERDADE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51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chemeClr val="bg1"/>
                          </a:solidFill>
                        </a:rPr>
                        <a:t>Condição 1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dirty="0">
                          <a:solidFill>
                            <a:schemeClr val="bg1"/>
                          </a:solidFill>
                        </a:rPr>
                        <a:t>Condição 2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E (</a:t>
                      </a:r>
                      <a:r>
                        <a:rPr lang="pt-BR" b="1" dirty="0" err="1">
                          <a:solidFill>
                            <a:schemeClr val="bg1"/>
                          </a:solidFill>
                        </a:rPr>
                        <a:t>and</a:t>
                      </a:r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OU (</a:t>
                      </a:r>
                      <a:r>
                        <a:rPr lang="pt-BR" b="1" dirty="0" err="1">
                          <a:solidFill>
                            <a:schemeClr val="bg1"/>
                          </a:solidFill>
                        </a:rPr>
                        <a:t>or</a:t>
                      </a:r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908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B050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B0F0"/>
                          </a:solidFill>
                        </a:rPr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547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B050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B0F0"/>
                          </a:solidFill>
                        </a:rPr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627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B050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B0F0"/>
                          </a:solidFill>
                        </a:rPr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734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B050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B0F0"/>
                          </a:solidFill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96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23196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13878</TotalTime>
  <Words>481</Words>
  <Application>Microsoft Office PowerPoint</Application>
  <PresentationFormat>Widescreen</PresentationFormat>
  <Paragraphs>101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4" baseType="lpstr">
      <vt:lpstr>Arial Unicode MS</vt:lpstr>
      <vt:lpstr>Agency FB</vt:lpstr>
      <vt:lpstr>Arial</vt:lpstr>
      <vt:lpstr>Arial Nova</vt:lpstr>
      <vt:lpstr>Calibri</vt:lpstr>
      <vt:lpstr>Calibri Light</vt:lpstr>
      <vt:lpstr>Times New Roman</vt:lpstr>
      <vt:lpstr>Tema do Office</vt:lpstr>
      <vt:lpstr>Apresentação do PowerPoint</vt:lpstr>
      <vt:lpstr>If, elif, else, and e or</vt:lpstr>
      <vt:lpstr>If, elif, else, and e or</vt:lpstr>
      <vt:lpstr>If, elif, else, and e or</vt:lpstr>
      <vt:lpstr>If, elif, else, and e or</vt:lpstr>
      <vt:lpstr>If, elif, else, and e or</vt:lpstr>
    </vt:vector>
  </TitlesOfParts>
  <Company>SESI_SENAI_SP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André da Silva</dc:creator>
  <cp:lastModifiedBy>MARCOS ANDRE DA SILVA</cp:lastModifiedBy>
  <cp:revision>172</cp:revision>
  <dcterms:created xsi:type="dcterms:W3CDTF">2017-07-19T17:45:31Z</dcterms:created>
  <dcterms:modified xsi:type="dcterms:W3CDTF">2025-09-26T00:32:02Z</dcterms:modified>
</cp:coreProperties>
</file>