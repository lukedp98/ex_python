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3" r:id="rId3"/>
    <p:sldId id="277" r:id="rId4"/>
    <p:sldId id="274" r:id="rId5"/>
    <p:sldId id="275" r:id="rId6"/>
    <p:sldId id="276" r:id="rId7"/>
    <p:sldId id="278" r:id="rId8"/>
    <p:sldId id="281" r:id="rId9"/>
    <p:sldId id="280" r:id="rId10"/>
    <p:sldId id="282" r:id="rId11"/>
    <p:sldId id="283" r:id="rId12"/>
    <p:sldId id="284" r:id="rId13"/>
    <p:sldId id="285" r:id="rId14"/>
    <p:sldId id="286" r:id="rId15"/>
    <p:sldId id="287" r:id="rId16"/>
    <p:sldId id="288" r:id="rId17"/>
    <p:sldId id="289" r:id="rId1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ção Padrão" id="{761E820B-E4B9-4326-9E0A-32245E96C64A}">
          <p14:sldIdLst>
            <p14:sldId id="256"/>
            <p14:sldId id="273"/>
            <p14:sldId id="277"/>
            <p14:sldId id="274"/>
            <p14:sldId id="275"/>
            <p14:sldId id="276"/>
            <p14:sldId id="278"/>
          </p14:sldIdLst>
        </p14:section>
        <p14:section name="Seção sem Título" id="{5D3938C1-01F9-431A-A6F1-E3F345A874E4}">
          <p14:sldIdLst>
            <p14:sldId id="281"/>
            <p14:sldId id="280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FF"/>
    <a:srgbClr val="FF5050"/>
    <a:srgbClr val="0066CC"/>
    <a:srgbClr val="CC0000"/>
    <a:srgbClr val="CC3300"/>
    <a:srgbClr val="00B0F0"/>
    <a:srgbClr val="FF0000"/>
    <a:srgbClr val="5B9B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DBED569-4797-4DF1-A0F4-6AAB3CD982D8}" styleName="Estilo Claro 3 - Ênfase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75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30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E46FC-05F1-4E56-8287-A94ECB08D438}" type="datetimeFigureOut">
              <a:rPr lang="pt-BR" smtClean="0"/>
              <a:t>07/10/2025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635FB-1ED8-4035-A1D0-E1FE2042D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965689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E46FC-05F1-4E56-8287-A94ECB08D438}" type="datetimeFigureOut">
              <a:rPr lang="pt-BR" smtClean="0"/>
              <a:t>07/10/2025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635FB-1ED8-4035-A1D0-E1FE2042D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740590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E46FC-05F1-4E56-8287-A94ECB08D438}" type="datetimeFigureOut">
              <a:rPr lang="pt-BR" smtClean="0"/>
              <a:t>07/10/2025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635FB-1ED8-4035-A1D0-E1FE2042D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266794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E46FC-05F1-4E56-8287-A94ECB08D438}" type="datetimeFigureOut">
              <a:rPr lang="pt-BR" smtClean="0"/>
              <a:t>07/10/2025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635FB-1ED8-4035-A1D0-E1FE2042D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26960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E46FC-05F1-4E56-8287-A94ECB08D438}" type="datetimeFigureOut">
              <a:rPr lang="pt-BR" smtClean="0"/>
              <a:t>07/10/2025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635FB-1ED8-4035-A1D0-E1FE2042D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51575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E46FC-05F1-4E56-8287-A94ECB08D438}" type="datetimeFigureOut">
              <a:rPr lang="pt-BR" smtClean="0"/>
              <a:t>07/10/2025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635FB-1ED8-4035-A1D0-E1FE2042D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948406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E46FC-05F1-4E56-8287-A94ECB08D438}" type="datetimeFigureOut">
              <a:rPr lang="pt-BR" smtClean="0"/>
              <a:t>07/10/2025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635FB-1ED8-4035-A1D0-E1FE2042D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468552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E46FC-05F1-4E56-8287-A94ECB08D438}" type="datetimeFigureOut">
              <a:rPr lang="pt-BR" smtClean="0"/>
              <a:t>07/10/2025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635FB-1ED8-4035-A1D0-E1FE2042D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626930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E46FC-05F1-4E56-8287-A94ECB08D438}" type="datetimeFigureOut">
              <a:rPr lang="pt-BR" smtClean="0"/>
              <a:t>07/10/2025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635FB-1ED8-4035-A1D0-E1FE2042D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974056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E46FC-05F1-4E56-8287-A94ECB08D438}" type="datetimeFigureOut">
              <a:rPr lang="pt-BR" smtClean="0"/>
              <a:t>07/10/2025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635FB-1ED8-4035-A1D0-E1FE2042D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434900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E46FC-05F1-4E56-8287-A94ECB08D438}" type="datetimeFigureOut">
              <a:rPr lang="pt-BR" smtClean="0"/>
              <a:t>07/10/2025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635FB-1ED8-4035-A1D0-E1FE2042D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93333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AE46FC-05F1-4E56-8287-A94ECB08D438}" type="datetimeFigureOut">
              <a:rPr lang="pt-BR" smtClean="0"/>
              <a:t>07/10/2025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6635FB-1ED8-4035-A1D0-E1FE2042D0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14522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tif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92001" cy="6881445"/>
          </a:xfrm>
          <a:prstGeom prst="rect">
            <a:avLst/>
          </a:prstGeom>
        </p:spPr>
      </p:pic>
      <p:sp>
        <p:nvSpPr>
          <p:cNvPr id="4" name="CaixaDeTexto 3"/>
          <p:cNvSpPr txBox="1"/>
          <p:nvPr/>
        </p:nvSpPr>
        <p:spPr>
          <a:xfrm>
            <a:off x="242229" y="979663"/>
            <a:ext cx="864640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b="1" dirty="0">
                <a:solidFill>
                  <a:srgbClr val="FF0000"/>
                </a:solidFill>
              </a:rPr>
              <a:t>Curso de Formação Inicial e Continuada</a:t>
            </a:r>
          </a:p>
          <a:p>
            <a:pPr algn="ctr"/>
            <a:r>
              <a:rPr lang="pt-BR" sz="3600" b="1" dirty="0"/>
              <a:t>Programação em Python</a:t>
            </a:r>
          </a:p>
          <a:p>
            <a:pPr algn="ctr"/>
            <a:r>
              <a:rPr lang="pt-BR" sz="3600"/>
              <a:t>Aula 6 </a:t>
            </a:r>
            <a:endParaRPr lang="pt-BR" sz="3600" dirty="0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0986" y="4575360"/>
            <a:ext cx="2571113" cy="1644139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-4911" y="6488668"/>
            <a:ext cx="12196911" cy="369332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solidFill>
                  <a:schemeClr val="bg1"/>
                </a:solidFill>
                <a:latin typeface="+mn-lt"/>
              </a:rPr>
              <a:t>Rua Santo André, 680 – Boa Vista – São Caetano do Sul</a:t>
            </a:r>
          </a:p>
        </p:txBody>
      </p:sp>
      <p:pic>
        <p:nvPicPr>
          <p:cNvPr id="8" name="Imagem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936" y="3868032"/>
            <a:ext cx="2272376" cy="947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65316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o 2"/>
          <p:cNvGrpSpPr/>
          <p:nvPr/>
        </p:nvGrpSpPr>
        <p:grpSpPr>
          <a:xfrm>
            <a:off x="0" y="0"/>
            <a:ext cx="12192000" cy="6870358"/>
            <a:chOff x="0" y="0"/>
            <a:chExt cx="12192000" cy="6870358"/>
          </a:xfrm>
        </p:grpSpPr>
        <p:pic>
          <p:nvPicPr>
            <p:cNvPr id="5" name="Imagem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70358"/>
            </a:xfrm>
            <a:prstGeom prst="rect">
              <a:avLst/>
            </a:prstGeom>
          </p:spPr>
        </p:pic>
        <p:sp>
          <p:nvSpPr>
            <p:cNvPr id="4" name="Retângulo 3"/>
            <p:cNvSpPr/>
            <p:nvPr/>
          </p:nvSpPr>
          <p:spPr>
            <a:xfrm>
              <a:off x="9995561" y="5567881"/>
              <a:ext cx="1909746" cy="40740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6" name="Imagem 5"/>
          <p:cNvPicPr>
            <a:picLocks noChangeAspect="1"/>
          </p:cNvPicPr>
          <p:nvPr/>
        </p:nvPicPr>
        <p:blipFill rotWithShape="1">
          <a:blip r:embed="rId3"/>
          <a:srcRect b="38508"/>
          <a:stretch/>
        </p:blipFill>
        <p:spPr>
          <a:xfrm>
            <a:off x="9995561" y="206091"/>
            <a:ext cx="1812506" cy="463145"/>
          </a:xfrm>
          <a:prstGeom prst="rect">
            <a:avLst/>
          </a:prstGeom>
        </p:spPr>
      </p:pic>
      <p:pic>
        <p:nvPicPr>
          <p:cNvPr id="7" name="Imagem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130" y="47980"/>
            <a:ext cx="938710" cy="600273"/>
          </a:xfrm>
          <a:prstGeom prst="rect">
            <a:avLst/>
          </a:prstGeom>
        </p:spPr>
      </p:pic>
      <p:sp>
        <p:nvSpPr>
          <p:cNvPr id="15" name="Título 14"/>
          <p:cNvSpPr>
            <a:spLocks noGrp="1"/>
          </p:cNvSpPr>
          <p:nvPr>
            <p:ph type="title"/>
          </p:nvPr>
        </p:nvSpPr>
        <p:spPr>
          <a:xfrm>
            <a:off x="1676400" y="98006"/>
            <a:ext cx="8216537" cy="669236"/>
          </a:xfrm>
        </p:spPr>
        <p:txBody>
          <a:bodyPr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3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LIST e TUPLE</a:t>
            </a:r>
            <a:endParaRPr lang="pt-BR" sz="5400" b="1" dirty="0"/>
          </a:p>
        </p:txBody>
      </p:sp>
      <p:sp>
        <p:nvSpPr>
          <p:cNvPr id="14" name="Espaço Reservado para Conteúdo 13"/>
          <p:cNvSpPr>
            <a:spLocks noGrp="1"/>
          </p:cNvSpPr>
          <p:nvPr>
            <p:ph idx="1"/>
          </p:nvPr>
        </p:nvSpPr>
        <p:spPr>
          <a:xfrm>
            <a:off x="517371" y="875327"/>
            <a:ext cx="5796344" cy="5215431"/>
          </a:xfrm>
        </p:spPr>
        <p:txBody>
          <a:bodyPr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Diferença básica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list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(Lista): </a:t>
            </a: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mutável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(pode mudar depois de criada: adicionar, remover, alterar elementos).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tuple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</a:t>
            </a:r>
            <a:r>
              <a:rPr kumimoji="0" lang="pt-BR" altLang="pt-BR" sz="1600" b="0" i="0" u="sng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tupla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):</a:t>
            </a: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imutável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(não pode ser alterada depois de criada).</a:t>
            </a:r>
          </a:p>
          <a:p>
            <a:pPr marL="0" indent="0">
              <a:buNone/>
            </a:pPr>
            <a:r>
              <a:rPr lang="pt-BR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 Nova" panose="020F0502020204030204" pitchFamily="34" charset="0"/>
              </a:rPr>
              <a:t># Lista de frutas</a:t>
            </a:r>
          </a:p>
          <a:p>
            <a:pPr marL="0" indent="0">
              <a:buNone/>
            </a:pPr>
            <a:r>
              <a:rPr lang="pt-BR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 Nova" panose="020F0502020204030204" pitchFamily="34" charset="0"/>
              </a:rPr>
              <a:t>frutas = ["maçã", "banana", "uva"]</a:t>
            </a:r>
          </a:p>
          <a:p>
            <a:pPr marL="0" indent="0">
              <a:buNone/>
            </a:pPr>
            <a:endParaRPr lang="pt-BR" sz="2000" dirty="0">
              <a:solidFill>
                <a:schemeClr val="tx1">
                  <a:lumMod val="95000"/>
                  <a:lumOff val="5000"/>
                </a:schemeClr>
              </a:solidFill>
              <a:latin typeface="Arial Nova" panose="020F0502020204030204" pitchFamily="34" charset="0"/>
            </a:endParaRPr>
          </a:p>
          <a:p>
            <a:pPr marL="0" indent="0">
              <a:buNone/>
            </a:pPr>
            <a:r>
              <a:rPr lang="pt-BR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 Nova" panose="020F0502020204030204" pitchFamily="34" charset="0"/>
              </a:rPr>
              <a:t># Alterando e adicionando elementos</a:t>
            </a:r>
          </a:p>
          <a:p>
            <a:pPr marL="0" indent="0">
              <a:buNone/>
            </a:pPr>
            <a:r>
              <a:rPr lang="pt-BR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 Nova" panose="020F0502020204030204" pitchFamily="34" charset="0"/>
              </a:rPr>
              <a:t>frutas[1] = "laranja"    # muda banana para laranja</a:t>
            </a:r>
          </a:p>
          <a:p>
            <a:pPr marL="0" indent="0">
              <a:buNone/>
            </a:pPr>
            <a:r>
              <a:rPr lang="pt-BR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 Nova" panose="020F0502020204030204" pitchFamily="34" charset="0"/>
              </a:rPr>
              <a:t>frutas.append</a:t>
            </a:r>
            <a:r>
              <a:rPr lang="pt-BR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 Nova" panose="020F0502020204030204" pitchFamily="34" charset="0"/>
              </a:rPr>
              <a:t>("pera")    # adiciona pera no final</a:t>
            </a:r>
          </a:p>
          <a:p>
            <a:pPr marL="0" indent="0">
              <a:buNone/>
            </a:pPr>
            <a:endParaRPr lang="pt-BR" sz="2000" dirty="0">
              <a:solidFill>
                <a:schemeClr val="tx1">
                  <a:lumMod val="95000"/>
                  <a:lumOff val="5000"/>
                </a:schemeClr>
              </a:solidFill>
              <a:latin typeface="Arial Nova" panose="020F0502020204030204" pitchFamily="34" charset="0"/>
            </a:endParaRPr>
          </a:p>
          <a:p>
            <a:pPr marL="0" indent="0">
              <a:buNone/>
            </a:pPr>
            <a:r>
              <a:rPr lang="pt-BR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 Nova" panose="020F0502020204030204" pitchFamily="34" charset="0"/>
              </a:rPr>
              <a:t>print(frutas)</a:t>
            </a:r>
          </a:p>
          <a:p>
            <a:pPr marL="0" indent="0">
              <a:buNone/>
            </a:pPr>
            <a:r>
              <a:rPr lang="pt-BR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 Nova" panose="020F0502020204030204" pitchFamily="34" charset="0"/>
              </a:rPr>
              <a:t># Saída: ['maçã', 'laranja', 'uva', 'pera']</a:t>
            </a:r>
          </a:p>
        </p:txBody>
      </p:sp>
      <p:sp>
        <p:nvSpPr>
          <p:cNvPr id="9" name="Espaço Reservado para Conteúdo 13">
            <a:extLst>
              <a:ext uri="{FF2B5EF4-FFF2-40B4-BE49-F238E27FC236}">
                <a16:creationId xmlns:a16="http://schemas.microsoft.com/office/drawing/2014/main" id="{C1F12C75-56A4-DDE5-E503-C3F7738E9390}"/>
              </a:ext>
            </a:extLst>
          </p:cNvPr>
          <p:cNvSpPr txBox="1">
            <a:spLocks/>
          </p:cNvSpPr>
          <p:nvPr/>
        </p:nvSpPr>
        <p:spPr>
          <a:xfrm>
            <a:off x="6313715" y="767242"/>
            <a:ext cx="5796344" cy="52154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 Nova" panose="020B0504020202020204" pitchFamily="34" charset="0"/>
              </a:rPr>
              <a:t># Tupla com dias da semana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pt-BR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 Nova" panose="020B0504020202020204" pitchFamily="34" charset="0"/>
              </a:rPr>
              <a:t>dias = ("segunda", "terça", "quarta", "quinta", "sexta")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sz="2000" dirty="0">
              <a:solidFill>
                <a:schemeClr val="tx1">
                  <a:lumMod val="95000"/>
                  <a:lumOff val="5000"/>
                </a:schemeClr>
              </a:solidFill>
              <a:latin typeface="Arial Nova" panose="020B0504020202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pt-BR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 Nova" panose="020B0504020202020204" pitchFamily="34" charset="0"/>
              </a:rPr>
              <a:t># Não é possível alterar dias[0] = "domingo" # isso daria erro!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sz="2000" dirty="0">
              <a:solidFill>
                <a:schemeClr val="tx1">
                  <a:lumMod val="95000"/>
                  <a:lumOff val="5000"/>
                </a:schemeClr>
              </a:solidFill>
              <a:latin typeface="Arial Nova" panose="020B0504020202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pt-BR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 Nova" panose="020B0504020202020204" pitchFamily="34" charset="0"/>
              </a:rPr>
              <a:t>print(dias[0])  # Acessando o primeiro dia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pt-BR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 Nova" panose="020B0504020202020204" pitchFamily="34" charset="0"/>
              </a:rPr>
              <a:t># Saída: segunda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sz="2000" dirty="0">
              <a:solidFill>
                <a:schemeClr val="tx1">
                  <a:lumMod val="95000"/>
                  <a:lumOff val="5000"/>
                </a:schemeClr>
              </a:solidFill>
              <a:latin typeface="Agency FB" panose="020B0503020202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pt-BR" sz="2000" dirty="0">
              <a:solidFill>
                <a:schemeClr val="tx1">
                  <a:lumMod val="95000"/>
                  <a:lumOff val="5000"/>
                </a:schemeClr>
              </a:solidFill>
              <a:latin typeface="Agency FB" panose="020B0503020202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pt-BR" sz="2000" dirty="0">
              <a:solidFill>
                <a:schemeClr val="tx1">
                  <a:lumMod val="95000"/>
                  <a:lumOff val="5000"/>
                </a:schemeClr>
              </a:solidFill>
              <a:latin typeface="Agency FB" panose="020B0503020202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pt-BR" b="1" dirty="0">
                <a:solidFill>
                  <a:schemeClr val="tx1">
                    <a:lumMod val="95000"/>
                    <a:lumOff val="5000"/>
                  </a:schemeClr>
                </a:solidFill>
                <a:latin typeface="Agency FB" panose="020B0503020202020204" pitchFamily="34" charset="0"/>
              </a:rPr>
              <a:t>OBS: a lista usa o delimitador [] e a tupla o ()</a:t>
            </a:r>
          </a:p>
        </p:txBody>
      </p:sp>
    </p:spTree>
    <p:extLst>
      <p:ext uri="{BB962C8B-B14F-4D97-AF65-F5344CB8AC3E}">
        <p14:creationId xmlns:p14="http://schemas.microsoft.com/office/powerpoint/2010/main" val="4420442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7C0940-C20E-B2AF-10BE-4DCABD6BD5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o 2">
            <a:extLst>
              <a:ext uri="{FF2B5EF4-FFF2-40B4-BE49-F238E27FC236}">
                <a16:creationId xmlns:a16="http://schemas.microsoft.com/office/drawing/2014/main" id="{48606688-5BF7-898D-4A07-6274692764AE}"/>
              </a:ext>
            </a:extLst>
          </p:cNvPr>
          <p:cNvGrpSpPr/>
          <p:nvPr/>
        </p:nvGrpSpPr>
        <p:grpSpPr>
          <a:xfrm>
            <a:off x="0" y="0"/>
            <a:ext cx="12192000" cy="6870358"/>
            <a:chOff x="0" y="0"/>
            <a:chExt cx="12192000" cy="6870358"/>
          </a:xfrm>
        </p:grpSpPr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ECFF287D-969D-0B6F-BE27-7AFCC5653CD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70358"/>
            </a:xfrm>
            <a:prstGeom prst="rect">
              <a:avLst/>
            </a:prstGeom>
          </p:spPr>
        </p:pic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8738506F-A344-C084-D2E6-1B4922F539AC}"/>
                </a:ext>
              </a:extLst>
            </p:cNvPr>
            <p:cNvSpPr/>
            <p:nvPr/>
          </p:nvSpPr>
          <p:spPr>
            <a:xfrm>
              <a:off x="9995561" y="5567881"/>
              <a:ext cx="1909746" cy="40740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6" name="Imagem 5">
            <a:extLst>
              <a:ext uri="{FF2B5EF4-FFF2-40B4-BE49-F238E27FC236}">
                <a16:creationId xmlns:a16="http://schemas.microsoft.com/office/drawing/2014/main" id="{BD39C3BE-C4A0-9F52-7946-7ED1FB4B448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38508"/>
          <a:stretch/>
        </p:blipFill>
        <p:spPr>
          <a:xfrm>
            <a:off x="9995561" y="206091"/>
            <a:ext cx="1812506" cy="46314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CC330E31-5855-F02B-DB29-2599C1249E0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130" y="47980"/>
            <a:ext cx="938710" cy="600273"/>
          </a:xfrm>
          <a:prstGeom prst="rect">
            <a:avLst/>
          </a:prstGeom>
        </p:spPr>
      </p:pic>
      <p:sp>
        <p:nvSpPr>
          <p:cNvPr id="15" name="Título 14">
            <a:extLst>
              <a:ext uri="{FF2B5EF4-FFF2-40B4-BE49-F238E27FC236}">
                <a16:creationId xmlns:a16="http://schemas.microsoft.com/office/drawing/2014/main" id="{9D143668-89D1-CB6A-7536-CBC1CD1E89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98006"/>
            <a:ext cx="8216537" cy="669236"/>
          </a:xfrm>
        </p:spPr>
        <p:txBody>
          <a:bodyPr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3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LIST e TUPLE</a:t>
            </a:r>
            <a:endParaRPr lang="pt-BR" sz="5400" b="1" dirty="0"/>
          </a:p>
        </p:txBody>
      </p:sp>
      <p:sp>
        <p:nvSpPr>
          <p:cNvPr id="14" name="Espaço Reservado para Conteúdo 13">
            <a:extLst>
              <a:ext uri="{FF2B5EF4-FFF2-40B4-BE49-F238E27FC236}">
                <a16:creationId xmlns:a16="http://schemas.microsoft.com/office/drawing/2014/main" id="{6376FE36-9693-154E-1952-0CF10DBFD2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371" y="875327"/>
            <a:ext cx="5796344" cy="5215431"/>
          </a:xfrm>
        </p:spPr>
        <p:txBody>
          <a:bodyPr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[]</a:t>
            </a: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(colchetes)</a:t>
            </a:r>
            <a:endParaRPr kumimoji="0" lang="pt-BR" altLang="pt-BR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Usado para: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Criar listas</a:t>
            </a: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python</a:t>
            </a: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frutas = ["maçã", "banana", "uva"] </a:t>
            </a: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Cria uma </a:t>
            </a:r>
            <a:r>
              <a:rPr kumimoji="0" lang="pt-BR" altLang="pt-B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list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(mutável).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Acessar elementos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(indexação e fatiamento)</a:t>
            </a: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python</a:t>
            </a: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frutas[0] # "maçã" frutas[1:3] # ["banana", "uva"] </a:t>
            </a: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Modificar elementos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(em listas ou </a:t>
            </a:r>
            <a:r>
              <a:rPr kumimoji="0" lang="pt-BR" altLang="pt-B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strings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mutáveis)</a:t>
            </a: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python</a:t>
            </a: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frutas[1] = "laranja"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9" name="Espaço Reservado para Conteúdo 13">
            <a:extLst>
              <a:ext uri="{FF2B5EF4-FFF2-40B4-BE49-F238E27FC236}">
                <a16:creationId xmlns:a16="http://schemas.microsoft.com/office/drawing/2014/main" id="{1BF83773-965F-C1F9-3824-A866626E482D}"/>
              </a:ext>
            </a:extLst>
          </p:cNvPr>
          <p:cNvSpPr txBox="1">
            <a:spLocks/>
          </p:cNvSpPr>
          <p:nvPr/>
        </p:nvSpPr>
        <p:spPr>
          <a:xfrm>
            <a:off x="6313715" y="767242"/>
            <a:ext cx="5796344" cy="52154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()</a:t>
            </a:r>
            <a:r>
              <a:rPr kumimoji="0" lang="pt-BR" altLang="pt-B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(parênteses)</a:t>
            </a:r>
            <a:endParaRPr kumimoji="0" lang="pt-BR" altLang="pt-BR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Usado para:</a:t>
            </a:r>
            <a:endParaRPr kumimoji="0" lang="pt-BR" altLang="pt-B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pt-BR" altLang="pt-B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Criar tuplas</a:t>
            </a:r>
            <a:endParaRPr kumimoji="0" lang="pt-BR" altLang="pt-B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python</a:t>
            </a:r>
            <a:endParaRPr kumimoji="0" lang="pt-BR" altLang="pt-B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numeros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= (1, 2, 3) </a:t>
            </a:r>
            <a:endParaRPr kumimoji="0" lang="pt-BR" altLang="pt-BR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Cria uma </a:t>
            </a:r>
            <a:r>
              <a:rPr kumimoji="0" lang="pt-BR" altLang="pt-BR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tuple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(imutável).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pt-BR" altLang="pt-B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Agrupar expressões</a:t>
            </a:r>
            <a:endParaRPr kumimoji="0" lang="pt-BR" altLang="pt-B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python</a:t>
            </a:r>
            <a:endParaRPr kumimoji="0" lang="pt-BR" altLang="pt-B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resultado = (2 + 3) * 4 </a:t>
            </a:r>
            <a:endParaRPr kumimoji="0" lang="pt-BR" altLang="pt-BR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pt-BR" altLang="pt-B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Chamar funções</a:t>
            </a:r>
            <a:endParaRPr kumimoji="0" lang="pt-BR" altLang="pt-B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python</a:t>
            </a:r>
            <a:endParaRPr kumimoji="0" lang="pt-BR" altLang="pt-B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print("Olá") # parênteses indicam a chamada</a:t>
            </a:r>
            <a:endParaRPr kumimoji="0" lang="pt-BR" altLang="pt-BR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9487163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379059-4401-73FE-4B82-0E661C5F59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o 2">
            <a:extLst>
              <a:ext uri="{FF2B5EF4-FFF2-40B4-BE49-F238E27FC236}">
                <a16:creationId xmlns:a16="http://schemas.microsoft.com/office/drawing/2014/main" id="{9D73DC06-C843-19C5-E243-8AB6FB4BB393}"/>
              </a:ext>
            </a:extLst>
          </p:cNvPr>
          <p:cNvGrpSpPr/>
          <p:nvPr/>
        </p:nvGrpSpPr>
        <p:grpSpPr>
          <a:xfrm>
            <a:off x="0" y="0"/>
            <a:ext cx="12192000" cy="6870358"/>
            <a:chOff x="0" y="0"/>
            <a:chExt cx="12192000" cy="6870358"/>
          </a:xfrm>
        </p:grpSpPr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70A59660-35DE-145A-A686-F0C44F768DA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70358"/>
            </a:xfrm>
            <a:prstGeom prst="rect">
              <a:avLst/>
            </a:prstGeom>
          </p:spPr>
        </p:pic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43FCC5B8-EF82-3DA0-1434-E6B81DC9A2D5}"/>
                </a:ext>
              </a:extLst>
            </p:cNvPr>
            <p:cNvSpPr/>
            <p:nvPr/>
          </p:nvSpPr>
          <p:spPr>
            <a:xfrm>
              <a:off x="9995561" y="5567881"/>
              <a:ext cx="1909746" cy="40740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6" name="Imagem 5">
            <a:extLst>
              <a:ext uri="{FF2B5EF4-FFF2-40B4-BE49-F238E27FC236}">
                <a16:creationId xmlns:a16="http://schemas.microsoft.com/office/drawing/2014/main" id="{5DB81543-9033-02D2-EB20-D0FC6544E84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38508"/>
          <a:stretch/>
        </p:blipFill>
        <p:spPr>
          <a:xfrm>
            <a:off x="9995561" y="206091"/>
            <a:ext cx="1812506" cy="46314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A8707ADA-8ADC-3223-8334-E66CF8ADCE8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130" y="47980"/>
            <a:ext cx="938710" cy="600273"/>
          </a:xfrm>
          <a:prstGeom prst="rect">
            <a:avLst/>
          </a:prstGeom>
        </p:spPr>
      </p:pic>
      <p:sp>
        <p:nvSpPr>
          <p:cNvPr id="15" name="Título 14">
            <a:extLst>
              <a:ext uri="{FF2B5EF4-FFF2-40B4-BE49-F238E27FC236}">
                <a16:creationId xmlns:a16="http://schemas.microsoft.com/office/drawing/2014/main" id="{AFFC0402-D98F-7E16-3BA3-722E25BB59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98006"/>
            <a:ext cx="8216537" cy="669236"/>
          </a:xfrm>
        </p:spPr>
        <p:txBody>
          <a:bodyPr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3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LIST e TUPLE</a:t>
            </a:r>
            <a:endParaRPr lang="pt-BR" sz="5400" b="1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767665E-D081-18AA-D94A-CB344CA2FFD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20130" y="767242"/>
            <a:ext cx="11387937" cy="5355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 Python, </a:t>
            </a: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tuplas são imutáveis</a:t>
            </a:r>
            <a:r>
              <a:rPr lang="pt-BR" altLang="pt-BR" sz="1800" dirty="0">
                <a:latin typeface="Arial" panose="020B0604020202020204" pitchFamily="34" charset="0"/>
              </a:rPr>
              <a:t>, 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isso significa que </a:t>
            </a: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depois de criadas, não é possível adicionar, remover ou alterar elementos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 que você </a:t>
            </a: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pode fazer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com uma tupla é: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Ler seus valores (acessar com </a:t>
            </a:r>
            <a:r>
              <a:rPr kumimoji="0" lang="pt-BR" altLang="pt-BR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[]</a:t>
            </a:r>
            <a:r>
              <a:rPr kumimoji="0" lang="pt-BR" altLang="pt-BR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Contar elementos (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.</a:t>
            </a:r>
            <a:r>
              <a:rPr kumimoji="0" lang="pt-BR" altLang="pt-B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count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()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Achar a posição de um elemento (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.index()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Criar </a:t>
            </a: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uma nova tupla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partir de outra, mas isso na verdade é criar outro objeto, não modificar a original.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cores = ("vermelho", "azul", "verde")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pt-BR" altLang="pt-B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cores.append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("amarelo")  # Vai dar erro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cores[0] = "roxo"        # Vai dar erro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pt-BR" altLang="pt-B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del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cores[1]             # Vai dar erro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cores = ("vermelho", "azul", "verde")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novas_cores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= cores + ("amarelo",)  # adiciona criando outra tupla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print(</a:t>
            </a:r>
            <a:r>
              <a:rPr kumimoji="0" lang="pt-BR" altLang="pt-B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novas_cores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# Saída: ('vermelho', 'azul', 'verde', 'amarelo')</a:t>
            </a:r>
          </a:p>
        </p:txBody>
      </p:sp>
    </p:spTree>
    <p:extLst>
      <p:ext uri="{BB962C8B-B14F-4D97-AF65-F5344CB8AC3E}">
        <p14:creationId xmlns:p14="http://schemas.microsoft.com/office/powerpoint/2010/main" val="11691031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5608CA-52CE-7A87-C950-6990B1EEDB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o 2">
            <a:extLst>
              <a:ext uri="{FF2B5EF4-FFF2-40B4-BE49-F238E27FC236}">
                <a16:creationId xmlns:a16="http://schemas.microsoft.com/office/drawing/2014/main" id="{3D552FF4-4619-57BB-3686-895E30579461}"/>
              </a:ext>
            </a:extLst>
          </p:cNvPr>
          <p:cNvGrpSpPr/>
          <p:nvPr/>
        </p:nvGrpSpPr>
        <p:grpSpPr>
          <a:xfrm>
            <a:off x="0" y="0"/>
            <a:ext cx="12192000" cy="6870358"/>
            <a:chOff x="0" y="0"/>
            <a:chExt cx="12192000" cy="6870358"/>
          </a:xfrm>
        </p:grpSpPr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072B37B7-CDE0-5D59-55D9-2CDAB27ED47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70358"/>
            </a:xfrm>
            <a:prstGeom prst="rect">
              <a:avLst/>
            </a:prstGeom>
          </p:spPr>
        </p:pic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3ADEB4E8-9177-6000-ABCE-B922DA2545F8}"/>
                </a:ext>
              </a:extLst>
            </p:cNvPr>
            <p:cNvSpPr/>
            <p:nvPr/>
          </p:nvSpPr>
          <p:spPr>
            <a:xfrm>
              <a:off x="9995561" y="5567881"/>
              <a:ext cx="1909746" cy="40740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6" name="Imagem 5">
            <a:extLst>
              <a:ext uri="{FF2B5EF4-FFF2-40B4-BE49-F238E27FC236}">
                <a16:creationId xmlns:a16="http://schemas.microsoft.com/office/drawing/2014/main" id="{458F96F8-8080-5DDE-E8D8-B0E972A7ED8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38508"/>
          <a:stretch/>
        </p:blipFill>
        <p:spPr>
          <a:xfrm>
            <a:off x="9995561" y="206091"/>
            <a:ext cx="1812506" cy="46314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9060553E-0B1C-158F-9BF3-E56EA23BD96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130" y="47980"/>
            <a:ext cx="938710" cy="600273"/>
          </a:xfrm>
          <a:prstGeom prst="rect">
            <a:avLst/>
          </a:prstGeom>
        </p:spPr>
      </p:pic>
      <p:sp>
        <p:nvSpPr>
          <p:cNvPr id="15" name="Título 14">
            <a:extLst>
              <a:ext uri="{FF2B5EF4-FFF2-40B4-BE49-F238E27FC236}">
                <a16:creationId xmlns:a16="http://schemas.microsoft.com/office/drawing/2014/main" id="{5AEB42F5-B7C0-66C5-4264-DA3403004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98006"/>
            <a:ext cx="8216537" cy="669236"/>
          </a:xfrm>
        </p:spPr>
        <p:txBody>
          <a:bodyPr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3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LIST e TUPLE</a:t>
            </a:r>
            <a:endParaRPr lang="pt-BR" sz="5400" b="1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0DB6BF7-F7CF-DE49-4D9B-45C59A81E04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02031" y="854344"/>
            <a:ext cx="11387937" cy="10464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Métodos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 operações que podemos usar com uma </a:t>
            </a:r>
            <a:r>
              <a:rPr kumimoji="0" lang="pt-BR" altLang="pt-B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list</a:t>
            </a: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b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22" name="Tabela 21">
            <a:extLst>
              <a:ext uri="{FF2B5EF4-FFF2-40B4-BE49-F238E27FC236}">
                <a16:creationId xmlns:a16="http://schemas.microsoft.com/office/drawing/2014/main" id="{05C3504D-BFFD-F5C6-B984-7251F0A49F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6007423"/>
              </p:ext>
            </p:extLst>
          </p:nvPr>
        </p:nvGraphicFramePr>
        <p:xfrm>
          <a:off x="2238375" y="1414072"/>
          <a:ext cx="8124825" cy="4352182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1770456">
                  <a:extLst>
                    <a:ext uri="{9D8B030D-6E8A-4147-A177-3AD203B41FA5}">
                      <a16:colId xmlns:a16="http://schemas.microsoft.com/office/drawing/2014/main" val="3515710369"/>
                    </a:ext>
                  </a:extLst>
                </a:gridCol>
                <a:gridCol w="4656292">
                  <a:extLst>
                    <a:ext uri="{9D8B030D-6E8A-4147-A177-3AD203B41FA5}">
                      <a16:colId xmlns:a16="http://schemas.microsoft.com/office/drawing/2014/main" val="164777547"/>
                    </a:ext>
                  </a:extLst>
                </a:gridCol>
                <a:gridCol w="1698077">
                  <a:extLst>
                    <a:ext uri="{9D8B030D-6E8A-4147-A177-3AD203B41FA5}">
                      <a16:colId xmlns:a16="http://schemas.microsoft.com/office/drawing/2014/main" val="4054219937"/>
                    </a:ext>
                  </a:extLst>
                </a:gridCol>
              </a:tblGrid>
              <a:tr h="223146">
                <a:tc>
                  <a:txBody>
                    <a:bodyPr/>
                    <a:lstStyle/>
                    <a:p>
                      <a:pPr algn="ctr"/>
                      <a:r>
                        <a:rPr lang="pt-BR" sz="1100">
                          <a:solidFill>
                            <a:schemeClr val="bg1"/>
                          </a:solidFill>
                          <a:latin typeface="Aharoni" panose="020F0502020204030204" pitchFamily="2" charset="-79"/>
                          <a:cs typeface="Aharoni" panose="020F0502020204030204" pitchFamily="2" charset="-79"/>
                        </a:rPr>
                        <a:t>Método / Propriedade</a:t>
                      </a:r>
                    </a:p>
                  </a:txBody>
                  <a:tcPr marL="55786" marR="55786" marT="27893" marB="27893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>
                          <a:solidFill>
                            <a:schemeClr val="bg1"/>
                          </a:solidFill>
                          <a:latin typeface="Aharoni" panose="020F0502020204030204" pitchFamily="2" charset="-79"/>
                          <a:cs typeface="Aharoni" panose="020F0502020204030204" pitchFamily="2" charset="-79"/>
                        </a:rPr>
                        <a:t>O que faz</a:t>
                      </a:r>
                    </a:p>
                  </a:txBody>
                  <a:tcPr marL="55786" marR="55786" marT="27893" marB="27893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dirty="0">
                          <a:solidFill>
                            <a:schemeClr val="bg1"/>
                          </a:solidFill>
                          <a:latin typeface="Aharoni" panose="020F0502020204030204" pitchFamily="2" charset="-79"/>
                          <a:cs typeface="Aharoni" panose="020F0502020204030204" pitchFamily="2" charset="-79"/>
                        </a:rPr>
                        <a:t>Exemplo</a:t>
                      </a:r>
                    </a:p>
                  </a:txBody>
                  <a:tcPr marL="55786" marR="55786" marT="27893" marB="27893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8213672"/>
                  </a:ext>
                </a:extLst>
              </a:tr>
              <a:tr h="390505">
                <a:tc>
                  <a:txBody>
                    <a:bodyPr/>
                    <a:lstStyle/>
                    <a:p>
                      <a:r>
                        <a:rPr lang="pt-BR" sz="1100"/>
                        <a:t>append(x)</a:t>
                      </a:r>
                    </a:p>
                  </a:txBody>
                  <a:tcPr marL="55786" marR="55786" marT="27893" marB="27893" anchor="ctr"/>
                </a:tc>
                <a:tc>
                  <a:txBody>
                    <a:bodyPr/>
                    <a:lstStyle/>
                    <a:p>
                      <a:r>
                        <a:rPr lang="pt-BR" sz="1100"/>
                        <a:t>Adiciona um elemento no </a:t>
                      </a:r>
                      <a:r>
                        <a:rPr lang="pt-BR" sz="1100" b="1"/>
                        <a:t>final</a:t>
                      </a:r>
                      <a:r>
                        <a:rPr lang="pt-BR" sz="1100"/>
                        <a:t> da lista</a:t>
                      </a:r>
                    </a:p>
                  </a:txBody>
                  <a:tcPr marL="55786" marR="55786" marT="27893" marB="27893" anchor="ctr"/>
                </a:tc>
                <a:tc>
                  <a:txBody>
                    <a:bodyPr/>
                    <a:lstStyle/>
                    <a:p>
                      <a:r>
                        <a:rPr lang="pt-BR" sz="1100"/>
                        <a:t>nums.append(5)</a:t>
                      </a:r>
                    </a:p>
                  </a:txBody>
                  <a:tcPr marL="55786" marR="55786" marT="27893" marB="27893" anchor="ctr"/>
                </a:tc>
                <a:extLst>
                  <a:ext uri="{0D108BD9-81ED-4DB2-BD59-A6C34878D82A}">
                    <a16:rowId xmlns:a16="http://schemas.microsoft.com/office/drawing/2014/main" val="1279787039"/>
                  </a:ext>
                </a:extLst>
              </a:tr>
              <a:tr h="390505">
                <a:tc>
                  <a:txBody>
                    <a:bodyPr/>
                    <a:lstStyle/>
                    <a:p>
                      <a:r>
                        <a:rPr lang="pt-BR" sz="1100"/>
                        <a:t>insert(i, x)</a:t>
                      </a:r>
                    </a:p>
                  </a:txBody>
                  <a:tcPr marL="55786" marR="55786" marT="27893" marB="27893" anchor="ctr"/>
                </a:tc>
                <a:tc>
                  <a:txBody>
                    <a:bodyPr/>
                    <a:lstStyle/>
                    <a:p>
                      <a:r>
                        <a:rPr lang="pt-BR" sz="1100"/>
                        <a:t>Insere um elemento na </a:t>
                      </a:r>
                      <a:r>
                        <a:rPr lang="pt-BR" sz="1100" b="1"/>
                        <a:t>posição</a:t>
                      </a:r>
                      <a:r>
                        <a:rPr lang="pt-BR" sz="1100"/>
                        <a:t> indicada</a:t>
                      </a:r>
                    </a:p>
                  </a:txBody>
                  <a:tcPr marL="55786" marR="55786" marT="27893" marB="27893" anchor="ctr"/>
                </a:tc>
                <a:tc>
                  <a:txBody>
                    <a:bodyPr/>
                    <a:lstStyle/>
                    <a:p>
                      <a:r>
                        <a:rPr lang="pt-BR" sz="1100"/>
                        <a:t>nums.insert(1, 10)</a:t>
                      </a:r>
                    </a:p>
                  </a:txBody>
                  <a:tcPr marL="55786" marR="55786" marT="27893" marB="27893" anchor="ctr"/>
                </a:tc>
                <a:extLst>
                  <a:ext uri="{0D108BD9-81ED-4DB2-BD59-A6C34878D82A}">
                    <a16:rowId xmlns:a16="http://schemas.microsoft.com/office/drawing/2014/main" val="3743905821"/>
                  </a:ext>
                </a:extLst>
              </a:tr>
              <a:tr h="390505">
                <a:tc>
                  <a:txBody>
                    <a:bodyPr/>
                    <a:lstStyle/>
                    <a:p>
                      <a:r>
                        <a:rPr lang="pt-BR" sz="1100"/>
                        <a:t>extend(iterável)</a:t>
                      </a:r>
                    </a:p>
                  </a:txBody>
                  <a:tcPr marL="55786" marR="55786" marT="27893" marB="27893" anchor="ctr"/>
                </a:tc>
                <a:tc>
                  <a:txBody>
                    <a:bodyPr/>
                    <a:lstStyle/>
                    <a:p>
                      <a:r>
                        <a:rPr lang="pt-BR" sz="1100"/>
                        <a:t>Adiciona vários elementos de outra lista ou tupla</a:t>
                      </a:r>
                    </a:p>
                  </a:txBody>
                  <a:tcPr marL="55786" marR="55786" marT="27893" marB="27893" anchor="ctr"/>
                </a:tc>
                <a:tc>
                  <a:txBody>
                    <a:bodyPr/>
                    <a:lstStyle/>
                    <a:p>
                      <a:r>
                        <a:rPr lang="pt-BR" sz="1100"/>
                        <a:t>nums.extend([7, 8])</a:t>
                      </a:r>
                    </a:p>
                  </a:txBody>
                  <a:tcPr marL="55786" marR="55786" marT="27893" marB="27893" anchor="ctr"/>
                </a:tc>
                <a:extLst>
                  <a:ext uri="{0D108BD9-81ED-4DB2-BD59-A6C34878D82A}">
                    <a16:rowId xmlns:a16="http://schemas.microsoft.com/office/drawing/2014/main" val="2504910702"/>
                  </a:ext>
                </a:extLst>
              </a:tr>
              <a:tr h="390505">
                <a:tc>
                  <a:txBody>
                    <a:bodyPr/>
                    <a:lstStyle/>
                    <a:p>
                      <a:r>
                        <a:rPr lang="pt-BR" sz="1100"/>
                        <a:t>remove(x)</a:t>
                      </a:r>
                    </a:p>
                  </a:txBody>
                  <a:tcPr marL="55786" marR="55786" marT="27893" marB="27893" anchor="ctr"/>
                </a:tc>
                <a:tc>
                  <a:txBody>
                    <a:bodyPr/>
                    <a:lstStyle/>
                    <a:p>
                      <a:r>
                        <a:rPr lang="pt-BR" sz="1100"/>
                        <a:t>Remove a </a:t>
                      </a:r>
                      <a:r>
                        <a:rPr lang="pt-BR" sz="1100" b="1"/>
                        <a:t>primeira ocorrência</a:t>
                      </a:r>
                      <a:r>
                        <a:rPr lang="pt-BR" sz="1100"/>
                        <a:t> do valor</a:t>
                      </a:r>
                    </a:p>
                  </a:txBody>
                  <a:tcPr marL="55786" marR="55786" marT="27893" marB="27893" anchor="ctr"/>
                </a:tc>
                <a:tc>
                  <a:txBody>
                    <a:bodyPr/>
                    <a:lstStyle/>
                    <a:p>
                      <a:r>
                        <a:rPr lang="pt-BR" sz="1100"/>
                        <a:t>nums.remove(10)</a:t>
                      </a:r>
                    </a:p>
                  </a:txBody>
                  <a:tcPr marL="55786" marR="55786" marT="27893" marB="27893" anchor="ctr"/>
                </a:tc>
                <a:extLst>
                  <a:ext uri="{0D108BD9-81ED-4DB2-BD59-A6C34878D82A}">
                    <a16:rowId xmlns:a16="http://schemas.microsoft.com/office/drawing/2014/main" val="3800039583"/>
                  </a:ext>
                </a:extLst>
              </a:tr>
              <a:tr h="557864">
                <a:tc>
                  <a:txBody>
                    <a:bodyPr/>
                    <a:lstStyle/>
                    <a:p>
                      <a:r>
                        <a:rPr lang="pt-BR" sz="1100"/>
                        <a:t>pop([i])</a:t>
                      </a:r>
                    </a:p>
                  </a:txBody>
                  <a:tcPr marL="55786" marR="55786" marT="27893" marB="27893" anchor="ctr"/>
                </a:tc>
                <a:tc>
                  <a:txBody>
                    <a:bodyPr/>
                    <a:lstStyle/>
                    <a:p>
                      <a:r>
                        <a:rPr lang="pt-BR" sz="1100"/>
                        <a:t>Remove o elemento na posição indicada (ou o último se não passar índice)</a:t>
                      </a:r>
                    </a:p>
                  </a:txBody>
                  <a:tcPr marL="55786" marR="55786" marT="27893" marB="27893" anchor="ctr"/>
                </a:tc>
                <a:tc>
                  <a:txBody>
                    <a:bodyPr/>
                    <a:lstStyle/>
                    <a:p>
                      <a:r>
                        <a:rPr lang="pt-BR" sz="1100"/>
                        <a:t>nums.pop()</a:t>
                      </a:r>
                    </a:p>
                  </a:txBody>
                  <a:tcPr marL="55786" marR="55786" marT="27893" marB="27893" anchor="ctr"/>
                </a:tc>
                <a:extLst>
                  <a:ext uri="{0D108BD9-81ED-4DB2-BD59-A6C34878D82A}">
                    <a16:rowId xmlns:a16="http://schemas.microsoft.com/office/drawing/2014/main" val="2681141873"/>
                  </a:ext>
                </a:extLst>
              </a:tr>
              <a:tr h="390505">
                <a:tc>
                  <a:txBody>
                    <a:bodyPr/>
                    <a:lstStyle/>
                    <a:p>
                      <a:r>
                        <a:rPr lang="pt-BR" sz="1100"/>
                        <a:t>clear()</a:t>
                      </a:r>
                    </a:p>
                  </a:txBody>
                  <a:tcPr marL="55786" marR="55786" marT="27893" marB="27893" anchor="ctr"/>
                </a:tc>
                <a:tc>
                  <a:txBody>
                    <a:bodyPr/>
                    <a:lstStyle/>
                    <a:p>
                      <a:r>
                        <a:rPr lang="pt-BR" sz="1100"/>
                        <a:t>Remove </a:t>
                      </a:r>
                      <a:r>
                        <a:rPr lang="pt-BR" sz="1100" b="1"/>
                        <a:t>todos</a:t>
                      </a:r>
                      <a:r>
                        <a:rPr lang="pt-BR" sz="1100"/>
                        <a:t> os elementos da lista</a:t>
                      </a:r>
                    </a:p>
                  </a:txBody>
                  <a:tcPr marL="55786" marR="55786" marT="27893" marB="27893" anchor="ctr"/>
                </a:tc>
                <a:tc>
                  <a:txBody>
                    <a:bodyPr/>
                    <a:lstStyle/>
                    <a:p>
                      <a:r>
                        <a:rPr lang="pt-BR" sz="1100"/>
                        <a:t>nums.clear()</a:t>
                      </a:r>
                    </a:p>
                  </a:txBody>
                  <a:tcPr marL="55786" marR="55786" marT="27893" marB="27893" anchor="ctr"/>
                </a:tc>
                <a:extLst>
                  <a:ext uri="{0D108BD9-81ED-4DB2-BD59-A6C34878D82A}">
                    <a16:rowId xmlns:a16="http://schemas.microsoft.com/office/drawing/2014/main" val="386985470"/>
                  </a:ext>
                </a:extLst>
              </a:tr>
              <a:tr h="390505">
                <a:tc>
                  <a:txBody>
                    <a:bodyPr/>
                    <a:lstStyle/>
                    <a:p>
                      <a:r>
                        <a:rPr lang="pt-BR" sz="1100"/>
                        <a:t>index(x)</a:t>
                      </a:r>
                    </a:p>
                  </a:txBody>
                  <a:tcPr marL="55786" marR="55786" marT="27893" marB="27893" anchor="ctr"/>
                </a:tc>
                <a:tc>
                  <a:txBody>
                    <a:bodyPr/>
                    <a:lstStyle/>
                    <a:p>
                      <a:r>
                        <a:rPr lang="pt-BR" sz="1100"/>
                        <a:t>Retorna a posição da </a:t>
                      </a:r>
                      <a:r>
                        <a:rPr lang="pt-BR" sz="1100" b="1"/>
                        <a:t>primeira ocorrência</a:t>
                      </a:r>
                      <a:r>
                        <a:rPr lang="pt-BR" sz="1100"/>
                        <a:t> do valor</a:t>
                      </a:r>
                    </a:p>
                  </a:txBody>
                  <a:tcPr marL="55786" marR="55786" marT="27893" marB="27893" anchor="ctr"/>
                </a:tc>
                <a:tc>
                  <a:txBody>
                    <a:bodyPr/>
                    <a:lstStyle/>
                    <a:p>
                      <a:r>
                        <a:rPr lang="pt-BR" sz="1100"/>
                        <a:t>nums.index(7)</a:t>
                      </a:r>
                    </a:p>
                  </a:txBody>
                  <a:tcPr marL="55786" marR="55786" marT="27893" marB="27893" anchor="ctr"/>
                </a:tc>
                <a:extLst>
                  <a:ext uri="{0D108BD9-81ED-4DB2-BD59-A6C34878D82A}">
                    <a16:rowId xmlns:a16="http://schemas.microsoft.com/office/drawing/2014/main" val="2490403542"/>
                  </a:ext>
                </a:extLst>
              </a:tr>
              <a:tr h="390505">
                <a:tc>
                  <a:txBody>
                    <a:bodyPr/>
                    <a:lstStyle/>
                    <a:p>
                      <a:r>
                        <a:rPr lang="pt-BR" sz="1100"/>
                        <a:t>count(x)</a:t>
                      </a:r>
                    </a:p>
                  </a:txBody>
                  <a:tcPr marL="55786" marR="55786" marT="27893" marB="27893" anchor="ctr"/>
                </a:tc>
                <a:tc>
                  <a:txBody>
                    <a:bodyPr/>
                    <a:lstStyle/>
                    <a:p>
                      <a:r>
                        <a:rPr lang="pt-BR" sz="1100"/>
                        <a:t>Conta quantas vezes o valor aparece</a:t>
                      </a:r>
                    </a:p>
                  </a:txBody>
                  <a:tcPr marL="55786" marR="55786" marT="27893" marB="27893" anchor="ctr"/>
                </a:tc>
                <a:tc>
                  <a:txBody>
                    <a:bodyPr/>
                    <a:lstStyle/>
                    <a:p>
                      <a:r>
                        <a:rPr lang="pt-BR" sz="1100"/>
                        <a:t>nums.count(7)</a:t>
                      </a:r>
                    </a:p>
                  </a:txBody>
                  <a:tcPr marL="55786" marR="55786" marT="27893" marB="27893" anchor="ctr"/>
                </a:tc>
                <a:extLst>
                  <a:ext uri="{0D108BD9-81ED-4DB2-BD59-A6C34878D82A}">
                    <a16:rowId xmlns:a16="http://schemas.microsoft.com/office/drawing/2014/main" val="2288539088"/>
                  </a:ext>
                </a:extLst>
              </a:tr>
              <a:tr h="390505">
                <a:tc>
                  <a:txBody>
                    <a:bodyPr/>
                    <a:lstStyle/>
                    <a:p>
                      <a:r>
                        <a:rPr lang="pt-BR" sz="1100"/>
                        <a:t>sort()</a:t>
                      </a:r>
                    </a:p>
                  </a:txBody>
                  <a:tcPr marL="55786" marR="55786" marT="27893" marB="27893" anchor="ctr"/>
                </a:tc>
                <a:tc>
                  <a:txBody>
                    <a:bodyPr/>
                    <a:lstStyle/>
                    <a:p>
                      <a:r>
                        <a:rPr lang="pt-BR" sz="1100"/>
                        <a:t>Ordena a lista </a:t>
                      </a:r>
                      <a:r>
                        <a:rPr lang="pt-BR" sz="1100" b="1"/>
                        <a:t>no lugar</a:t>
                      </a:r>
                      <a:r>
                        <a:rPr lang="pt-BR" sz="1100"/>
                        <a:t> (muda a lista)</a:t>
                      </a:r>
                    </a:p>
                  </a:txBody>
                  <a:tcPr marL="55786" marR="55786" marT="27893" marB="27893" anchor="ctr"/>
                </a:tc>
                <a:tc>
                  <a:txBody>
                    <a:bodyPr/>
                    <a:lstStyle/>
                    <a:p>
                      <a:r>
                        <a:rPr lang="pt-BR" sz="1100"/>
                        <a:t>nums.sort()</a:t>
                      </a:r>
                    </a:p>
                  </a:txBody>
                  <a:tcPr marL="55786" marR="55786" marT="27893" marB="27893" anchor="ctr"/>
                </a:tc>
                <a:extLst>
                  <a:ext uri="{0D108BD9-81ED-4DB2-BD59-A6C34878D82A}">
                    <a16:rowId xmlns:a16="http://schemas.microsoft.com/office/drawing/2014/main" val="1764247320"/>
                  </a:ext>
                </a:extLst>
              </a:tr>
              <a:tr h="223146">
                <a:tc>
                  <a:txBody>
                    <a:bodyPr/>
                    <a:lstStyle/>
                    <a:p>
                      <a:r>
                        <a:rPr lang="pt-BR" sz="1100"/>
                        <a:t>reverse()</a:t>
                      </a:r>
                    </a:p>
                  </a:txBody>
                  <a:tcPr marL="55786" marR="55786" marT="27893" marB="27893" anchor="ctr"/>
                </a:tc>
                <a:tc>
                  <a:txBody>
                    <a:bodyPr/>
                    <a:lstStyle/>
                    <a:p>
                      <a:r>
                        <a:rPr lang="pt-BR" sz="1100"/>
                        <a:t>Inverte a ordem dos elementos</a:t>
                      </a:r>
                    </a:p>
                  </a:txBody>
                  <a:tcPr marL="55786" marR="55786" marT="27893" marB="27893" anchor="ctr"/>
                </a:tc>
                <a:tc>
                  <a:txBody>
                    <a:bodyPr/>
                    <a:lstStyle/>
                    <a:p>
                      <a:r>
                        <a:rPr lang="pt-BR" sz="1100"/>
                        <a:t>nums.reverse()</a:t>
                      </a:r>
                    </a:p>
                  </a:txBody>
                  <a:tcPr marL="55786" marR="55786" marT="27893" marB="27893" anchor="ctr"/>
                </a:tc>
                <a:extLst>
                  <a:ext uri="{0D108BD9-81ED-4DB2-BD59-A6C34878D82A}">
                    <a16:rowId xmlns:a16="http://schemas.microsoft.com/office/drawing/2014/main" val="2409460544"/>
                  </a:ext>
                </a:extLst>
              </a:tr>
              <a:tr h="223146">
                <a:tc>
                  <a:txBody>
                    <a:bodyPr/>
                    <a:lstStyle/>
                    <a:p>
                      <a:r>
                        <a:rPr lang="pt-BR" sz="1100"/>
                        <a:t>copy()</a:t>
                      </a:r>
                    </a:p>
                  </a:txBody>
                  <a:tcPr marL="55786" marR="55786" marT="27893" marB="27893" anchor="ctr"/>
                </a:tc>
                <a:tc>
                  <a:txBody>
                    <a:bodyPr/>
                    <a:lstStyle/>
                    <a:p>
                      <a:r>
                        <a:rPr lang="pt-BR" sz="1100"/>
                        <a:t>Cria uma cópia rasa da lista</a:t>
                      </a:r>
                    </a:p>
                  </a:txBody>
                  <a:tcPr marL="55786" marR="55786" marT="27893" marB="27893" anchor="ctr"/>
                </a:tc>
                <a:tc>
                  <a:txBody>
                    <a:bodyPr/>
                    <a:lstStyle/>
                    <a:p>
                      <a:r>
                        <a:rPr lang="pt-BR" sz="1100" dirty="0"/>
                        <a:t>nova = </a:t>
                      </a:r>
                      <a:r>
                        <a:rPr lang="pt-BR" sz="1100" dirty="0" err="1"/>
                        <a:t>nums.copy</a:t>
                      </a:r>
                      <a:r>
                        <a:rPr lang="pt-BR" sz="1100" dirty="0"/>
                        <a:t>()</a:t>
                      </a:r>
                    </a:p>
                  </a:txBody>
                  <a:tcPr marL="55786" marR="55786" marT="27893" marB="27893" anchor="ctr"/>
                </a:tc>
                <a:extLst>
                  <a:ext uri="{0D108BD9-81ED-4DB2-BD59-A6C34878D82A}">
                    <a16:rowId xmlns:a16="http://schemas.microsoft.com/office/drawing/2014/main" val="33011803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24923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E95559-E592-8FE6-45B5-3CC2430C4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o 2">
            <a:extLst>
              <a:ext uri="{FF2B5EF4-FFF2-40B4-BE49-F238E27FC236}">
                <a16:creationId xmlns:a16="http://schemas.microsoft.com/office/drawing/2014/main" id="{04C71EE1-6EFA-5C48-D6CB-C5F5B5410708}"/>
              </a:ext>
            </a:extLst>
          </p:cNvPr>
          <p:cNvGrpSpPr/>
          <p:nvPr/>
        </p:nvGrpSpPr>
        <p:grpSpPr>
          <a:xfrm>
            <a:off x="0" y="0"/>
            <a:ext cx="12192000" cy="6870358"/>
            <a:chOff x="0" y="0"/>
            <a:chExt cx="12192000" cy="6870358"/>
          </a:xfrm>
        </p:grpSpPr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47D59238-2094-A9F7-E8DC-8B723EB38CC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70358"/>
            </a:xfrm>
            <a:prstGeom prst="rect">
              <a:avLst/>
            </a:prstGeom>
          </p:spPr>
        </p:pic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CAA0C498-6F55-7544-E873-056852127720}"/>
                </a:ext>
              </a:extLst>
            </p:cNvPr>
            <p:cNvSpPr/>
            <p:nvPr/>
          </p:nvSpPr>
          <p:spPr>
            <a:xfrm>
              <a:off x="9995561" y="5567881"/>
              <a:ext cx="1909746" cy="40740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6" name="Imagem 5">
            <a:extLst>
              <a:ext uri="{FF2B5EF4-FFF2-40B4-BE49-F238E27FC236}">
                <a16:creationId xmlns:a16="http://schemas.microsoft.com/office/drawing/2014/main" id="{ADE623DF-4EB2-08A0-86E0-1FE8DDAA2C4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38508"/>
          <a:stretch/>
        </p:blipFill>
        <p:spPr>
          <a:xfrm>
            <a:off x="9995561" y="206091"/>
            <a:ext cx="1812506" cy="46314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6D6E16C4-A061-77BE-965B-6ECEBA4FB9B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130" y="47980"/>
            <a:ext cx="938710" cy="600273"/>
          </a:xfrm>
          <a:prstGeom prst="rect">
            <a:avLst/>
          </a:prstGeom>
        </p:spPr>
      </p:pic>
      <p:sp>
        <p:nvSpPr>
          <p:cNvPr id="15" name="Título 14">
            <a:extLst>
              <a:ext uri="{FF2B5EF4-FFF2-40B4-BE49-F238E27FC236}">
                <a16:creationId xmlns:a16="http://schemas.microsoft.com/office/drawing/2014/main" id="{755A6B90-CCC4-43F7-0220-37E375F01B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98006"/>
            <a:ext cx="8216537" cy="669236"/>
          </a:xfrm>
        </p:spPr>
        <p:txBody>
          <a:bodyPr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3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LIST e TUPLE</a:t>
            </a:r>
            <a:endParaRPr lang="pt-BR" sz="5400" b="1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E6A4336-8A2D-9559-C337-3645A8B8EDF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17370" y="736828"/>
            <a:ext cx="11387937" cy="4924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altLang="pt-BR" sz="1800" b="1" dirty="0">
                <a:latin typeface="Arial" panose="020B0604020202020204" pitchFamily="34" charset="0"/>
              </a:rPr>
              <a:t>Exemplo dos métodos de </a:t>
            </a:r>
            <a:r>
              <a:rPr lang="pt-BR" altLang="pt-BR" sz="1800" b="1" dirty="0" err="1">
                <a:latin typeface="Arial" panose="020B0604020202020204" pitchFamily="34" charset="0"/>
              </a:rPr>
              <a:t>List</a:t>
            </a: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Mono" panose="020F0502020204030204" pitchFamily="49" charset="0"/>
              </a:rPr>
              <a:t># Criando lista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ptos Mono" panose="020F0502020204030204" pitchFamily="49" charset="0"/>
              </a:rPr>
              <a:t>nums</a:t>
            </a: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Mono" panose="020F0502020204030204" pitchFamily="49" charset="0"/>
              </a:rPr>
              <a:t> = [3, 1, 4]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 Mono" panose="020F0502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ptos Mono" panose="020F0502020204030204" pitchFamily="49" charset="0"/>
              </a:rPr>
              <a:t>nums.append</a:t>
            </a: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Mono" panose="020F0502020204030204" pitchFamily="49" charset="0"/>
              </a:rPr>
              <a:t>(5)         # [3, 1, 4, 5]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ptos Mono" panose="020F0502020204030204" pitchFamily="49" charset="0"/>
              </a:rPr>
              <a:t>nums.insert</a:t>
            </a: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Mono" panose="020F0502020204030204" pitchFamily="49" charset="0"/>
              </a:rPr>
              <a:t>(1, 10)     # [3, 10, 1, 4, 5]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ptos Mono" panose="020F0502020204030204" pitchFamily="49" charset="0"/>
              </a:rPr>
              <a:t>nums.extend</a:t>
            </a: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Mono" panose="020F0502020204030204" pitchFamily="49" charset="0"/>
              </a:rPr>
              <a:t>([7, 8])    # [3, 10, 1, 4, 5, 7, 8]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ptos Mono" panose="020F0502020204030204" pitchFamily="49" charset="0"/>
              </a:rPr>
              <a:t>nums.remove</a:t>
            </a: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Mono" panose="020F0502020204030204" pitchFamily="49" charset="0"/>
              </a:rPr>
              <a:t>(10)        # [3, 1, 4, 5, 7, 8]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ptos Mono" panose="020F0502020204030204" pitchFamily="49" charset="0"/>
              </a:rPr>
              <a:t>nums.pop</a:t>
            </a: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Mono" panose="020F0502020204030204" pitchFamily="49" charset="0"/>
              </a:rPr>
              <a:t>()             # [3, 1, 4, 5, 7]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ptos Mono" panose="020F0502020204030204" pitchFamily="49" charset="0"/>
              </a:rPr>
              <a:t>nums.sort</a:t>
            </a: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Mono" panose="020F0502020204030204" pitchFamily="49" charset="0"/>
              </a:rPr>
              <a:t>()            # [1, 3, 4, 5, 7]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ptos Mono" panose="020F0502020204030204" pitchFamily="49" charset="0"/>
              </a:rPr>
              <a:t>nums.reverse</a:t>
            </a: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Mono" panose="020F0502020204030204" pitchFamily="49" charset="0"/>
              </a:rPr>
              <a:t>()         # [7, 5, 4, 3, 1]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 Mono" panose="020F0502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Mono" panose="020F0502020204030204" pitchFamily="49" charset="0"/>
              </a:rPr>
              <a:t>print(</a:t>
            </a:r>
            <a:r>
              <a:rPr kumimoji="0" lang="pt-BR" altLang="pt-BR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ptos Mono" panose="020F0502020204030204" pitchFamily="49" charset="0"/>
              </a:rPr>
              <a:t>nums</a:t>
            </a:r>
            <a:r>
              <a:rPr kumimoji="0" lang="pt-BR" altLang="pt-B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 Mono" panose="020F0502020204030204" pitchFamily="49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b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25854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87EC2E-A4E4-BB4A-9EE8-C545CFFE86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o 2">
            <a:extLst>
              <a:ext uri="{FF2B5EF4-FFF2-40B4-BE49-F238E27FC236}">
                <a16:creationId xmlns:a16="http://schemas.microsoft.com/office/drawing/2014/main" id="{D39E765B-7E97-250B-541A-ACDE1578C4ED}"/>
              </a:ext>
            </a:extLst>
          </p:cNvPr>
          <p:cNvGrpSpPr/>
          <p:nvPr/>
        </p:nvGrpSpPr>
        <p:grpSpPr>
          <a:xfrm>
            <a:off x="0" y="0"/>
            <a:ext cx="12192000" cy="6870358"/>
            <a:chOff x="0" y="0"/>
            <a:chExt cx="12192000" cy="6870358"/>
          </a:xfrm>
        </p:grpSpPr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DB846F2E-6E06-40B5-C034-96E89DA2793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70358"/>
            </a:xfrm>
            <a:prstGeom prst="rect">
              <a:avLst/>
            </a:prstGeom>
          </p:spPr>
        </p:pic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DF40863E-340B-DBFF-A7F8-C2B98B30E256}"/>
                </a:ext>
              </a:extLst>
            </p:cNvPr>
            <p:cNvSpPr/>
            <p:nvPr/>
          </p:nvSpPr>
          <p:spPr>
            <a:xfrm>
              <a:off x="9995561" y="5567881"/>
              <a:ext cx="1909746" cy="40740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6" name="Imagem 5">
            <a:extLst>
              <a:ext uri="{FF2B5EF4-FFF2-40B4-BE49-F238E27FC236}">
                <a16:creationId xmlns:a16="http://schemas.microsoft.com/office/drawing/2014/main" id="{9B9639AB-745C-E21A-E65B-52A8B4B9EA6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38508"/>
          <a:stretch/>
        </p:blipFill>
        <p:spPr>
          <a:xfrm>
            <a:off x="9995561" y="206091"/>
            <a:ext cx="1812506" cy="46314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B1D14359-775C-B281-9A79-5E387F3AA3D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130" y="47980"/>
            <a:ext cx="938710" cy="600273"/>
          </a:xfrm>
          <a:prstGeom prst="rect">
            <a:avLst/>
          </a:prstGeom>
        </p:spPr>
      </p:pic>
      <p:sp>
        <p:nvSpPr>
          <p:cNvPr id="15" name="Título 14">
            <a:extLst>
              <a:ext uri="{FF2B5EF4-FFF2-40B4-BE49-F238E27FC236}">
                <a16:creationId xmlns:a16="http://schemas.microsoft.com/office/drawing/2014/main" id="{04F2D1AA-0E54-29A8-57B2-FA345CD587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98006"/>
            <a:ext cx="8216537" cy="669236"/>
          </a:xfrm>
        </p:spPr>
        <p:txBody>
          <a:bodyPr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3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LIST e TUPLE</a:t>
            </a:r>
            <a:endParaRPr lang="pt-BR" sz="5400" b="1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52459DE-3E6C-B09D-9FBD-4F4048C82DB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17370" y="2675820"/>
            <a:ext cx="11387937" cy="10464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b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8" name="Tabela 7">
            <a:extLst>
              <a:ext uri="{FF2B5EF4-FFF2-40B4-BE49-F238E27FC236}">
                <a16:creationId xmlns:a16="http://schemas.microsoft.com/office/drawing/2014/main" id="{2EEA2D36-D859-62BD-7096-19286E7A3E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2181680"/>
              </p:ext>
            </p:extLst>
          </p:nvPr>
        </p:nvGraphicFramePr>
        <p:xfrm>
          <a:off x="1556656" y="1247049"/>
          <a:ext cx="9078688" cy="4950422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3480320">
                  <a:extLst>
                    <a:ext uri="{9D8B030D-6E8A-4147-A177-3AD203B41FA5}">
                      <a16:colId xmlns:a16="http://schemas.microsoft.com/office/drawing/2014/main" val="2461293859"/>
                    </a:ext>
                  </a:extLst>
                </a:gridCol>
                <a:gridCol w="1059024">
                  <a:extLst>
                    <a:ext uri="{9D8B030D-6E8A-4147-A177-3AD203B41FA5}">
                      <a16:colId xmlns:a16="http://schemas.microsoft.com/office/drawing/2014/main" val="140838762"/>
                    </a:ext>
                  </a:extLst>
                </a:gridCol>
                <a:gridCol w="1059025">
                  <a:extLst>
                    <a:ext uri="{9D8B030D-6E8A-4147-A177-3AD203B41FA5}">
                      <a16:colId xmlns:a16="http://schemas.microsoft.com/office/drawing/2014/main" val="3132380461"/>
                    </a:ext>
                  </a:extLst>
                </a:gridCol>
                <a:gridCol w="3480319">
                  <a:extLst>
                    <a:ext uri="{9D8B030D-6E8A-4147-A177-3AD203B41FA5}">
                      <a16:colId xmlns:a16="http://schemas.microsoft.com/office/drawing/2014/main" val="1438940983"/>
                    </a:ext>
                  </a:extLst>
                </a:gridCol>
              </a:tblGrid>
              <a:tr h="171549"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chemeClr val="bg1"/>
                          </a:solidFill>
                        </a:rPr>
                        <a:t>Método / Operação</a:t>
                      </a:r>
                    </a:p>
                  </a:txBody>
                  <a:tcPr marL="41441" marR="41441" marT="20721" marB="20721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 dirty="0" err="1">
                          <a:solidFill>
                            <a:schemeClr val="bg1"/>
                          </a:solidFill>
                        </a:rPr>
                        <a:t>list</a:t>
                      </a:r>
                      <a:r>
                        <a:rPr lang="pt-BR" sz="1400" b="1" dirty="0">
                          <a:solidFill>
                            <a:schemeClr val="bg1"/>
                          </a:solidFill>
                        </a:rPr>
                        <a:t> </a:t>
                      </a:r>
                    </a:p>
                  </a:txBody>
                  <a:tcPr marL="41441" marR="41441" marT="20721" marB="20721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 dirty="0" err="1">
                          <a:solidFill>
                            <a:schemeClr val="bg1"/>
                          </a:solidFill>
                        </a:rPr>
                        <a:t>tuple</a:t>
                      </a:r>
                      <a:r>
                        <a:rPr lang="pt-BR" sz="1400" b="1" dirty="0">
                          <a:solidFill>
                            <a:schemeClr val="bg1"/>
                          </a:solidFill>
                        </a:rPr>
                        <a:t> </a:t>
                      </a:r>
                    </a:p>
                  </a:txBody>
                  <a:tcPr marL="41441" marR="41441" marT="20721" marB="20721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 dirty="0">
                          <a:solidFill>
                            <a:schemeClr val="bg1"/>
                          </a:solidFill>
                        </a:rPr>
                        <a:t>Observação</a:t>
                      </a:r>
                    </a:p>
                  </a:txBody>
                  <a:tcPr marL="41441" marR="41441" marT="20721" marB="20721" anchor="ctr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2536916"/>
                  </a:ext>
                </a:extLst>
              </a:tr>
              <a:tr h="300212">
                <a:tc>
                  <a:txBody>
                    <a:bodyPr/>
                    <a:lstStyle/>
                    <a:p>
                      <a:r>
                        <a:rPr lang="pt-BR" sz="1400"/>
                        <a:t>append(x)</a:t>
                      </a:r>
                    </a:p>
                  </a:txBody>
                  <a:tcPr marL="41441" marR="41441" marT="20721" marB="20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 dirty="0"/>
                        <a:t>SIM</a:t>
                      </a:r>
                    </a:p>
                  </a:txBody>
                  <a:tcPr marL="41441" marR="41441" marT="20721" marB="20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 dirty="0"/>
                        <a:t>NÃO</a:t>
                      </a:r>
                    </a:p>
                  </a:txBody>
                  <a:tcPr marL="41441" marR="41441" marT="20721" marB="20721" anchor="ctr"/>
                </a:tc>
                <a:tc>
                  <a:txBody>
                    <a:bodyPr/>
                    <a:lstStyle/>
                    <a:p>
                      <a:r>
                        <a:rPr lang="pt-BR" sz="1400" dirty="0"/>
                        <a:t>Adiciona elemento no final (apenas em lista)</a:t>
                      </a:r>
                    </a:p>
                  </a:txBody>
                  <a:tcPr marL="41441" marR="41441" marT="20721" marB="20721" anchor="ctr"/>
                </a:tc>
                <a:extLst>
                  <a:ext uri="{0D108BD9-81ED-4DB2-BD59-A6C34878D82A}">
                    <a16:rowId xmlns:a16="http://schemas.microsoft.com/office/drawing/2014/main" val="1284379582"/>
                  </a:ext>
                </a:extLst>
              </a:tr>
              <a:tr h="300212">
                <a:tc>
                  <a:txBody>
                    <a:bodyPr/>
                    <a:lstStyle/>
                    <a:p>
                      <a:r>
                        <a:rPr lang="pt-BR" sz="1400"/>
                        <a:t>insert(i, x)</a:t>
                      </a:r>
                    </a:p>
                  </a:txBody>
                  <a:tcPr marL="41441" marR="41441" marT="20721" marB="20721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1" dirty="0"/>
                        <a:t>SIM</a:t>
                      </a:r>
                    </a:p>
                  </a:txBody>
                  <a:tcPr marL="41441" marR="41441" marT="20721" marB="20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 dirty="0"/>
                        <a:t>NÃO</a:t>
                      </a:r>
                    </a:p>
                  </a:txBody>
                  <a:tcPr marL="41441" marR="41441" marT="20721" marB="20721" anchor="ctr"/>
                </a:tc>
                <a:tc>
                  <a:txBody>
                    <a:bodyPr/>
                    <a:lstStyle/>
                    <a:p>
                      <a:r>
                        <a:rPr lang="pt-BR" sz="1400"/>
                        <a:t>Insere elemento na posição indicada</a:t>
                      </a:r>
                    </a:p>
                  </a:txBody>
                  <a:tcPr marL="41441" marR="41441" marT="20721" marB="20721" anchor="ctr"/>
                </a:tc>
                <a:extLst>
                  <a:ext uri="{0D108BD9-81ED-4DB2-BD59-A6C34878D82A}">
                    <a16:rowId xmlns:a16="http://schemas.microsoft.com/office/drawing/2014/main" val="972779507"/>
                  </a:ext>
                </a:extLst>
              </a:tr>
              <a:tr h="300212">
                <a:tc>
                  <a:txBody>
                    <a:bodyPr/>
                    <a:lstStyle/>
                    <a:p>
                      <a:r>
                        <a:rPr lang="pt-BR" sz="1400"/>
                        <a:t>extend(iterável)</a:t>
                      </a:r>
                    </a:p>
                  </a:txBody>
                  <a:tcPr marL="41441" marR="41441" marT="20721" marB="20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 dirty="0"/>
                        <a:t>SIM</a:t>
                      </a:r>
                    </a:p>
                  </a:txBody>
                  <a:tcPr marL="41441" marR="41441" marT="20721" marB="20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 dirty="0"/>
                        <a:t>NÃO</a:t>
                      </a:r>
                    </a:p>
                  </a:txBody>
                  <a:tcPr marL="41441" marR="41441" marT="20721" marB="20721" anchor="ctr"/>
                </a:tc>
                <a:tc>
                  <a:txBody>
                    <a:bodyPr/>
                    <a:lstStyle/>
                    <a:p>
                      <a:r>
                        <a:rPr lang="pt-BR" sz="1400" dirty="0"/>
                        <a:t>Adiciona vários elementos no final</a:t>
                      </a:r>
                    </a:p>
                  </a:txBody>
                  <a:tcPr marL="41441" marR="41441" marT="20721" marB="20721" anchor="ctr"/>
                </a:tc>
                <a:extLst>
                  <a:ext uri="{0D108BD9-81ED-4DB2-BD59-A6C34878D82A}">
                    <a16:rowId xmlns:a16="http://schemas.microsoft.com/office/drawing/2014/main" val="2514414180"/>
                  </a:ext>
                </a:extLst>
              </a:tr>
              <a:tr h="300212">
                <a:tc>
                  <a:txBody>
                    <a:bodyPr/>
                    <a:lstStyle/>
                    <a:p>
                      <a:r>
                        <a:rPr lang="pt-BR" sz="1400"/>
                        <a:t>remove(x)</a:t>
                      </a:r>
                    </a:p>
                  </a:txBody>
                  <a:tcPr marL="41441" marR="41441" marT="20721" marB="20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 dirty="0"/>
                        <a:t>SIM</a:t>
                      </a:r>
                    </a:p>
                  </a:txBody>
                  <a:tcPr marL="41441" marR="41441" marT="20721" marB="20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 dirty="0"/>
                        <a:t>NÃO</a:t>
                      </a:r>
                    </a:p>
                  </a:txBody>
                  <a:tcPr marL="41441" marR="41441" marT="20721" marB="20721" anchor="ctr"/>
                </a:tc>
                <a:tc>
                  <a:txBody>
                    <a:bodyPr/>
                    <a:lstStyle/>
                    <a:p>
                      <a:r>
                        <a:rPr lang="pt-BR" sz="1400"/>
                        <a:t>Remove a </a:t>
                      </a:r>
                      <a:r>
                        <a:rPr lang="pt-BR" sz="1400" b="1"/>
                        <a:t>primeira ocorrência</a:t>
                      </a:r>
                      <a:r>
                        <a:rPr lang="pt-BR" sz="1400"/>
                        <a:t> do valor</a:t>
                      </a:r>
                    </a:p>
                  </a:txBody>
                  <a:tcPr marL="41441" marR="41441" marT="20721" marB="20721" anchor="ctr"/>
                </a:tc>
                <a:extLst>
                  <a:ext uri="{0D108BD9-81ED-4DB2-BD59-A6C34878D82A}">
                    <a16:rowId xmlns:a16="http://schemas.microsoft.com/office/drawing/2014/main" val="723188660"/>
                  </a:ext>
                </a:extLst>
              </a:tr>
              <a:tr h="428874">
                <a:tc>
                  <a:txBody>
                    <a:bodyPr/>
                    <a:lstStyle/>
                    <a:p>
                      <a:r>
                        <a:rPr lang="pt-BR" sz="1400"/>
                        <a:t>pop([i])</a:t>
                      </a:r>
                    </a:p>
                  </a:txBody>
                  <a:tcPr marL="41441" marR="41441" marT="20721" marB="20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 dirty="0"/>
                        <a:t>SIM</a:t>
                      </a:r>
                    </a:p>
                  </a:txBody>
                  <a:tcPr marL="41441" marR="41441" marT="20721" marB="20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 dirty="0"/>
                        <a:t>NÃO</a:t>
                      </a:r>
                    </a:p>
                  </a:txBody>
                  <a:tcPr marL="41441" marR="41441" marT="20721" marB="20721" anchor="ctr"/>
                </a:tc>
                <a:tc>
                  <a:txBody>
                    <a:bodyPr/>
                    <a:lstStyle/>
                    <a:p>
                      <a:r>
                        <a:rPr lang="pt-BR" sz="1400"/>
                        <a:t>Remove elemento por índice (ou o último se não passar)</a:t>
                      </a:r>
                    </a:p>
                  </a:txBody>
                  <a:tcPr marL="41441" marR="41441" marT="20721" marB="20721" anchor="ctr"/>
                </a:tc>
                <a:extLst>
                  <a:ext uri="{0D108BD9-81ED-4DB2-BD59-A6C34878D82A}">
                    <a16:rowId xmlns:a16="http://schemas.microsoft.com/office/drawing/2014/main" val="2115453475"/>
                  </a:ext>
                </a:extLst>
              </a:tr>
              <a:tr h="300212">
                <a:tc>
                  <a:txBody>
                    <a:bodyPr/>
                    <a:lstStyle/>
                    <a:p>
                      <a:r>
                        <a:rPr lang="pt-BR" sz="1400"/>
                        <a:t>clear()</a:t>
                      </a:r>
                    </a:p>
                  </a:txBody>
                  <a:tcPr marL="41441" marR="41441" marT="20721" marB="20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 dirty="0"/>
                        <a:t>SIM</a:t>
                      </a:r>
                    </a:p>
                  </a:txBody>
                  <a:tcPr marL="41441" marR="41441" marT="20721" marB="20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 dirty="0"/>
                        <a:t>NÃO</a:t>
                      </a:r>
                    </a:p>
                  </a:txBody>
                  <a:tcPr marL="41441" marR="41441" marT="20721" marB="20721" anchor="ctr"/>
                </a:tc>
                <a:tc>
                  <a:txBody>
                    <a:bodyPr/>
                    <a:lstStyle/>
                    <a:p>
                      <a:r>
                        <a:rPr lang="pt-BR" sz="1400"/>
                        <a:t>Remove todos os elementos</a:t>
                      </a:r>
                    </a:p>
                  </a:txBody>
                  <a:tcPr marL="41441" marR="41441" marT="20721" marB="20721" anchor="ctr"/>
                </a:tc>
                <a:extLst>
                  <a:ext uri="{0D108BD9-81ED-4DB2-BD59-A6C34878D82A}">
                    <a16:rowId xmlns:a16="http://schemas.microsoft.com/office/drawing/2014/main" val="3037122846"/>
                  </a:ext>
                </a:extLst>
              </a:tr>
              <a:tr h="373712">
                <a:tc>
                  <a:txBody>
                    <a:bodyPr/>
                    <a:lstStyle/>
                    <a:p>
                      <a:r>
                        <a:rPr lang="pt-BR" sz="1400"/>
                        <a:t>index(x)</a:t>
                      </a:r>
                    </a:p>
                  </a:txBody>
                  <a:tcPr marL="41441" marR="41441" marT="20721" marB="20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 dirty="0"/>
                        <a:t>SIM</a:t>
                      </a:r>
                    </a:p>
                  </a:txBody>
                  <a:tcPr marL="41441" marR="41441" marT="20721" marB="20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 dirty="0"/>
                        <a:t>SIM</a:t>
                      </a:r>
                    </a:p>
                  </a:txBody>
                  <a:tcPr marL="41441" marR="41441" marT="20721" marB="20721" anchor="ctr"/>
                </a:tc>
                <a:tc>
                  <a:txBody>
                    <a:bodyPr/>
                    <a:lstStyle/>
                    <a:p>
                      <a:r>
                        <a:rPr lang="pt-BR" sz="1400"/>
                        <a:t>Retorna o índice da </a:t>
                      </a:r>
                      <a:r>
                        <a:rPr lang="pt-BR" sz="1400" b="1"/>
                        <a:t>primeira ocorrência</a:t>
                      </a:r>
                      <a:endParaRPr lang="pt-BR" sz="1400"/>
                    </a:p>
                  </a:txBody>
                  <a:tcPr marL="41441" marR="41441" marT="20721" marB="20721" anchor="ctr"/>
                </a:tc>
                <a:extLst>
                  <a:ext uri="{0D108BD9-81ED-4DB2-BD59-A6C34878D82A}">
                    <a16:rowId xmlns:a16="http://schemas.microsoft.com/office/drawing/2014/main" val="2805876071"/>
                  </a:ext>
                </a:extLst>
              </a:tr>
              <a:tr h="300212">
                <a:tc>
                  <a:txBody>
                    <a:bodyPr/>
                    <a:lstStyle/>
                    <a:p>
                      <a:r>
                        <a:rPr lang="pt-BR" sz="1400"/>
                        <a:t>count(x)</a:t>
                      </a:r>
                    </a:p>
                  </a:txBody>
                  <a:tcPr marL="41441" marR="41441" marT="20721" marB="20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 dirty="0"/>
                        <a:t>SIM</a:t>
                      </a:r>
                    </a:p>
                  </a:txBody>
                  <a:tcPr marL="41441" marR="41441" marT="20721" marB="20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 dirty="0"/>
                        <a:t>SIM</a:t>
                      </a:r>
                    </a:p>
                  </a:txBody>
                  <a:tcPr marL="41441" marR="41441" marT="20721" marB="20721" anchor="ctr"/>
                </a:tc>
                <a:tc>
                  <a:txBody>
                    <a:bodyPr/>
                    <a:lstStyle/>
                    <a:p>
                      <a:r>
                        <a:rPr lang="pt-BR" sz="1400"/>
                        <a:t>Conta quantas vezes o valor aparece</a:t>
                      </a:r>
                    </a:p>
                  </a:txBody>
                  <a:tcPr marL="41441" marR="41441" marT="20721" marB="20721" anchor="ctr"/>
                </a:tc>
                <a:extLst>
                  <a:ext uri="{0D108BD9-81ED-4DB2-BD59-A6C34878D82A}">
                    <a16:rowId xmlns:a16="http://schemas.microsoft.com/office/drawing/2014/main" val="3241210542"/>
                  </a:ext>
                </a:extLst>
              </a:tr>
              <a:tr h="300212">
                <a:tc>
                  <a:txBody>
                    <a:bodyPr/>
                    <a:lstStyle/>
                    <a:p>
                      <a:r>
                        <a:rPr lang="pt-BR" sz="1400"/>
                        <a:t>sort()</a:t>
                      </a:r>
                    </a:p>
                  </a:txBody>
                  <a:tcPr marL="41441" marR="41441" marT="20721" marB="20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 dirty="0"/>
                        <a:t>SIM</a:t>
                      </a:r>
                    </a:p>
                  </a:txBody>
                  <a:tcPr marL="41441" marR="41441" marT="20721" marB="20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 dirty="0"/>
                        <a:t>NÃO</a:t>
                      </a:r>
                    </a:p>
                  </a:txBody>
                  <a:tcPr marL="41441" marR="41441" marT="20721" marB="20721" anchor="ctr"/>
                </a:tc>
                <a:tc>
                  <a:txBody>
                    <a:bodyPr/>
                    <a:lstStyle/>
                    <a:p>
                      <a:r>
                        <a:rPr lang="pt-BR" sz="1400"/>
                        <a:t>Ordena os elementos no lugar</a:t>
                      </a:r>
                    </a:p>
                  </a:txBody>
                  <a:tcPr marL="41441" marR="41441" marT="20721" marB="20721" anchor="ctr"/>
                </a:tc>
                <a:extLst>
                  <a:ext uri="{0D108BD9-81ED-4DB2-BD59-A6C34878D82A}">
                    <a16:rowId xmlns:a16="http://schemas.microsoft.com/office/drawing/2014/main" val="538333431"/>
                  </a:ext>
                </a:extLst>
              </a:tr>
              <a:tr h="300212">
                <a:tc>
                  <a:txBody>
                    <a:bodyPr/>
                    <a:lstStyle/>
                    <a:p>
                      <a:r>
                        <a:rPr lang="pt-BR" sz="1400"/>
                        <a:t>reverse()</a:t>
                      </a:r>
                    </a:p>
                  </a:txBody>
                  <a:tcPr marL="41441" marR="41441" marT="20721" marB="20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 dirty="0"/>
                        <a:t>SIM</a:t>
                      </a:r>
                    </a:p>
                  </a:txBody>
                  <a:tcPr marL="41441" marR="41441" marT="20721" marB="20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 dirty="0"/>
                        <a:t>NÃO</a:t>
                      </a:r>
                    </a:p>
                  </a:txBody>
                  <a:tcPr marL="41441" marR="41441" marT="20721" marB="20721" anchor="ctr"/>
                </a:tc>
                <a:tc>
                  <a:txBody>
                    <a:bodyPr/>
                    <a:lstStyle/>
                    <a:p>
                      <a:r>
                        <a:rPr lang="pt-BR" sz="1400"/>
                        <a:t>Inverte a ordem dos elementos</a:t>
                      </a:r>
                    </a:p>
                  </a:txBody>
                  <a:tcPr marL="41441" marR="41441" marT="20721" marB="20721" anchor="ctr"/>
                </a:tc>
                <a:extLst>
                  <a:ext uri="{0D108BD9-81ED-4DB2-BD59-A6C34878D82A}">
                    <a16:rowId xmlns:a16="http://schemas.microsoft.com/office/drawing/2014/main" val="78664512"/>
                  </a:ext>
                </a:extLst>
              </a:tr>
              <a:tr h="300212">
                <a:tc>
                  <a:txBody>
                    <a:bodyPr/>
                    <a:lstStyle/>
                    <a:p>
                      <a:r>
                        <a:rPr lang="pt-BR" sz="1400"/>
                        <a:t>copy()</a:t>
                      </a:r>
                    </a:p>
                  </a:txBody>
                  <a:tcPr marL="41441" marR="41441" marT="20721" marB="20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 dirty="0"/>
                        <a:t>SIM</a:t>
                      </a:r>
                    </a:p>
                  </a:txBody>
                  <a:tcPr marL="41441" marR="41441" marT="20721" marB="20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 dirty="0"/>
                        <a:t>NÃO</a:t>
                      </a:r>
                    </a:p>
                  </a:txBody>
                  <a:tcPr marL="41441" marR="41441" marT="20721" marB="20721" anchor="ctr"/>
                </a:tc>
                <a:tc>
                  <a:txBody>
                    <a:bodyPr/>
                    <a:lstStyle/>
                    <a:p>
                      <a:r>
                        <a:rPr lang="pt-BR" sz="1400"/>
                        <a:t>Cria uma cópia rasa da lista</a:t>
                      </a:r>
                    </a:p>
                  </a:txBody>
                  <a:tcPr marL="41441" marR="41441" marT="20721" marB="20721" anchor="ctr"/>
                </a:tc>
                <a:extLst>
                  <a:ext uri="{0D108BD9-81ED-4DB2-BD59-A6C34878D82A}">
                    <a16:rowId xmlns:a16="http://schemas.microsoft.com/office/drawing/2014/main" val="1520802537"/>
                  </a:ext>
                </a:extLst>
              </a:tr>
              <a:tr h="300212">
                <a:tc>
                  <a:txBody>
                    <a:bodyPr/>
                    <a:lstStyle/>
                    <a:p>
                      <a:r>
                        <a:rPr lang="pt-BR" sz="1400"/>
                        <a:t>Concatenar (+)</a:t>
                      </a:r>
                    </a:p>
                  </a:txBody>
                  <a:tcPr marL="41441" marR="41441" marT="20721" marB="20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 dirty="0"/>
                        <a:t>SIM</a:t>
                      </a:r>
                    </a:p>
                  </a:txBody>
                  <a:tcPr marL="41441" marR="41441" marT="20721" marB="20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 dirty="0"/>
                        <a:t>SIM</a:t>
                      </a:r>
                    </a:p>
                  </a:txBody>
                  <a:tcPr marL="41441" marR="41441" marT="20721" marB="20721" anchor="ctr"/>
                </a:tc>
                <a:tc>
                  <a:txBody>
                    <a:bodyPr/>
                    <a:lstStyle/>
                    <a:p>
                      <a:r>
                        <a:rPr lang="pt-BR" sz="1400"/>
                        <a:t>Cria uma nova lista/tupla com elementos de outra</a:t>
                      </a:r>
                    </a:p>
                  </a:txBody>
                  <a:tcPr marL="41441" marR="41441" marT="20721" marB="20721" anchor="ctr"/>
                </a:tc>
                <a:extLst>
                  <a:ext uri="{0D108BD9-81ED-4DB2-BD59-A6C34878D82A}">
                    <a16:rowId xmlns:a16="http://schemas.microsoft.com/office/drawing/2014/main" val="3444145976"/>
                  </a:ext>
                </a:extLst>
              </a:tr>
              <a:tr h="171549">
                <a:tc>
                  <a:txBody>
                    <a:bodyPr/>
                    <a:lstStyle/>
                    <a:p>
                      <a:r>
                        <a:rPr lang="pt-BR" sz="1400"/>
                        <a:t>Repetir (*)</a:t>
                      </a:r>
                    </a:p>
                  </a:txBody>
                  <a:tcPr marL="41441" marR="41441" marT="20721" marB="20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 dirty="0"/>
                        <a:t>SIM</a:t>
                      </a:r>
                    </a:p>
                  </a:txBody>
                  <a:tcPr marL="41441" marR="41441" marT="20721" marB="20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 dirty="0"/>
                        <a:t>SIM</a:t>
                      </a:r>
                    </a:p>
                  </a:txBody>
                  <a:tcPr marL="41441" marR="41441" marT="20721" marB="20721" anchor="ctr"/>
                </a:tc>
                <a:tc>
                  <a:txBody>
                    <a:bodyPr/>
                    <a:lstStyle/>
                    <a:p>
                      <a:r>
                        <a:rPr lang="pt-BR" sz="1400"/>
                        <a:t>Repete elementos N vezes</a:t>
                      </a:r>
                    </a:p>
                  </a:txBody>
                  <a:tcPr marL="41441" marR="41441" marT="20721" marB="20721" anchor="ctr"/>
                </a:tc>
                <a:extLst>
                  <a:ext uri="{0D108BD9-81ED-4DB2-BD59-A6C34878D82A}">
                    <a16:rowId xmlns:a16="http://schemas.microsoft.com/office/drawing/2014/main" val="1822063889"/>
                  </a:ext>
                </a:extLst>
              </a:tr>
              <a:tr h="428874">
                <a:tc>
                  <a:txBody>
                    <a:bodyPr/>
                    <a:lstStyle/>
                    <a:p>
                      <a:r>
                        <a:rPr lang="pt-BR" sz="1400"/>
                        <a:t>Fatiamento ([i:j])</a:t>
                      </a:r>
                    </a:p>
                  </a:txBody>
                  <a:tcPr marL="41441" marR="41441" marT="20721" marB="20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 dirty="0"/>
                        <a:t>SIM</a:t>
                      </a:r>
                    </a:p>
                  </a:txBody>
                  <a:tcPr marL="41441" marR="41441" marT="20721" marB="20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 dirty="0"/>
                        <a:t>SIM</a:t>
                      </a:r>
                    </a:p>
                  </a:txBody>
                  <a:tcPr marL="41441" marR="41441" marT="20721" marB="20721" anchor="ctr"/>
                </a:tc>
                <a:tc>
                  <a:txBody>
                    <a:bodyPr/>
                    <a:lstStyle/>
                    <a:p>
                      <a:r>
                        <a:rPr lang="pt-BR" sz="1400" dirty="0"/>
                        <a:t>Retorna parte dos elementos (nova lista/tupla)</a:t>
                      </a:r>
                    </a:p>
                  </a:txBody>
                  <a:tcPr marL="41441" marR="41441" marT="20721" marB="20721" anchor="ctr"/>
                </a:tc>
                <a:extLst>
                  <a:ext uri="{0D108BD9-81ED-4DB2-BD59-A6C34878D82A}">
                    <a16:rowId xmlns:a16="http://schemas.microsoft.com/office/drawing/2014/main" val="3264015148"/>
                  </a:ext>
                </a:extLst>
              </a:tr>
            </a:tbl>
          </a:graphicData>
        </a:graphic>
      </p:graphicFrame>
      <p:sp>
        <p:nvSpPr>
          <p:cNvPr id="9" name="Rectangle 1">
            <a:extLst>
              <a:ext uri="{FF2B5EF4-FFF2-40B4-BE49-F238E27FC236}">
                <a16:creationId xmlns:a16="http://schemas.microsoft.com/office/drawing/2014/main" id="{2134BC3C-C5A2-F6E0-D17F-F8B377323B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7370" y="822177"/>
            <a:ext cx="1129069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Comparação de métodos: </a:t>
            </a:r>
            <a:r>
              <a:rPr kumimoji="0" lang="pt-BR" altLang="pt-BR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list</a:t>
            </a: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x </a:t>
            </a:r>
            <a:r>
              <a:rPr kumimoji="0" lang="pt-BR" altLang="pt-BR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tuple</a:t>
            </a:r>
            <a:endParaRPr kumimoji="0" lang="pt-BR" altLang="pt-BR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12292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BFB5AD-D13E-0E5A-8306-9EB6E148F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o 2">
            <a:extLst>
              <a:ext uri="{FF2B5EF4-FFF2-40B4-BE49-F238E27FC236}">
                <a16:creationId xmlns:a16="http://schemas.microsoft.com/office/drawing/2014/main" id="{0DD6E32E-B680-296D-6B0B-87595A3639C3}"/>
              </a:ext>
            </a:extLst>
          </p:cNvPr>
          <p:cNvGrpSpPr/>
          <p:nvPr/>
        </p:nvGrpSpPr>
        <p:grpSpPr>
          <a:xfrm>
            <a:off x="0" y="0"/>
            <a:ext cx="12192000" cy="6870358"/>
            <a:chOff x="0" y="0"/>
            <a:chExt cx="12192000" cy="6870358"/>
          </a:xfrm>
        </p:grpSpPr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5AD380AC-8638-5121-6DA0-48251308B7D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70358"/>
            </a:xfrm>
            <a:prstGeom prst="rect">
              <a:avLst/>
            </a:prstGeom>
          </p:spPr>
        </p:pic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2ECCF06D-F233-E7A6-7CD9-9F6FD104B51A}"/>
                </a:ext>
              </a:extLst>
            </p:cNvPr>
            <p:cNvSpPr/>
            <p:nvPr/>
          </p:nvSpPr>
          <p:spPr>
            <a:xfrm>
              <a:off x="9995561" y="5567881"/>
              <a:ext cx="1909746" cy="40740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6" name="Imagem 5">
            <a:extLst>
              <a:ext uri="{FF2B5EF4-FFF2-40B4-BE49-F238E27FC236}">
                <a16:creationId xmlns:a16="http://schemas.microsoft.com/office/drawing/2014/main" id="{41D114FF-387B-2865-1332-3969F91BE55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38508"/>
          <a:stretch/>
        </p:blipFill>
        <p:spPr>
          <a:xfrm>
            <a:off x="9995561" y="206091"/>
            <a:ext cx="1812506" cy="46314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F66575B8-F643-14F4-0EED-3E9DAA36DAE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130" y="47980"/>
            <a:ext cx="938710" cy="600273"/>
          </a:xfrm>
          <a:prstGeom prst="rect">
            <a:avLst/>
          </a:prstGeom>
        </p:spPr>
      </p:pic>
      <p:sp>
        <p:nvSpPr>
          <p:cNvPr id="15" name="Título 14">
            <a:extLst>
              <a:ext uri="{FF2B5EF4-FFF2-40B4-BE49-F238E27FC236}">
                <a16:creationId xmlns:a16="http://schemas.microsoft.com/office/drawing/2014/main" id="{01A7E3FF-2BC2-E435-20ED-1EE5496345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98006"/>
            <a:ext cx="8216537" cy="669236"/>
          </a:xfrm>
        </p:spPr>
        <p:txBody>
          <a:bodyPr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3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LIST e TUPLE</a:t>
            </a:r>
            <a:endParaRPr lang="pt-BR" sz="5400" b="1" dirty="0"/>
          </a:p>
        </p:txBody>
      </p:sp>
      <p:sp>
        <p:nvSpPr>
          <p:cNvPr id="14" name="Espaço Reservado para Conteúdo 13">
            <a:extLst>
              <a:ext uri="{FF2B5EF4-FFF2-40B4-BE49-F238E27FC236}">
                <a16:creationId xmlns:a16="http://schemas.microsoft.com/office/drawing/2014/main" id="{D69C7B8B-068A-CF9A-4543-55EA341C17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6694" y="875327"/>
            <a:ext cx="11684482" cy="5215431"/>
          </a:xfrm>
        </p:spPr>
        <p:txBody>
          <a:bodyPr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Uma situação muito comum é usar uma tupla para criar uma lista.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2000" dirty="0">
                <a:latin typeface="Arial" panose="020B0604020202020204" pitchFamily="34" charset="0"/>
              </a:rPr>
              <a:t>EXEMPLO: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BR" sz="2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pt-BR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 Nova" panose="020B0504020202020204" pitchFamily="34" charset="0"/>
              </a:rPr>
              <a:t># Tupla com cores (</a:t>
            </a:r>
            <a:r>
              <a:rPr lang="pt-BR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 Nova" panose="020B0504020202020204" pitchFamily="34" charset="0"/>
              </a:rPr>
              <a:t>tuple</a:t>
            </a:r>
            <a:r>
              <a:rPr lang="pt-BR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 Nova" panose="020B0504020202020204" pitchFamily="34" charset="0"/>
              </a:rPr>
              <a:t>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pt-BR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 Nova" panose="020B0504020202020204" pitchFamily="34" charset="0"/>
              </a:rPr>
              <a:t>cor = (“amarelo", “vermelho", “verde", “azul", “preto“, “marrom”, “rosa”, “roxo”, “branco”, “Laranja”)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pt-BR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 Nova" panose="020B0504020202020204" pitchFamily="34" charset="0"/>
              </a:rPr>
              <a:t># Lista de cores escolhidas(</a:t>
            </a:r>
            <a:r>
              <a:rPr lang="pt-BR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 Nova" panose="020B0504020202020204" pitchFamily="34" charset="0"/>
              </a:rPr>
              <a:t>list</a:t>
            </a:r>
            <a:r>
              <a:rPr lang="pt-BR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 Nova" panose="020B0504020202020204" pitchFamily="34" charset="0"/>
              </a:rPr>
              <a:t>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pt-BR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 Nova" panose="020B0504020202020204" pitchFamily="34" charset="0"/>
              </a:rPr>
              <a:t>cores = [ ]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pt-BR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 Nova" panose="020B0504020202020204" pitchFamily="34" charset="0"/>
              </a:rPr>
              <a:t>cores.append</a:t>
            </a:r>
            <a:r>
              <a:rPr lang="pt-BR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 Nova" panose="020B0504020202020204" pitchFamily="34" charset="0"/>
              </a:rPr>
              <a:t>(cor[0])</a:t>
            </a:r>
          </a:p>
          <a:p>
            <a:pPr marL="0" indent="0">
              <a:buNone/>
            </a:pPr>
            <a:r>
              <a:rPr lang="pt-BR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 Nova" panose="020B0504020202020204" pitchFamily="34" charset="0"/>
              </a:rPr>
              <a:t>cores.append</a:t>
            </a:r>
            <a:r>
              <a:rPr lang="pt-BR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 Nova" panose="020B0504020202020204" pitchFamily="34" charset="0"/>
              </a:rPr>
              <a:t>(cor[2])</a:t>
            </a:r>
          </a:p>
          <a:p>
            <a:pPr marL="0" indent="0">
              <a:buNone/>
            </a:pPr>
            <a:r>
              <a:rPr lang="pt-BR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 Nova" panose="020B0504020202020204" pitchFamily="34" charset="0"/>
              </a:rPr>
              <a:t>cores.append</a:t>
            </a:r>
            <a:r>
              <a:rPr lang="pt-BR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 Nova" panose="020B0504020202020204" pitchFamily="34" charset="0"/>
              </a:rPr>
              <a:t>(cor[3])</a:t>
            </a:r>
          </a:p>
          <a:p>
            <a:pPr marL="0" indent="0">
              <a:buNone/>
            </a:pPr>
            <a:r>
              <a:rPr lang="pt-BR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 Nova" panose="020B0504020202020204" pitchFamily="34" charset="0"/>
              </a:rPr>
              <a:t>cores.append</a:t>
            </a:r>
            <a:r>
              <a:rPr lang="pt-BR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 Nova" panose="020B0504020202020204" pitchFamily="34" charset="0"/>
              </a:rPr>
              <a:t>(cor[8])</a:t>
            </a:r>
          </a:p>
          <a:p>
            <a:pPr marL="0" indent="0">
              <a:buNone/>
            </a:pPr>
            <a:r>
              <a:rPr lang="pt-BR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 Nova" panose="020B0504020202020204" pitchFamily="34" charset="0"/>
              </a:rPr>
              <a:t>print(“cores cadastradas:”, cor)</a:t>
            </a:r>
          </a:p>
          <a:p>
            <a:pPr marL="0" indent="0">
              <a:buNone/>
            </a:pPr>
            <a:r>
              <a:rPr lang="pt-BR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Arial Nova" panose="020B0504020202020204" pitchFamily="34" charset="0"/>
              </a:rPr>
              <a:t>print(“Cores escolhidas:”, cores)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sz="2000" dirty="0">
              <a:solidFill>
                <a:schemeClr val="tx1">
                  <a:lumMod val="95000"/>
                  <a:lumOff val="5000"/>
                </a:schemeClr>
              </a:solidFill>
              <a:latin typeface="Arial Nova" panose="020B05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BR" sz="2000" dirty="0">
              <a:solidFill>
                <a:schemeClr val="tx1">
                  <a:lumMod val="95000"/>
                  <a:lumOff val="5000"/>
                </a:schemeClr>
              </a:solidFill>
              <a:latin typeface="Arial Nova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BR" sz="2000" dirty="0">
              <a:solidFill>
                <a:schemeClr val="tx1">
                  <a:lumMod val="95000"/>
                  <a:lumOff val="5000"/>
                </a:schemeClr>
              </a:solidFill>
              <a:latin typeface="Arial Nova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23413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BE0EE5-16C1-D191-6BFC-46E7B2F71F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o 2">
            <a:extLst>
              <a:ext uri="{FF2B5EF4-FFF2-40B4-BE49-F238E27FC236}">
                <a16:creationId xmlns:a16="http://schemas.microsoft.com/office/drawing/2014/main" id="{F430800E-6F01-5970-79AD-D99ADF014DB4}"/>
              </a:ext>
            </a:extLst>
          </p:cNvPr>
          <p:cNvGrpSpPr/>
          <p:nvPr/>
        </p:nvGrpSpPr>
        <p:grpSpPr>
          <a:xfrm>
            <a:off x="0" y="0"/>
            <a:ext cx="12192000" cy="6870358"/>
            <a:chOff x="0" y="0"/>
            <a:chExt cx="12192000" cy="6870358"/>
          </a:xfrm>
        </p:grpSpPr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1D5505C7-E82B-83D3-01AB-3F76B4B8F7B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70358"/>
            </a:xfrm>
            <a:prstGeom prst="rect">
              <a:avLst/>
            </a:prstGeom>
          </p:spPr>
        </p:pic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8249F843-F8A2-B255-43AC-4B9F1A56C3F3}"/>
                </a:ext>
              </a:extLst>
            </p:cNvPr>
            <p:cNvSpPr/>
            <p:nvPr/>
          </p:nvSpPr>
          <p:spPr>
            <a:xfrm>
              <a:off x="9995561" y="5567881"/>
              <a:ext cx="1909746" cy="40740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6" name="Imagem 5">
            <a:extLst>
              <a:ext uri="{FF2B5EF4-FFF2-40B4-BE49-F238E27FC236}">
                <a16:creationId xmlns:a16="http://schemas.microsoft.com/office/drawing/2014/main" id="{3EE48FE8-C2F9-2292-8CB9-8A578D1E3FF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38508"/>
          <a:stretch/>
        </p:blipFill>
        <p:spPr>
          <a:xfrm>
            <a:off x="9995561" y="206091"/>
            <a:ext cx="1812506" cy="46314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54524605-BED8-9EC6-D896-664861DC675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130" y="47980"/>
            <a:ext cx="938710" cy="600273"/>
          </a:xfrm>
          <a:prstGeom prst="rect">
            <a:avLst/>
          </a:prstGeom>
        </p:spPr>
      </p:pic>
      <p:sp>
        <p:nvSpPr>
          <p:cNvPr id="15" name="Título 14">
            <a:extLst>
              <a:ext uri="{FF2B5EF4-FFF2-40B4-BE49-F238E27FC236}">
                <a16:creationId xmlns:a16="http://schemas.microsoft.com/office/drawing/2014/main" id="{934822CA-FBD3-C07D-7941-07CAAF97F3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98006"/>
            <a:ext cx="8216537" cy="669236"/>
          </a:xfrm>
        </p:spPr>
        <p:txBody>
          <a:bodyPr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3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LIST e TUPLE</a:t>
            </a:r>
            <a:endParaRPr lang="pt-BR" sz="5400" b="1" dirty="0"/>
          </a:p>
        </p:txBody>
      </p:sp>
      <p:sp>
        <p:nvSpPr>
          <p:cNvPr id="14" name="Espaço Reservado para Conteúdo 13">
            <a:extLst>
              <a:ext uri="{FF2B5EF4-FFF2-40B4-BE49-F238E27FC236}">
                <a16:creationId xmlns:a16="http://schemas.microsoft.com/office/drawing/2014/main" id="{14536DBE-BB6C-D8B0-D165-B1CAC72DF2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371" y="875327"/>
            <a:ext cx="11387936" cy="5215431"/>
          </a:xfrm>
        </p:spPr>
        <p:txBody>
          <a:bodyPr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Exercício: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BR" altLang="pt-BR" sz="20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Crie um sistema que você tem um cardápio de lanches (que nunca muda) com as opções abaixo: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lang="pt-BR" altLang="pt-BR" sz="2000" dirty="0">
                <a:latin typeface="Arial" panose="020B0604020202020204" pitchFamily="34" charset="0"/>
              </a:rPr>
              <a:t>1 - Agua,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lang="pt-BR" altLang="pt-BR" sz="2000" dirty="0">
                <a:latin typeface="Arial" panose="020B0604020202020204" pitchFamily="34" charset="0"/>
              </a:rPr>
              <a:t>2- Batata Frita,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lang="pt-BR" altLang="pt-BR" sz="2000" dirty="0">
                <a:latin typeface="Arial" panose="020B0604020202020204" pitchFamily="34" charset="0"/>
              </a:rPr>
              <a:t>3- Hot-Dog,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lang="pt-BR" altLang="pt-BR" sz="2000" dirty="0">
                <a:latin typeface="Arial" panose="020B0604020202020204" pitchFamily="34" charset="0"/>
              </a:rPr>
              <a:t>4- Misto Quente,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lang="pt-BR" altLang="pt-BR" sz="2000" dirty="0">
                <a:latin typeface="Arial" panose="020B0604020202020204" pitchFamily="34" charset="0"/>
              </a:rPr>
              <a:t>5- Refrigerantes,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lang="pt-BR" altLang="pt-BR" sz="2000" dirty="0">
                <a:latin typeface="Arial" panose="020B0604020202020204" pitchFamily="34" charset="0"/>
              </a:rPr>
              <a:t>6- Suco,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lang="pt-BR" altLang="pt-BR" sz="2000" dirty="0">
                <a:latin typeface="Arial" panose="020B0604020202020204" pitchFamily="34" charset="0"/>
              </a:rPr>
              <a:t>7- X-</a:t>
            </a:r>
            <a:r>
              <a:rPr lang="pt-BR" altLang="pt-BR" sz="2000" dirty="0" err="1">
                <a:latin typeface="Arial" panose="020B0604020202020204" pitchFamily="34" charset="0"/>
              </a:rPr>
              <a:t>Burguer</a:t>
            </a:r>
            <a:r>
              <a:rPr lang="pt-BR" altLang="pt-BR" sz="2000" dirty="0">
                <a:latin typeface="Arial" panose="020B0604020202020204" pitchFamily="34" charset="0"/>
              </a:rPr>
              <a:t>,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lang="pt-BR" altLang="pt-BR" sz="2000" dirty="0">
                <a:latin typeface="Arial" panose="020B0604020202020204" pitchFamily="34" charset="0"/>
              </a:rPr>
              <a:t>8- X-Salada,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lang="pt-BR" altLang="pt-BR" sz="2000" dirty="0">
                <a:latin typeface="Arial" panose="020B0604020202020204" pitchFamily="34" charset="0"/>
              </a:rPr>
              <a:t>9- X-Bacon,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10- </a:t>
            </a: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Sunday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 lista de pedidos (que muda o tempo todo), a pessoa pode inserir o item que quiser.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altLang="pt-BR" sz="2000" dirty="0">
                <a:latin typeface="Arial" panose="020B0604020202020204" pitchFamily="34" charset="0"/>
              </a:rPr>
              <a:t>No final exibir o resultado do pedido escolhido</a:t>
            </a:r>
            <a:endParaRPr kumimoji="0" lang="pt-BR" altLang="pt-BR" sz="10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BR" sz="2000" dirty="0">
              <a:solidFill>
                <a:schemeClr val="tx1">
                  <a:lumMod val="95000"/>
                  <a:lumOff val="5000"/>
                </a:schemeClr>
              </a:solidFill>
              <a:latin typeface="Arial Nova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0996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BE0EE5-16C1-D191-6BFC-46E7B2F71F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o 2">
            <a:extLst>
              <a:ext uri="{FF2B5EF4-FFF2-40B4-BE49-F238E27FC236}">
                <a16:creationId xmlns:a16="http://schemas.microsoft.com/office/drawing/2014/main" id="{F430800E-6F01-5970-79AD-D99ADF014DB4}"/>
              </a:ext>
            </a:extLst>
          </p:cNvPr>
          <p:cNvGrpSpPr/>
          <p:nvPr/>
        </p:nvGrpSpPr>
        <p:grpSpPr>
          <a:xfrm>
            <a:off x="0" y="0"/>
            <a:ext cx="12192000" cy="6870358"/>
            <a:chOff x="0" y="0"/>
            <a:chExt cx="12192000" cy="6870358"/>
          </a:xfrm>
        </p:grpSpPr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1D5505C7-E82B-83D3-01AB-3F76B4B8F7B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70358"/>
            </a:xfrm>
            <a:prstGeom prst="rect">
              <a:avLst/>
            </a:prstGeom>
          </p:spPr>
        </p:pic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8249F843-F8A2-B255-43AC-4B9F1A56C3F3}"/>
                </a:ext>
              </a:extLst>
            </p:cNvPr>
            <p:cNvSpPr/>
            <p:nvPr/>
          </p:nvSpPr>
          <p:spPr>
            <a:xfrm>
              <a:off x="9995561" y="5567881"/>
              <a:ext cx="1909746" cy="40740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6" name="Imagem 5">
            <a:extLst>
              <a:ext uri="{FF2B5EF4-FFF2-40B4-BE49-F238E27FC236}">
                <a16:creationId xmlns:a16="http://schemas.microsoft.com/office/drawing/2014/main" id="{3EE48FE8-C2F9-2292-8CB9-8A578D1E3FF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38508"/>
          <a:stretch/>
        </p:blipFill>
        <p:spPr>
          <a:xfrm>
            <a:off x="9995561" y="206091"/>
            <a:ext cx="1812506" cy="46314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54524605-BED8-9EC6-D896-664861DC675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371" y="46454"/>
            <a:ext cx="938710" cy="600273"/>
          </a:xfrm>
          <a:prstGeom prst="rect">
            <a:avLst/>
          </a:prstGeom>
        </p:spPr>
      </p:pic>
      <p:sp>
        <p:nvSpPr>
          <p:cNvPr id="15" name="Título 14">
            <a:extLst>
              <a:ext uri="{FF2B5EF4-FFF2-40B4-BE49-F238E27FC236}">
                <a16:creationId xmlns:a16="http://schemas.microsoft.com/office/drawing/2014/main" id="{934822CA-FBD3-C07D-7941-07CAAF97F3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98006"/>
            <a:ext cx="8216537" cy="669236"/>
          </a:xfrm>
        </p:spPr>
        <p:txBody>
          <a:bodyPr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3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LAÇOS FOR e WHILE</a:t>
            </a:r>
            <a:endParaRPr lang="pt-BR" sz="5400" b="1" dirty="0"/>
          </a:p>
        </p:txBody>
      </p:sp>
      <p:sp>
        <p:nvSpPr>
          <p:cNvPr id="14" name="Espaço Reservado para Conteúdo 13">
            <a:extLst>
              <a:ext uri="{FF2B5EF4-FFF2-40B4-BE49-F238E27FC236}">
                <a16:creationId xmlns:a16="http://schemas.microsoft.com/office/drawing/2014/main" id="{14536DBE-BB6C-D8B0-D165-B1CAC72DF2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371" y="875327"/>
            <a:ext cx="11387936" cy="52154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dirty="0"/>
              <a:t>Em Python, um "laço" ou "loop" é uma estrutura de controle que permite repetir um bloco de código várias vezes. Existem dois tipos principais de laços em Python: for e </a:t>
            </a:r>
            <a:r>
              <a:rPr lang="pt-BR" dirty="0" err="1"/>
              <a:t>while</a:t>
            </a:r>
            <a:r>
              <a:rPr lang="pt-BR" dirty="0"/>
              <a:t>. </a:t>
            </a:r>
          </a:p>
          <a:p>
            <a:pPr marL="0" indent="0">
              <a:buNone/>
            </a:pPr>
            <a:r>
              <a:rPr lang="pt-BR" dirty="0"/>
              <a:t>O laço </a:t>
            </a:r>
            <a:r>
              <a:rPr lang="pt-BR" b="1" dirty="0"/>
              <a:t>FOR</a:t>
            </a:r>
            <a:r>
              <a:rPr lang="pt-BR" dirty="0"/>
              <a:t> é usado para iterar sobre uma sequência (como uma lista, </a:t>
            </a:r>
            <a:r>
              <a:rPr lang="pt-BR" dirty="0" err="1"/>
              <a:t>tupla</a:t>
            </a:r>
            <a:r>
              <a:rPr lang="pt-BR" dirty="0"/>
              <a:t>, dicionário ou </a:t>
            </a:r>
            <a:r>
              <a:rPr lang="pt-BR" dirty="0" err="1"/>
              <a:t>string</a:t>
            </a:r>
            <a:r>
              <a:rPr lang="pt-BR" dirty="0"/>
              <a:t>) ou sobre um objeto iterável. </a:t>
            </a:r>
          </a:p>
          <a:p>
            <a:pPr marL="0" indent="0">
              <a:buNone/>
            </a:pPr>
            <a:r>
              <a:rPr lang="pt-BR" dirty="0"/>
              <a:t>O laço </a:t>
            </a:r>
            <a:r>
              <a:rPr lang="pt-BR" b="1" dirty="0"/>
              <a:t>WHILE</a:t>
            </a:r>
            <a:r>
              <a:rPr lang="pt-BR" dirty="0"/>
              <a:t> é usado quando se deseja repetir um bloco de código enquanto uma condição específica for verdadeira. 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pt-BR" sz="2000" dirty="0">
              <a:solidFill>
                <a:schemeClr val="tx1">
                  <a:lumMod val="95000"/>
                  <a:lumOff val="5000"/>
                </a:schemeClr>
              </a:solidFill>
              <a:latin typeface="Arial Nova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06214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BE0EE5-16C1-D191-6BFC-46E7B2F71F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o 2">
            <a:extLst>
              <a:ext uri="{FF2B5EF4-FFF2-40B4-BE49-F238E27FC236}">
                <a16:creationId xmlns:a16="http://schemas.microsoft.com/office/drawing/2014/main" id="{F430800E-6F01-5970-79AD-D99ADF014DB4}"/>
              </a:ext>
            </a:extLst>
          </p:cNvPr>
          <p:cNvGrpSpPr/>
          <p:nvPr/>
        </p:nvGrpSpPr>
        <p:grpSpPr>
          <a:xfrm>
            <a:off x="0" y="0"/>
            <a:ext cx="12192000" cy="6870358"/>
            <a:chOff x="0" y="0"/>
            <a:chExt cx="12192000" cy="6870358"/>
          </a:xfrm>
        </p:grpSpPr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1D5505C7-E82B-83D3-01AB-3F76B4B8F7B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70358"/>
            </a:xfrm>
            <a:prstGeom prst="rect">
              <a:avLst/>
            </a:prstGeom>
          </p:spPr>
        </p:pic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8249F843-F8A2-B255-43AC-4B9F1A56C3F3}"/>
                </a:ext>
              </a:extLst>
            </p:cNvPr>
            <p:cNvSpPr/>
            <p:nvPr/>
          </p:nvSpPr>
          <p:spPr>
            <a:xfrm>
              <a:off x="9995561" y="5567881"/>
              <a:ext cx="1909746" cy="40740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6" name="Imagem 5">
            <a:extLst>
              <a:ext uri="{FF2B5EF4-FFF2-40B4-BE49-F238E27FC236}">
                <a16:creationId xmlns:a16="http://schemas.microsoft.com/office/drawing/2014/main" id="{3EE48FE8-C2F9-2292-8CB9-8A578D1E3FF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38508"/>
          <a:stretch/>
        </p:blipFill>
        <p:spPr>
          <a:xfrm>
            <a:off x="9995561" y="206091"/>
            <a:ext cx="1812506" cy="46314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54524605-BED8-9EC6-D896-664861DC675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371" y="46454"/>
            <a:ext cx="938710" cy="600273"/>
          </a:xfrm>
          <a:prstGeom prst="rect">
            <a:avLst/>
          </a:prstGeom>
        </p:spPr>
      </p:pic>
      <p:sp>
        <p:nvSpPr>
          <p:cNvPr id="15" name="Título 14">
            <a:extLst>
              <a:ext uri="{FF2B5EF4-FFF2-40B4-BE49-F238E27FC236}">
                <a16:creationId xmlns:a16="http://schemas.microsoft.com/office/drawing/2014/main" id="{934822CA-FBD3-C07D-7941-07CAAF97F3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98006"/>
            <a:ext cx="8216537" cy="669236"/>
          </a:xfrm>
        </p:spPr>
        <p:txBody>
          <a:bodyPr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3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LAÇOS FOR e WHILE</a:t>
            </a:r>
            <a:endParaRPr lang="pt-BR" sz="5400" b="1" dirty="0"/>
          </a:p>
        </p:txBody>
      </p:sp>
      <p:sp>
        <p:nvSpPr>
          <p:cNvPr id="14" name="Espaço Reservado para Conteúdo 13">
            <a:extLst>
              <a:ext uri="{FF2B5EF4-FFF2-40B4-BE49-F238E27FC236}">
                <a16:creationId xmlns:a16="http://schemas.microsoft.com/office/drawing/2014/main" id="{14536DBE-BB6C-D8B0-D165-B1CAC72DF2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371" y="875327"/>
            <a:ext cx="11387936" cy="52154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dirty="0"/>
              <a:t>Laço for:</a:t>
            </a:r>
          </a:p>
          <a:p>
            <a:pPr marL="0" indent="0">
              <a:buNone/>
            </a:pPr>
            <a:r>
              <a:rPr lang="pt-BR" sz="1800" dirty="0"/>
              <a:t>O laço for é usado para iterar sobre uma sequência de elementos. </a:t>
            </a:r>
          </a:p>
          <a:p>
            <a:pPr marL="0" indent="0">
              <a:buNone/>
            </a:pPr>
            <a:r>
              <a:rPr lang="pt-BR" sz="1800" dirty="0"/>
              <a:t>A estrutura básica é: </a:t>
            </a:r>
          </a:p>
          <a:p>
            <a:pPr marL="0" indent="0">
              <a:buNone/>
            </a:pPr>
            <a:r>
              <a:rPr lang="pt-BR" sz="1800" dirty="0"/>
              <a:t>for item in sequencia:		# código a ser executado para cada item</a:t>
            </a:r>
          </a:p>
          <a:p>
            <a:pPr marL="0" indent="0">
              <a:buNone/>
            </a:pPr>
            <a:r>
              <a:rPr lang="pt-BR" sz="1800" dirty="0"/>
              <a:t># Exibir os números de 1 a 5</a:t>
            </a:r>
          </a:p>
          <a:p>
            <a:pPr marL="0" indent="0">
              <a:buNone/>
            </a:pPr>
            <a:r>
              <a:rPr lang="pt-BR" sz="1800" dirty="0"/>
              <a:t>for numero in range(1, 6):</a:t>
            </a:r>
          </a:p>
          <a:p>
            <a:pPr marL="0" indent="0">
              <a:buNone/>
            </a:pPr>
            <a:r>
              <a:rPr lang="pt-BR" sz="1800" dirty="0"/>
              <a:t>    print(numero)</a:t>
            </a:r>
            <a:endParaRPr lang="pt-BR" sz="1800" dirty="0">
              <a:solidFill>
                <a:schemeClr val="tx1">
                  <a:lumMod val="95000"/>
                  <a:lumOff val="5000"/>
                </a:schemeClr>
              </a:solidFill>
              <a:latin typeface="Arial Nova" panose="020F050202020403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sz="1800" dirty="0"/>
              <a:t>Este código irá imprimir cada número do intervalo de 1 até o 5. 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pt-BR" sz="2000" dirty="0">
              <a:solidFill>
                <a:schemeClr val="tx1">
                  <a:lumMod val="95000"/>
                  <a:lumOff val="5000"/>
                </a:schemeClr>
              </a:solidFill>
              <a:latin typeface="Arial Nova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68821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BE0EE5-16C1-D191-6BFC-46E7B2F71F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o 2">
            <a:extLst>
              <a:ext uri="{FF2B5EF4-FFF2-40B4-BE49-F238E27FC236}">
                <a16:creationId xmlns:a16="http://schemas.microsoft.com/office/drawing/2014/main" id="{F430800E-6F01-5970-79AD-D99ADF014DB4}"/>
              </a:ext>
            </a:extLst>
          </p:cNvPr>
          <p:cNvGrpSpPr/>
          <p:nvPr/>
        </p:nvGrpSpPr>
        <p:grpSpPr>
          <a:xfrm>
            <a:off x="0" y="0"/>
            <a:ext cx="12192000" cy="6870358"/>
            <a:chOff x="0" y="0"/>
            <a:chExt cx="12192000" cy="6870358"/>
          </a:xfrm>
        </p:grpSpPr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1D5505C7-E82B-83D3-01AB-3F76B4B8F7B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70358"/>
            </a:xfrm>
            <a:prstGeom prst="rect">
              <a:avLst/>
            </a:prstGeom>
          </p:spPr>
        </p:pic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8249F843-F8A2-B255-43AC-4B9F1A56C3F3}"/>
                </a:ext>
              </a:extLst>
            </p:cNvPr>
            <p:cNvSpPr/>
            <p:nvPr/>
          </p:nvSpPr>
          <p:spPr>
            <a:xfrm>
              <a:off x="9995561" y="5567881"/>
              <a:ext cx="1909746" cy="40740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6" name="Imagem 5">
            <a:extLst>
              <a:ext uri="{FF2B5EF4-FFF2-40B4-BE49-F238E27FC236}">
                <a16:creationId xmlns:a16="http://schemas.microsoft.com/office/drawing/2014/main" id="{3EE48FE8-C2F9-2292-8CB9-8A578D1E3FF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38508"/>
          <a:stretch/>
        </p:blipFill>
        <p:spPr>
          <a:xfrm>
            <a:off x="9995561" y="206091"/>
            <a:ext cx="1812506" cy="46314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54524605-BED8-9EC6-D896-664861DC675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371" y="46454"/>
            <a:ext cx="938710" cy="600273"/>
          </a:xfrm>
          <a:prstGeom prst="rect">
            <a:avLst/>
          </a:prstGeom>
        </p:spPr>
      </p:pic>
      <p:sp>
        <p:nvSpPr>
          <p:cNvPr id="15" name="Título 14">
            <a:extLst>
              <a:ext uri="{FF2B5EF4-FFF2-40B4-BE49-F238E27FC236}">
                <a16:creationId xmlns:a16="http://schemas.microsoft.com/office/drawing/2014/main" id="{934822CA-FBD3-C07D-7941-07CAAF97F3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98006"/>
            <a:ext cx="8216537" cy="669236"/>
          </a:xfrm>
        </p:spPr>
        <p:txBody>
          <a:bodyPr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3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LAÇOS FOR e WHILE</a:t>
            </a:r>
            <a:endParaRPr lang="pt-BR" sz="5400" b="1" dirty="0"/>
          </a:p>
        </p:txBody>
      </p:sp>
      <p:sp>
        <p:nvSpPr>
          <p:cNvPr id="14" name="Espaço Reservado para Conteúdo 13">
            <a:extLst>
              <a:ext uri="{FF2B5EF4-FFF2-40B4-BE49-F238E27FC236}">
                <a16:creationId xmlns:a16="http://schemas.microsoft.com/office/drawing/2014/main" id="{14536DBE-BB6C-D8B0-D165-B1CAC72DF2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371" y="875327"/>
            <a:ext cx="11387936" cy="52154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dirty="0"/>
              <a:t>Laço </a:t>
            </a:r>
            <a:r>
              <a:rPr lang="pt-BR" dirty="0" err="1"/>
              <a:t>while</a:t>
            </a:r>
            <a:r>
              <a:rPr lang="pt-BR" dirty="0"/>
              <a:t>:</a:t>
            </a:r>
          </a:p>
          <a:p>
            <a:pPr marL="0" indent="0">
              <a:buNone/>
            </a:pPr>
            <a:r>
              <a:rPr lang="pt-BR" sz="1800" dirty="0"/>
              <a:t>O laço </a:t>
            </a:r>
            <a:r>
              <a:rPr lang="pt-BR" sz="1800" dirty="0" err="1"/>
              <a:t>while</a:t>
            </a:r>
            <a:r>
              <a:rPr lang="pt-BR" sz="1800" dirty="0"/>
              <a:t> é usado para repetir um bloco de código enquanto uma condição for verdadeira. </a:t>
            </a:r>
          </a:p>
          <a:p>
            <a:pPr marL="0" indent="0">
              <a:buNone/>
            </a:pPr>
            <a:r>
              <a:rPr lang="pt-BR" sz="1800" dirty="0"/>
              <a:t>A estrutura básica é: </a:t>
            </a:r>
          </a:p>
          <a:p>
            <a:pPr marL="0" indent="0">
              <a:buNone/>
            </a:pPr>
            <a:r>
              <a:rPr lang="pt-BR" sz="1800" dirty="0" err="1"/>
              <a:t>while</a:t>
            </a:r>
            <a:r>
              <a:rPr lang="pt-BR" sz="1800" dirty="0"/>
              <a:t> </a:t>
            </a:r>
            <a:r>
              <a:rPr lang="pt-BR" sz="1800" dirty="0" err="1"/>
              <a:t>condicao</a:t>
            </a:r>
            <a:r>
              <a:rPr lang="pt-BR" sz="1800" dirty="0"/>
              <a:t>:	# código a ser executado enquanto a condição for verdadeira</a:t>
            </a:r>
          </a:p>
          <a:p>
            <a:pPr marL="0" indent="0">
              <a:buNone/>
            </a:pPr>
            <a:r>
              <a:rPr lang="pt-BR" sz="1800" dirty="0"/>
              <a:t>Exemplo:</a:t>
            </a:r>
          </a:p>
          <a:p>
            <a:pPr marL="0" indent="0">
              <a:buNone/>
            </a:pPr>
            <a:r>
              <a:rPr lang="pt-BR" sz="1800" dirty="0"/>
              <a:t>contador = 0</a:t>
            </a:r>
            <a:br>
              <a:rPr lang="pt-BR" sz="1800" dirty="0"/>
            </a:br>
            <a:r>
              <a:rPr lang="pt-BR" sz="1800" dirty="0" err="1"/>
              <a:t>while</a:t>
            </a:r>
            <a:r>
              <a:rPr lang="pt-BR" sz="1800" dirty="0"/>
              <a:t> contador &lt; 5:</a:t>
            </a:r>
            <a:br>
              <a:rPr lang="pt-BR" sz="1800" dirty="0"/>
            </a:br>
            <a:r>
              <a:rPr lang="pt-BR" sz="1800" dirty="0"/>
              <a:t>    print(contador)</a:t>
            </a:r>
            <a:br>
              <a:rPr lang="pt-BR" sz="1800" dirty="0"/>
            </a:br>
            <a:r>
              <a:rPr lang="pt-BR" sz="1800" dirty="0"/>
              <a:t>    contador += 1</a:t>
            </a:r>
          </a:p>
          <a:p>
            <a:pPr marL="0" indent="0">
              <a:buNone/>
            </a:pPr>
            <a:r>
              <a:rPr lang="pt-BR" sz="1800" dirty="0"/>
              <a:t>Este código irá imprimir os números de 0 a 4. 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pt-BR" sz="2000" dirty="0">
              <a:solidFill>
                <a:schemeClr val="tx1">
                  <a:lumMod val="95000"/>
                  <a:lumOff val="5000"/>
                </a:schemeClr>
              </a:solidFill>
              <a:latin typeface="Arial Nova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66874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BE0EE5-16C1-D191-6BFC-46E7B2F71F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o 2">
            <a:extLst>
              <a:ext uri="{FF2B5EF4-FFF2-40B4-BE49-F238E27FC236}">
                <a16:creationId xmlns:a16="http://schemas.microsoft.com/office/drawing/2014/main" id="{F430800E-6F01-5970-79AD-D99ADF014DB4}"/>
              </a:ext>
            </a:extLst>
          </p:cNvPr>
          <p:cNvGrpSpPr/>
          <p:nvPr/>
        </p:nvGrpSpPr>
        <p:grpSpPr>
          <a:xfrm>
            <a:off x="0" y="0"/>
            <a:ext cx="12192000" cy="6870358"/>
            <a:chOff x="0" y="0"/>
            <a:chExt cx="12192000" cy="6870358"/>
          </a:xfrm>
        </p:grpSpPr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1D5505C7-E82B-83D3-01AB-3F76B4B8F7B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70358"/>
            </a:xfrm>
            <a:prstGeom prst="rect">
              <a:avLst/>
            </a:prstGeom>
          </p:spPr>
        </p:pic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8249F843-F8A2-B255-43AC-4B9F1A56C3F3}"/>
                </a:ext>
              </a:extLst>
            </p:cNvPr>
            <p:cNvSpPr/>
            <p:nvPr/>
          </p:nvSpPr>
          <p:spPr>
            <a:xfrm>
              <a:off x="9995561" y="5567881"/>
              <a:ext cx="1909746" cy="40740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6" name="Imagem 5">
            <a:extLst>
              <a:ext uri="{FF2B5EF4-FFF2-40B4-BE49-F238E27FC236}">
                <a16:creationId xmlns:a16="http://schemas.microsoft.com/office/drawing/2014/main" id="{3EE48FE8-C2F9-2292-8CB9-8A578D1E3FF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38508"/>
          <a:stretch/>
        </p:blipFill>
        <p:spPr>
          <a:xfrm>
            <a:off x="9995561" y="206091"/>
            <a:ext cx="1812506" cy="46314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54524605-BED8-9EC6-D896-664861DC675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371" y="46454"/>
            <a:ext cx="938710" cy="600273"/>
          </a:xfrm>
          <a:prstGeom prst="rect">
            <a:avLst/>
          </a:prstGeom>
        </p:spPr>
      </p:pic>
      <p:sp>
        <p:nvSpPr>
          <p:cNvPr id="15" name="Título 14">
            <a:extLst>
              <a:ext uri="{FF2B5EF4-FFF2-40B4-BE49-F238E27FC236}">
                <a16:creationId xmlns:a16="http://schemas.microsoft.com/office/drawing/2014/main" id="{934822CA-FBD3-C07D-7941-07CAAF97F3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98006"/>
            <a:ext cx="8216537" cy="669236"/>
          </a:xfrm>
        </p:spPr>
        <p:txBody>
          <a:bodyPr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3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LAÇOS FOR e WHILE</a:t>
            </a:r>
            <a:endParaRPr lang="pt-BR" sz="5400" b="1" dirty="0"/>
          </a:p>
        </p:txBody>
      </p:sp>
      <p:sp>
        <p:nvSpPr>
          <p:cNvPr id="14" name="Espaço Reservado para Conteúdo 13">
            <a:extLst>
              <a:ext uri="{FF2B5EF4-FFF2-40B4-BE49-F238E27FC236}">
                <a16:creationId xmlns:a16="http://schemas.microsoft.com/office/drawing/2014/main" id="{14536DBE-BB6C-D8B0-D165-B1CAC72DF2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371" y="875327"/>
            <a:ext cx="11387936" cy="5215431"/>
          </a:xfrm>
        </p:spPr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altLang="pt-BR" sz="36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Laço </a:t>
            </a:r>
            <a:r>
              <a:rPr lang="pt-BR" altLang="pt-BR" b="1" dirty="0">
                <a:latin typeface="Arial Unicode MS" panose="020B0604020202020204" pitchFamily="34" charset="-128"/>
                <a:ea typeface="Calibri" panose="020F0502020204030204" pitchFamily="34" charset="0"/>
                <a:cs typeface="Courier New" panose="02070309020205020404" pitchFamily="49" charset="0"/>
              </a:rPr>
              <a:t>for</a:t>
            </a:r>
            <a:r>
              <a:rPr lang="pt-BR" altLang="pt-BR" sz="36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com lista</a:t>
            </a:r>
            <a:endParaRPr lang="pt-BR" altLang="pt-BR" b="1" dirty="0">
              <a:latin typeface="Arial Unicode MS" panose="020B0604020202020204" pitchFamily="34" charset="-128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altLang="pt-BR" sz="1800" dirty="0"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# Exemplo 1: Mostrar todos os itens de uma lista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altLang="pt-BR" sz="1800" dirty="0"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frutas = ["maçã", "banana", "uva"]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altLang="pt-BR" sz="1800" dirty="0"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for fruta in frutas:   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altLang="pt-BR" sz="1800" dirty="0"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	print(fruta)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pt-BR" altLang="pt-BR" sz="1800" dirty="0">
              <a:latin typeface="Arial Unicode MS" panose="020B0604020202020204" pitchFamily="34" charset="-128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altLang="pt-BR" sz="1800" dirty="0"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# Exemplo 2: Mostrar números e seu dobro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altLang="pt-BR" sz="1800" dirty="0" err="1"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numeros</a:t>
            </a:r>
            <a:r>
              <a:rPr lang="pt-BR" altLang="pt-BR" sz="1800" dirty="0"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 = [1, 2, 3, 4]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altLang="pt-BR" sz="1800" dirty="0"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for num in </a:t>
            </a:r>
            <a:r>
              <a:rPr lang="pt-BR" altLang="pt-BR" sz="1800" dirty="0" err="1"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numeros</a:t>
            </a:r>
            <a:r>
              <a:rPr lang="pt-BR" altLang="pt-BR" sz="1800" dirty="0"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:   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altLang="pt-BR" sz="1800" dirty="0"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	print(f"{num} x 2 = {num * 2}")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pt-BR" altLang="pt-BR" sz="1800" dirty="0">
              <a:latin typeface="Arial Unicode MS" panose="020B0604020202020204" pitchFamily="34" charset="-128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altLang="pt-BR" sz="1800" dirty="0"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# Exemplo 3: Somar todos os números de uma lista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altLang="pt-BR" sz="1800" dirty="0"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valores = [5, 8, 2, 10]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altLang="pt-BR" sz="1800" dirty="0"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soma = 0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altLang="pt-BR" sz="1800" dirty="0"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for v in valores:   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altLang="pt-BR" sz="1800" dirty="0"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	soma += </a:t>
            </a:r>
            <a:r>
              <a:rPr lang="pt-BR" altLang="pt-BR" sz="1800" dirty="0" err="1"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vprint</a:t>
            </a:r>
            <a:r>
              <a:rPr lang="pt-BR" altLang="pt-BR" sz="1800" dirty="0"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lang="pt-BR" altLang="pt-BR" sz="1800" dirty="0" err="1"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f"Soma</a:t>
            </a:r>
            <a:r>
              <a:rPr lang="pt-BR" altLang="pt-BR" sz="1800" dirty="0"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 total: {soma}")</a:t>
            </a:r>
            <a:r>
              <a:rPr lang="pt-BR" altLang="pt-BR" sz="1800" dirty="0"/>
              <a:t> </a:t>
            </a:r>
            <a:endParaRPr lang="pt-BR" altLang="pt-BR" sz="1800" dirty="0"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pt-BR" sz="2000" dirty="0">
              <a:solidFill>
                <a:schemeClr val="tx1">
                  <a:lumMod val="95000"/>
                  <a:lumOff val="5000"/>
                </a:schemeClr>
              </a:solidFill>
              <a:latin typeface="Arial Nova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08593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BE0EE5-16C1-D191-6BFC-46E7B2F71F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o 2">
            <a:extLst>
              <a:ext uri="{FF2B5EF4-FFF2-40B4-BE49-F238E27FC236}">
                <a16:creationId xmlns:a16="http://schemas.microsoft.com/office/drawing/2014/main" id="{F430800E-6F01-5970-79AD-D99ADF014DB4}"/>
              </a:ext>
            </a:extLst>
          </p:cNvPr>
          <p:cNvGrpSpPr/>
          <p:nvPr/>
        </p:nvGrpSpPr>
        <p:grpSpPr>
          <a:xfrm>
            <a:off x="0" y="0"/>
            <a:ext cx="12192000" cy="6870358"/>
            <a:chOff x="0" y="0"/>
            <a:chExt cx="12192000" cy="6870358"/>
          </a:xfrm>
        </p:grpSpPr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1D5505C7-E82B-83D3-01AB-3F76B4B8F7B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70358"/>
            </a:xfrm>
            <a:prstGeom prst="rect">
              <a:avLst/>
            </a:prstGeom>
          </p:spPr>
        </p:pic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8249F843-F8A2-B255-43AC-4B9F1A56C3F3}"/>
                </a:ext>
              </a:extLst>
            </p:cNvPr>
            <p:cNvSpPr/>
            <p:nvPr/>
          </p:nvSpPr>
          <p:spPr>
            <a:xfrm>
              <a:off x="9995561" y="5567881"/>
              <a:ext cx="1909746" cy="40740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6" name="Imagem 5">
            <a:extLst>
              <a:ext uri="{FF2B5EF4-FFF2-40B4-BE49-F238E27FC236}">
                <a16:creationId xmlns:a16="http://schemas.microsoft.com/office/drawing/2014/main" id="{3EE48FE8-C2F9-2292-8CB9-8A578D1E3FF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38508"/>
          <a:stretch/>
        </p:blipFill>
        <p:spPr>
          <a:xfrm>
            <a:off x="9995561" y="206091"/>
            <a:ext cx="1812506" cy="46314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54524605-BED8-9EC6-D896-664861DC675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371" y="46454"/>
            <a:ext cx="938710" cy="600273"/>
          </a:xfrm>
          <a:prstGeom prst="rect">
            <a:avLst/>
          </a:prstGeom>
        </p:spPr>
      </p:pic>
      <p:sp>
        <p:nvSpPr>
          <p:cNvPr id="15" name="Título 14">
            <a:extLst>
              <a:ext uri="{FF2B5EF4-FFF2-40B4-BE49-F238E27FC236}">
                <a16:creationId xmlns:a16="http://schemas.microsoft.com/office/drawing/2014/main" id="{934822CA-FBD3-C07D-7941-07CAAF97F3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98006"/>
            <a:ext cx="8216537" cy="669236"/>
          </a:xfrm>
        </p:spPr>
        <p:txBody>
          <a:bodyPr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3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LAÇOS FOR e WHILE</a:t>
            </a:r>
            <a:endParaRPr lang="pt-BR" sz="5400" b="1" dirty="0"/>
          </a:p>
        </p:txBody>
      </p:sp>
      <p:sp>
        <p:nvSpPr>
          <p:cNvPr id="14" name="Espaço Reservado para Conteúdo 13">
            <a:extLst>
              <a:ext uri="{FF2B5EF4-FFF2-40B4-BE49-F238E27FC236}">
                <a16:creationId xmlns:a16="http://schemas.microsoft.com/office/drawing/2014/main" id="{14536DBE-BB6C-D8B0-D165-B1CAC72DF2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371" y="875327"/>
            <a:ext cx="11387936" cy="5215431"/>
          </a:xfrm>
        </p:spPr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altLang="pt-BR" sz="36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Laço </a:t>
            </a:r>
            <a:r>
              <a:rPr lang="pt-BR" altLang="pt-BR" b="1" dirty="0" err="1">
                <a:latin typeface="Arial Unicode MS" panose="020B0604020202020204" pitchFamily="34" charset="-128"/>
                <a:ea typeface="Calibri" panose="020F0502020204030204" pitchFamily="34" charset="0"/>
                <a:cs typeface="Courier New" panose="02070309020205020404" pitchFamily="49" charset="0"/>
              </a:rPr>
              <a:t>while</a:t>
            </a:r>
            <a:r>
              <a:rPr lang="pt-BR" altLang="pt-BR" sz="36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com lista</a:t>
            </a:r>
            <a:endParaRPr lang="pt-BR" altLang="pt-BR" b="1" dirty="0">
              <a:latin typeface="Arial Unicode MS" panose="020B0604020202020204" pitchFamily="34" charset="-128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altLang="pt-BR" sz="1800" dirty="0"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# Exemplo 1: Mostrar itens de uma lista usando índice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altLang="pt-BR" sz="1800" dirty="0"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animais = ["cachorro", "gato", "papagaio"]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altLang="pt-BR" sz="1800" dirty="0"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i = 0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altLang="pt-BR" sz="1800" dirty="0" err="1"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while</a:t>
            </a:r>
            <a:r>
              <a:rPr lang="pt-BR" altLang="pt-BR" sz="1800" dirty="0"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 i &lt; </a:t>
            </a:r>
            <a:r>
              <a:rPr lang="pt-BR" altLang="pt-BR" sz="1800" dirty="0" err="1"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len</a:t>
            </a:r>
            <a:r>
              <a:rPr lang="pt-BR" altLang="pt-BR" sz="1800" dirty="0"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(animais):   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altLang="pt-BR" sz="1800" dirty="0"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	print(animais[i])   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altLang="pt-BR" sz="1800" dirty="0"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	i += 1</a:t>
            </a:r>
            <a:r>
              <a:rPr lang="pt-BR" altLang="pt-BR" sz="1800" dirty="0"/>
              <a:t> </a:t>
            </a:r>
            <a:endParaRPr lang="pt-BR" altLang="pt-BR" sz="18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pt-BR" altLang="pt-BR" sz="1800" dirty="0">
              <a:latin typeface="Arial Unicode MS" panose="020B0604020202020204" pitchFamily="34" charset="-128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altLang="pt-BR" sz="1800" dirty="0"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# Exemplo 2: Somar números da lista até encontrar um número negativo</a:t>
            </a:r>
            <a:r>
              <a:rPr lang="pt-BR" altLang="pt-BR" sz="1800" dirty="0"/>
              <a:t> </a:t>
            </a:r>
            <a:endParaRPr lang="pt-BR" altLang="pt-BR" sz="1800" dirty="0"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altLang="pt-BR" sz="1800" dirty="0" err="1"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numeros</a:t>
            </a:r>
            <a:r>
              <a:rPr lang="pt-BR" altLang="pt-BR" sz="1800" dirty="0"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 = [3, 7, 5, -1, 8]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altLang="pt-BR" sz="1800" dirty="0"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soma = 0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altLang="pt-BR" sz="1800" dirty="0"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i = 0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altLang="pt-BR" sz="1800" dirty="0" err="1"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while</a:t>
            </a:r>
            <a:r>
              <a:rPr lang="pt-BR" altLang="pt-BR" sz="1800" dirty="0"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 i &lt; </a:t>
            </a:r>
            <a:r>
              <a:rPr lang="pt-BR" altLang="pt-BR" sz="1800" dirty="0" err="1"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len</a:t>
            </a:r>
            <a:r>
              <a:rPr lang="pt-BR" altLang="pt-BR" sz="1800" dirty="0"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lang="pt-BR" altLang="pt-BR" sz="1800" dirty="0" err="1"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numeros</a:t>
            </a:r>
            <a:r>
              <a:rPr lang="pt-BR" altLang="pt-BR" sz="1800" dirty="0"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) </a:t>
            </a:r>
            <a:r>
              <a:rPr lang="pt-BR" altLang="pt-BR" sz="1800" dirty="0" err="1"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and</a:t>
            </a:r>
            <a:r>
              <a:rPr lang="pt-BR" altLang="pt-BR" sz="1800" dirty="0"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pt-BR" altLang="pt-BR" sz="1800" dirty="0" err="1"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numeros</a:t>
            </a:r>
            <a:r>
              <a:rPr lang="pt-BR" altLang="pt-BR" sz="1800" dirty="0"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[i] &gt;= 0:   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altLang="pt-BR" sz="1800" dirty="0"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	soma += </a:t>
            </a:r>
            <a:r>
              <a:rPr lang="pt-BR" altLang="pt-BR" sz="1800" dirty="0" err="1"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numeros</a:t>
            </a:r>
            <a:r>
              <a:rPr lang="pt-BR" altLang="pt-BR" sz="1800" dirty="0"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[i]   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altLang="pt-BR" sz="1800" dirty="0"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	i += 1print(</a:t>
            </a:r>
            <a:r>
              <a:rPr lang="pt-BR" altLang="pt-BR" sz="1800" dirty="0" err="1"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f"Soma</a:t>
            </a:r>
            <a:r>
              <a:rPr lang="pt-BR" altLang="pt-BR" sz="1800" dirty="0"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 antes do número negativo: {soma}")</a:t>
            </a:r>
            <a:r>
              <a:rPr lang="pt-BR" altLang="pt-BR" sz="1800" dirty="0"/>
              <a:t> </a:t>
            </a:r>
            <a:endParaRPr lang="pt-BR" altLang="pt-BR" sz="1800" dirty="0"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pt-BR" sz="2000" dirty="0">
              <a:solidFill>
                <a:schemeClr val="tx1">
                  <a:lumMod val="95000"/>
                  <a:lumOff val="5000"/>
                </a:schemeClr>
              </a:solidFill>
              <a:latin typeface="Arial Nova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23449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BE0EE5-16C1-D191-6BFC-46E7B2F71F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o 2">
            <a:extLst>
              <a:ext uri="{FF2B5EF4-FFF2-40B4-BE49-F238E27FC236}">
                <a16:creationId xmlns:a16="http://schemas.microsoft.com/office/drawing/2014/main" id="{F430800E-6F01-5970-79AD-D99ADF014DB4}"/>
              </a:ext>
            </a:extLst>
          </p:cNvPr>
          <p:cNvGrpSpPr/>
          <p:nvPr/>
        </p:nvGrpSpPr>
        <p:grpSpPr>
          <a:xfrm>
            <a:off x="0" y="0"/>
            <a:ext cx="12192000" cy="6870358"/>
            <a:chOff x="0" y="0"/>
            <a:chExt cx="12192000" cy="6870358"/>
          </a:xfrm>
        </p:grpSpPr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1D5505C7-E82B-83D3-01AB-3F76B4B8F7B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70358"/>
            </a:xfrm>
            <a:prstGeom prst="rect">
              <a:avLst/>
            </a:prstGeom>
          </p:spPr>
        </p:pic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8249F843-F8A2-B255-43AC-4B9F1A56C3F3}"/>
                </a:ext>
              </a:extLst>
            </p:cNvPr>
            <p:cNvSpPr/>
            <p:nvPr/>
          </p:nvSpPr>
          <p:spPr>
            <a:xfrm>
              <a:off x="9995561" y="5567881"/>
              <a:ext cx="1909746" cy="40740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6" name="Imagem 5">
            <a:extLst>
              <a:ext uri="{FF2B5EF4-FFF2-40B4-BE49-F238E27FC236}">
                <a16:creationId xmlns:a16="http://schemas.microsoft.com/office/drawing/2014/main" id="{3EE48FE8-C2F9-2292-8CB9-8A578D1E3FF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38508"/>
          <a:stretch/>
        </p:blipFill>
        <p:spPr>
          <a:xfrm>
            <a:off x="9995561" y="206091"/>
            <a:ext cx="1812506" cy="46314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54524605-BED8-9EC6-D896-664861DC675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371" y="46454"/>
            <a:ext cx="938710" cy="600273"/>
          </a:xfrm>
          <a:prstGeom prst="rect">
            <a:avLst/>
          </a:prstGeom>
        </p:spPr>
      </p:pic>
      <p:sp>
        <p:nvSpPr>
          <p:cNvPr id="15" name="Título 14">
            <a:extLst>
              <a:ext uri="{FF2B5EF4-FFF2-40B4-BE49-F238E27FC236}">
                <a16:creationId xmlns:a16="http://schemas.microsoft.com/office/drawing/2014/main" id="{934822CA-FBD3-C07D-7941-07CAAF97F3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98006"/>
            <a:ext cx="8216537" cy="669236"/>
          </a:xfrm>
        </p:spPr>
        <p:txBody>
          <a:bodyPr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3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LAÇOS FOR e WHILE</a:t>
            </a:r>
            <a:endParaRPr lang="pt-BR" sz="5400" b="1" dirty="0"/>
          </a:p>
        </p:txBody>
      </p:sp>
      <p:sp>
        <p:nvSpPr>
          <p:cNvPr id="14" name="Espaço Reservado para Conteúdo 13">
            <a:extLst>
              <a:ext uri="{FF2B5EF4-FFF2-40B4-BE49-F238E27FC236}">
                <a16:creationId xmlns:a16="http://schemas.microsoft.com/office/drawing/2014/main" id="{14536DBE-BB6C-D8B0-D165-B1CAC72DF2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371" y="875327"/>
            <a:ext cx="11387936" cy="5215431"/>
          </a:xfrm>
        </p:spPr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altLang="pt-BR" sz="36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Laço </a:t>
            </a:r>
            <a:r>
              <a:rPr lang="pt-BR" altLang="pt-BR" b="1" dirty="0" err="1">
                <a:latin typeface="Arial Unicode MS" panose="020B0604020202020204" pitchFamily="34" charset="-128"/>
                <a:ea typeface="Calibri" panose="020F0502020204030204" pitchFamily="34" charset="0"/>
                <a:cs typeface="Courier New" panose="02070309020205020404" pitchFamily="49" charset="0"/>
              </a:rPr>
              <a:t>while</a:t>
            </a:r>
            <a:r>
              <a:rPr lang="pt-BR" altLang="pt-BR" sz="36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com lista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pt-BR" altLang="pt-BR" b="1" dirty="0">
              <a:latin typeface="Arial Unicode MS" panose="020B0604020202020204" pitchFamily="34" charset="-128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altLang="pt-BR" sz="2000" dirty="0"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# Exemplo 3: Remover elementos de uma lista até ficar vazia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pt-BR" altLang="pt-BR" sz="2000" dirty="0">
              <a:latin typeface="Arial Unicode MS" panose="020B0604020202020204" pitchFamily="34" charset="-128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altLang="pt-BR" sz="2000" dirty="0"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compras = ["arroz", "feijão", "macarrão"]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pt-BR" altLang="pt-BR" sz="2000" dirty="0">
              <a:latin typeface="Arial Unicode MS" panose="020B0604020202020204" pitchFamily="34" charset="-128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altLang="pt-BR" sz="2000" dirty="0" err="1"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while</a:t>
            </a:r>
            <a:r>
              <a:rPr lang="pt-BR" altLang="pt-BR" sz="2000" dirty="0"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 compras:   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pt-BR" altLang="pt-BR" sz="2000" dirty="0">
              <a:latin typeface="Arial Unicode MS" panose="020B0604020202020204" pitchFamily="34" charset="-128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altLang="pt-BR" sz="2000" dirty="0"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	print(</a:t>
            </a:r>
            <a:r>
              <a:rPr lang="pt-BR" altLang="pt-BR" sz="2000" dirty="0" err="1"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f"Comprando</a:t>
            </a:r>
            <a:r>
              <a:rPr lang="pt-BR" altLang="pt-BR" sz="2000" dirty="0"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: {</a:t>
            </a:r>
            <a:r>
              <a:rPr lang="pt-BR" altLang="pt-BR" sz="2000" dirty="0" err="1"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compras.pop</a:t>
            </a:r>
            <a:r>
              <a:rPr lang="pt-BR" altLang="pt-BR" sz="2000" dirty="0"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(0)}")       # Remove o primeiro item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pt-BR" altLang="pt-BR" sz="2000" dirty="0">
              <a:latin typeface="Arial Unicode MS" panose="020B0604020202020204" pitchFamily="34" charset="-128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altLang="pt-BR" sz="2000" dirty="0"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print("Lista de compras vazia!")</a:t>
            </a:r>
            <a:r>
              <a:rPr lang="pt-BR" altLang="pt-BR" sz="1600" dirty="0"/>
              <a:t> </a:t>
            </a:r>
            <a:endParaRPr lang="pt-BR" altLang="pt-BR" sz="4400" dirty="0"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pt-BR" sz="2000" dirty="0">
              <a:solidFill>
                <a:schemeClr val="tx1">
                  <a:lumMod val="95000"/>
                  <a:lumOff val="5000"/>
                </a:schemeClr>
              </a:solidFill>
              <a:latin typeface="Arial Nova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20618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BE0EE5-16C1-D191-6BFC-46E7B2F71F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o 2">
            <a:extLst>
              <a:ext uri="{FF2B5EF4-FFF2-40B4-BE49-F238E27FC236}">
                <a16:creationId xmlns:a16="http://schemas.microsoft.com/office/drawing/2014/main" id="{F430800E-6F01-5970-79AD-D99ADF014DB4}"/>
              </a:ext>
            </a:extLst>
          </p:cNvPr>
          <p:cNvGrpSpPr/>
          <p:nvPr/>
        </p:nvGrpSpPr>
        <p:grpSpPr>
          <a:xfrm>
            <a:off x="0" y="0"/>
            <a:ext cx="12192000" cy="6870358"/>
            <a:chOff x="0" y="0"/>
            <a:chExt cx="12192000" cy="6870358"/>
          </a:xfrm>
        </p:grpSpPr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1D5505C7-E82B-83D3-01AB-3F76B4B8F7B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70358"/>
            </a:xfrm>
            <a:prstGeom prst="rect">
              <a:avLst/>
            </a:prstGeom>
          </p:spPr>
        </p:pic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8249F843-F8A2-B255-43AC-4B9F1A56C3F3}"/>
                </a:ext>
              </a:extLst>
            </p:cNvPr>
            <p:cNvSpPr/>
            <p:nvPr/>
          </p:nvSpPr>
          <p:spPr>
            <a:xfrm>
              <a:off x="9995561" y="5567881"/>
              <a:ext cx="1909746" cy="40740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6" name="Imagem 5">
            <a:extLst>
              <a:ext uri="{FF2B5EF4-FFF2-40B4-BE49-F238E27FC236}">
                <a16:creationId xmlns:a16="http://schemas.microsoft.com/office/drawing/2014/main" id="{3EE48FE8-C2F9-2292-8CB9-8A578D1E3FF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38508"/>
          <a:stretch/>
        </p:blipFill>
        <p:spPr>
          <a:xfrm>
            <a:off x="9995561" y="206091"/>
            <a:ext cx="1812506" cy="46314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54524605-BED8-9EC6-D896-664861DC675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371" y="46454"/>
            <a:ext cx="938710" cy="600273"/>
          </a:xfrm>
          <a:prstGeom prst="rect">
            <a:avLst/>
          </a:prstGeom>
        </p:spPr>
      </p:pic>
      <p:sp>
        <p:nvSpPr>
          <p:cNvPr id="15" name="Título 14">
            <a:extLst>
              <a:ext uri="{FF2B5EF4-FFF2-40B4-BE49-F238E27FC236}">
                <a16:creationId xmlns:a16="http://schemas.microsoft.com/office/drawing/2014/main" id="{934822CA-FBD3-C07D-7941-07CAAF97F3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98006"/>
            <a:ext cx="8216537" cy="669236"/>
          </a:xfrm>
        </p:spPr>
        <p:txBody>
          <a:bodyPr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3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LAÇOS FOR e WHILE</a:t>
            </a:r>
            <a:endParaRPr lang="pt-BR" sz="5400" b="1" dirty="0"/>
          </a:p>
        </p:txBody>
      </p:sp>
      <p:sp>
        <p:nvSpPr>
          <p:cNvPr id="14" name="Espaço Reservado para Conteúdo 13">
            <a:extLst>
              <a:ext uri="{FF2B5EF4-FFF2-40B4-BE49-F238E27FC236}">
                <a16:creationId xmlns:a16="http://schemas.microsoft.com/office/drawing/2014/main" id="{14536DBE-BB6C-D8B0-D165-B1CAC72DF2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371" y="875327"/>
            <a:ext cx="11387936" cy="5215431"/>
          </a:xfrm>
        </p:spPr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altLang="pt-BR" sz="3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Usando </a:t>
            </a:r>
            <a:r>
              <a:rPr lang="pt-BR" altLang="pt-BR" sz="2000" dirty="0">
                <a:latin typeface="Arial Unicode MS" panose="020B0604020202020204" pitchFamily="34" charset="-128"/>
                <a:ea typeface="Calibri" panose="020F0502020204030204" pitchFamily="34" charset="0"/>
                <a:cs typeface="Courier New" panose="02070309020205020404" pitchFamily="49" charset="0"/>
              </a:rPr>
              <a:t>continue</a:t>
            </a:r>
            <a:endParaRPr lang="pt-BR" altLang="pt-BR" sz="3200" dirty="0">
              <a:ea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altLang="pt-BR" sz="1800" dirty="0">
                <a:latin typeface="Arial" panose="020B0604020202020204" pitchFamily="34" charset="0"/>
                <a:ea typeface="Times New Roman" panose="02020603050405020304" pitchFamily="18" charset="0"/>
              </a:rPr>
              <a:t>O </a:t>
            </a:r>
            <a:r>
              <a:rPr lang="pt-BR" altLang="pt-BR" sz="1800" dirty="0"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continue</a:t>
            </a:r>
            <a:r>
              <a:rPr lang="pt-BR" altLang="pt-BR" sz="1800" dirty="0">
                <a:ea typeface="Times New Roman" panose="02020603050405020304" pitchFamily="18" charset="0"/>
              </a:rPr>
              <a:t> </a:t>
            </a:r>
            <a:r>
              <a:rPr lang="pt-BR" altLang="pt-BR" sz="1800" b="1" dirty="0">
                <a:latin typeface="Arial" panose="020B0604020202020204" pitchFamily="34" charset="0"/>
                <a:ea typeface="Times New Roman" panose="02020603050405020304" pitchFamily="18" charset="0"/>
              </a:rPr>
              <a:t>pula para a próxima repetição</a:t>
            </a:r>
            <a:r>
              <a:rPr lang="pt-BR" altLang="pt-BR" sz="1800" dirty="0">
                <a:latin typeface="Arial" panose="020B0604020202020204" pitchFamily="34" charset="0"/>
                <a:ea typeface="Times New Roman" panose="02020603050405020304" pitchFamily="18" charset="0"/>
              </a:rPr>
              <a:t> do laço, sem executar o restante do código naquela iteração.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pt-BR" altLang="pt-BR" sz="1800" dirty="0">
              <a:latin typeface="Arial Unicode MS" panose="020B0604020202020204" pitchFamily="34" charset="-128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altLang="pt-BR" sz="1800" dirty="0"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# Exemplo 1: Mostrar apenas números pares de uma lista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pt-BR" altLang="pt-BR" sz="1800" dirty="0">
              <a:latin typeface="Arial Unicode MS" panose="020B0604020202020204" pitchFamily="34" charset="-128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altLang="pt-BR" sz="1800" dirty="0" err="1"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numeros</a:t>
            </a:r>
            <a:r>
              <a:rPr lang="pt-BR" altLang="pt-BR" sz="1800" dirty="0"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 = [1, 2, 3, 4, 5, 6]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altLang="pt-BR" sz="1800" dirty="0"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for num in </a:t>
            </a:r>
            <a:r>
              <a:rPr lang="pt-BR" altLang="pt-BR" sz="1800" dirty="0" err="1"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numeros</a:t>
            </a:r>
            <a:r>
              <a:rPr lang="pt-BR" altLang="pt-BR" sz="1800" dirty="0"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:   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altLang="pt-BR" sz="1800" dirty="0"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	</a:t>
            </a:r>
            <a:r>
              <a:rPr lang="pt-BR" altLang="pt-BR" sz="1800" dirty="0" err="1"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if</a:t>
            </a:r>
            <a:r>
              <a:rPr lang="pt-BR" altLang="pt-BR" sz="1800" dirty="0"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 num % 2 != 0:  # Se for ímpar       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altLang="pt-BR" sz="1800" dirty="0"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		continue      	 # Pula para o próximo número   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altLang="pt-BR" sz="1800" dirty="0"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	print(</a:t>
            </a:r>
            <a:r>
              <a:rPr lang="pt-BR" altLang="pt-BR" sz="1800" dirty="0" err="1"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f"Número</a:t>
            </a:r>
            <a:r>
              <a:rPr lang="pt-BR" altLang="pt-BR" sz="1800" dirty="0"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 par: {num}")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pt-BR" altLang="pt-BR" sz="1800" dirty="0">
              <a:latin typeface="Arial Unicode MS" panose="020B0604020202020204" pitchFamily="34" charset="-128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altLang="pt-BR" sz="1800" dirty="0"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# Exemplo 2: Ignorar frutas com a letra 'b’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altLang="pt-BR" sz="1800" dirty="0"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frutas = ["maçã", "banana", "uva", "bergamota"]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altLang="pt-BR" sz="1800" dirty="0"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for fruta in frutas:   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altLang="pt-BR" sz="1800" dirty="0"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	</a:t>
            </a:r>
            <a:r>
              <a:rPr lang="pt-BR" altLang="pt-BR" sz="1800" dirty="0" err="1"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if</a:t>
            </a:r>
            <a:r>
              <a:rPr lang="pt-BR" altLang="pt-BR" sz="1800" dirty="0"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 "b" in </a:t>
            </a:r>
            <a:r>
              <a:rPr lang="pt-BR" altLang="pt-BR" sz="1800" dirty="0" err="1"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fruta.lower</a:t>
            </a:r>
            <a:r>
              <a:rPr lang="pt-BR" altLang="pt-BR" sz="1800" dirty="0"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():       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altLang="pt-BR" sz="1800" dirty="0"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		continue  	# Pula se tiver "b"  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altLang="pt-BR" sz="1800" dirty="0"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	print(</a:t>
            </a:r>
            <a:r>
              <a:rPr lang="pt-BR" altLang="pt-BR" sz="1800" dirty="0" err="1"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f"Fruta</a:t>
            </a:r>
            <a:r>
              <a:rPr lang="pt-BR" altLang="pt-BR" sz="1800" dirty="0"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 sem 'b': {fruta}")</a:t>
            </a:r>
            <a:r>
              <a:rPr lang="pt-BR" altLang="pt-BR" sz="1800" dirty="0"/>
              <a:t> </a:t>
            </a:r>
            <a:endParaRPr lang="pt-BR" altLang="pt-BR" sz="1800" dirty="0"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pt-BR" sz="2000" dirty="0">
              <a:solidFill>
                <a:schemeClr val="tx1">
                  <a:lumMod val="95000"/>
                  <a:lumOff val="5000"/>
                </a:schemeClr>
              </a:solidFill>
              <a:latin typeface="Arial Nova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66248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BE0EE5-16C1-D191-6BFC-46E7B2F71F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o 2">
            <a:extLst>
              <a:ext uri="{FF2B5EF4-FFF2-40B4-BE49-F238E27FC236}">
                <a16:creationId xmlns:a16="http://schemas.microsoft.com/office/drawing/2014/main" id="{F430800E-6F01-5970-79AD-D99ADF014DB4}"/>
              </a:ext>
            </a:extLst>
          </p:cNvPr>
          <p:cNvGrpSpPr/>
          <p:nvPr/>
        </p:nvGrpSpPr>
        <p:grpSpPr>
          <a:xfrm>
            <a:off x="0" y="0"/>
            <a:ext cx="12192000" cy="6870358"/>
            <a:chOff x="0" y="0"/>
            <a:chExt cx="12192000" cy="6870358"/>
          </a:xfrm>
        </p:grpSpPr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1D5505C7-E82B-83D3-01AB-3F76B4B8F7B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70358"/>
            </a:xfrm>
            <a:prstGeom prst="rect">
              <a:avLst/>
            </a:prstGeom>
          </p:spPr>
        </p:pic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8249F843-F8A2-B255-43AC-4B9F1A56C3F3}"/>
                </a:ext>
              </a:extLst>
            </p:cNvPr>
            <p:cNvSpPr/>
            <p:nvPr/>
          </p:nvSpPr>
          <p:spPr>
            <a:xfrm>
              <a:off x="9995561" y="5567881"/>
              <a:ext cx="1909746" cy="40740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6" name="Imagem 5">
            <a:extLst>
              <a:ext uri="{FF2B5EF4-FFF2-40B4-BE49-F238E27FC236}">
                <a16:creationId xmlns:a16="http://schemas.microsoft.com/office/drawing/2014/main" id="{3EE48FE8-C2F9-2292-8CB9-8A578D1E3FF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38508"/>
          <a:stretch/>
        </p:blipFill>
        <p:spPr>
          <a:xfrm>
            <a:off x="9995561" y="206091"/>
            <a:ext cx="1812506" cy="46314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54524605-BED8-9EC6-D896-664861DC675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371" y="46454"/>
            <a:ext cx="938710" cy="600273"/>
          </a:xfrm>
          <a:prstGeom prst="rect">
            <a:avLst/>
          </a:prstGeom>
        </p:spPr>
      </p:pic>
      <p:sp>
        <p:nvSpPr>
          <p:cNvPr id="15" name="Título 14">
            <a:extLst>
              <a:ext uri="{FF2B5EF4-FFF2-40B4-BE49-F238E27FC236}">
                <a16:creationId xmlns:a16="http://schemas.microsoft.com/office/drawing/2014/main" id="{934822CA-FBD3-C07D-7941-07CAAF97F3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98006"/>
            <a:ext cx="8216537" cy="669236"/>
          </a:xfrm>
        </p:spPr>
        <p:txBody>
          <a:bodyPr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3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LAÇOS FOR e WHILE</a:t>
            </a:r>
            <a:endParaRPr lang="pt-BR" sz="5400" b="1" dirty="0"/>
          </a:p>
        </p:txBody>
      </p:sp>
      <p:sp>
        <p:nvSpPr>
          <p:cNvPr id="14" name="Espaço Reservado para Conteúdo 13">
            <a:extLst>
              <a:ext uri="{FF2B5EF4-FFF2-40B4-BE49-F238E27FC236}">
                <a16:creationId xmlns:a16="http://schemas.microsoft.com/office/drawing/2014/main" id="{14536DBE-BB6C-D8B0-D165-B1CAC72DF2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371" y="875327"/>
            <a:ext cx="11387936" cy="5215431"/>
          </a:xfrm>
        </p:spPr>
        <p:txBody>
          <a:bodyPr>
            <a:normAutofit lnSpcReduction="10000"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altLang="pt-BR" sz="32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Usando </a:t>
            </a:r>
            <a:r>
              <a:rPr lang="pt-BR" altLang="pt-BR" sz="2000" dirty="0">
                <a:latin typeface="Arial Unicode MS" panose="020B0604020202020204" pitchFamily="34" charset="-128"/>
                <a:ea typeface="Calibri" panose="020F0502020204030204" pitchFamily="34" charset="0"/>
                <a:cs typeface="Courier New" panose="02070309020205020404" pitchFamily="49" charset="0"/>
              </a:rPr>
              <a:t>break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pt-BR" altLang="pt-BR" sz="3200" dirty="0">
              <a:ea typeface="Times New Roman" panose="02020603050405020304" pitchFamily="18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altLang="pt-BR" sz="1800" dirty="0">
                <a:latin typeface="Arial" panose="020B0604020202020204" pitchFamily="34" charset="0"/>
                <a:ea typeface="Times New Roman" panose="02020603050405020304" pitchFamily="18" charset="0"/>
              </a:rPr>
              <a:t>O </a:t>
            </a:r>
            <a:r>
              <a:rPr lang="pt-BR" altLang="pt-BR" sz="1800" dirty="0"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break</a:t>
            </a:r>
            <a:r>
              <a:rPr lang="pt-BR" altLang="pt-BR" sz="1800" dirty="0">
                <a:ea typeface="Times New Roman" panose="02020603050405020304" pitchFamily="18" charset="0"/>
              </a:rPr>
              <a:t> </a:t>
            </a:r>
            <a:r>
              <a:rPr lang="pt-BR" altLang="pt-BR" sz="1800" b="1" dirty="0">
                <a:latin typeface="Arial" panose="020B0604020202020204" pitchFamily="34" charset="0"/>
                <a:ea typeface="Times New Roman" panose="02020603050405020304" pitchFamily="18" charset="0"/>
              </a:rPr>
              <a:t>interrompe completamente</a:t>
            </a:r>
            <a:r>
              <a:rPr lang="pt-BR" altLang="pt-BR" sz="1800" dirty="0">
                <a:latin typeface="Arial" panose="020B0604020202020204" pitchFamily="34" charset="0"/>
                <a:ea typeface="Times New Roman" panose="02020603050405020304" pitchFamily="18" charset="0"/>
              </a:rPr>
              <a:t> o laço, mesmo que ainda haja elementos para percorrer.</a:t>
            </a:r>
            <a:endParaRPr lang="pt-BR" altLang="pt-BR" sz="1800" dirty="0"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altLang="pt-BR" sz="1800" dirty="0"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# Exemplo 1: Parar quando encontrar o número 5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altLang="pt-BR" sz="1800" dirty="0" err="1"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numeros</a:t>
            </a:r>
            <a:r>
              <a:rPr lang="pt-BR" altLang="pt-BR" sz="1800" dirty="0"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 = [1, 2, 3, 4, 5, 6, 7]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altLang="pt-BR" sz="1800" dirty="0"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for num in </a:t>
            </a:r>
            <a:r>
              <a:rPr lang="pt-BR" altLang="pt-BR" sz="1800" dirty="0" err="1"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numeros</a:t>
            </a:r>
            <a:r>
              <a:rPr lang="pt-BR" altLang="pt-BR" sz="1800" dirty="0"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:   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altLang="pt-BR" sz="1800" dirty="0"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	</a:t>
            </a:r>
            <a:r>
              <a:rPr lang="pt-BR" altLang="pt-BR" sz="1800" dirty="0" err="1"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if</a:t>
            </a:r>
            <a:r>
              <a:rPr lang="pt-BR" altLang="pt-BR" sz="1800" dirty="0"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 num == 5:       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altLang="pt-BR" sz="1800" dirty="0"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		print("Número 5 encontrado! Encerrando.")       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altLang="pt-BR" sz="1800" dirty="0"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		break  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altLang="pt-BR" sz="1800" dirty="0"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	print(</a:t>
            </a:r>
            <a:r>
              <a:rPr lang="pt-BR" altLang="pt-BR" sz="1800" dirty="0" err="1"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f"Número</a:t>
            </a:r>
            <a:r>
              <a:rPr lang="pt-BR" altLang="pt-BR" sz="1800" dirty="0"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: {num}")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pt-BR" altLang="pt-BR" sz="1800" dirty="0">
              <a:latin typeface="Arial Unicode MS" panose="020B0604020202020204" pitchFamily="34" charset="-128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altLang="pt-BR" sz="1800" dirty="0"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# Exemplo 2: Procurar um nome na lista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altLang="pt-BR" sz="1800" dirty="0"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nomes = ["Ana", "Carlos", "Maria", "João"]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altLang="pt-BR" sz="1800" dirty="0"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for nome in nomes:   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altLang="pt-BR" sz="1800" dirty="0"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	</a:t>
            </a:r>
            <a:r>
              <a:rPr lang="pt-BR" altLang="pt-BR" sz="1800" dirty="0" err="1"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if</a:t>
            </a:r>
            <a:r>
              <a:rPr lang="pt-BR" altLang="pt-BR" sz="1800" dirty="0"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 nome == "Maria":       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altLang="pt-BR" sz="1800" dirty="0"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		print("Maria encontrada! Parando a busca.")       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altLang="pt-BR" sz="1800" dirty="0"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		break</a:t>
            </a:r>
            <a:r>
              <a:rPr lang="pt-BR" altLang="pt-BR" sz="1800" dirty="0">
                <a:latin typeface="Arial Unicode MS" panose="020B0604020202020204" pitchFamily="34" charset="-128"/>
                <a:ea typeface="Calibri" panose="020F0502020204030204" pitchFamily="34" charset="0"/>
                <a:cs typeface="Courier New" panose="02070309020205020404" pitchFamily="49" charset="0"/>
              </a:rPr>
              <a:t>   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t-BR" altLang="pt-BR" sz="1800" dirty="0">
                <a:latin typeface="Arial Unicode MS" panose="020B0604020202020204" pitchFamily="34" charset="-128"/>
                <a:ea typeface="Calibri" panose="020F0502020204030204" pitchFamily="34" charset="0"/>
                <a:cs typeface="Courier New" panose="02070309020205020404" pitchFamily="49" charset="0"/>
              </a:rPr>
              <a:t>	</a:t>
            </a:r>
            <a:r>
              <a:rPr lang="pt-BR" altLang="pt-BR" sz="1800" dirty="0">
                <a:ea typeface="Calibri" panose="020F0502020204030204" pitchFamily="34" charset="0"/>
                <a:cs typeface="Times New Roman" panose="02020603050405020304" pitchFamily="18" charset="0"/>
              </a:rPr>
              <a:t>print</a:t>
            </a:r>
            <a:r>
              <a:rPr lang="pt-BR" altLang="pt-BR" sz="1800" dirty="0">
                <a:latin typeface="Arial Unicode MS" panose="020B0604020202020204" pitchFamily="34" charset="-128"/>
                <a:ea typeface="Calibri" panose="020F0502020204030204" pitchFamily="34" charset="0"/>
                <a:cs typeface="Courier New" panose="02070309020205020404" pitchFamily="49" charset="0"/>
              </a:rPr>
              <a:t>(</a:t>
            </a:r>
            <a:r>
              <a:rPr lang="pt-BR" altLang="pt-BR" sz="1800" dirty="0" err="1">
                <a:ea typeface="Calibri" panose="020F0502020204030204" pitchFamily="34" charset="0"/>
                <a:cs typeface="Times New Roman" panose="02020603050405020304" pitchFamily="18" charset="0"/>
              </a:rPr>
              <a:t>f"Verificando</a:t>
            </a:r>
            <a:r>
              <a:rPr lang="pt-BR" altLang="pt-BR" sz="1800" dirty="0"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pt-BR" altLang="pt-BR" sz="18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{nome}</a:t>
            </a:r>
            <a:r>
              <a:rPr lang="pt-BR" altLang="pt-BR" sz="1800" dirty="0">
                <a:latin typeface="Arial Unicode MS" panose="020B0604020202020204" pitchFamily="34" charset="-128"/>
                <a:ea typeface="Calibri" panose="020F0502020204030204" pitchFamily="34" charset="0"/>
                <a:cs typeface="Courier New" panose="02070309020205020404" pitchFamily="49" charset="0"/>
              </a:rPr>
              <a:t>")</a:t>
            </a:r>
            <a:r>
              <a:rPr lang="pt-BR" altLang="pt-BR" sz="1800" dirty="0"/>
              <a:t> </a:t>
            </a:r>
            <a:endParaRPr lang="pt-BR" altLang="pt-BR" sz="1800" dirty="0"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pt-BR" sz="1800" dirty="0">
              <a:solidFill>
                <a:schemeClr val="tx1">
                  <a:lumMod val="95000"/>
                  <a:lumOff val="5000"/>
                </a:schemeClr>
              </a:solidFill>
              <a:latin typeface="Arial Nova" panose="020F050202020403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pt-BR" sz="2000" dirty="0">
              <a:solidFill>
                <a:schemeClr val="tx1">
                  <a:lumMod val="95000"/>
                  <a:lumOff val="5000"/>
                </a:schemeClr>
              </a:solidFill>
              <a:latin typeface="Arial Nova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938113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14141</TotalTime>
  <Words>2094</Words>
  <Application>Microsoft Office PowerPoint</Application>
  <PresentationFormat>Widescreen</PresentationFormat>
  <Paragraphs>326</Paragraphs>
  <Slides>17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29" baseType="lpstr">
      <vt:lpstr>Arial Unicode MS</vt:lpstr>
      <vt:lpstr>Agency FB</vt:lpstr>
      <vt:lpstr>Aharoni</vt:lpstr>
      <vt:lpstr>Aptos Mono</vt:lpstr>
      <vt:lpstr>Arial</vt:lpstr>
      <vt:lpstr>Arial Nova</vt:lpstr>
      <vt:lpstr>Calibri</vt:lpstr>
      <vt:lpstr>Calibri Light</vt:lpstr>
      <vt:lpstr>Courier New</vt:lpstr>
      <vt:lpstr>Times New Roman</vt:lpstr>
      <vt:lpstr>Wingdings</vt:lpstr>
      <vt:lpstr>Tema do Office</vt:lpstr>
      <vt:lpstr>Apresentação do PowerPoint</vt:lpstr>
      <vt:lpstr>LIST e TUPLE</vt:lpstr>
      <vt:lpstr>LIST e TUPLE</vt:lpstr>
      <vt:lpstr>LIST e TUPLE</vt:lpstr>
      <vt:lpstr>LIST e TUPLE</vt:lpstr>
      <vt:lpstr>LIST e TUPLE</vt:lpstr>
      <vt:lpstr>LIST e TUPLE</vt:lpstr>
      <vt:lpstr>LIST e TUPLE</vt:lpstr>
      <vt:lpstr>LIST e TUPLE</vt:lpstr>
      <vt:lpstr>LAÇOS FOR e WHILE</vt:lpstr>
      <vt:lpstr>LAÇOS FOR e WHILE</vt:lpstr>
      <vt:lpstr>LAÇOS FOR e WHILE</vt:lpstr>
      <vt:lpstr>LAÇOS FOR e WHILE</vt:lpstr>
      <vt:lpstr>LAÇOS FOR e WHILE</vt:lpstr>
      <vt:lpstr>LAÇOS FOR e WHILE</vt:lpstr>
      <vt:lpstr>LAÇOS FOR e WHILE</vt:lpstr>
      <vt:lpstr>LAÇOS FOR e WHILE</vt:lpstr>
    </vt:vector>
  </TitlesOfParts>
  <Company>SESI_SENAI_SP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Marcos André da Silva</dc:creator>
  <cp:lastModifiedBy>MARCOS ANDRE DA SILVA</cp:lastModifiedBy>
  <cp:revision>180</cp:revision>
  <dcterms:created xsi:type="dcterms:W3CDTF">2017-07-19T17:45:31Z</dcterms:created>
  <dcterms:modified xsi:type="dcterms:W3CDTF">2025-10-08T00:44:09Z</dcterms:modified>
</cp:coreProperties>
</file>