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330" r:id="rId4"/>
    <p:sldId id="329" r:id="rId5"/>
    <p:sldId id="331" r:id="rId6"/>
    <p:sldId id="332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1E820B-E4B9-4326-9E0A-32245E96C64A}">
          <p14:sldIdLst>
            <p14:sldId id="256"/>
            <p14:sldId id="273"/>
            <p14:sldId id="330"/>
            <p14:sldId id="329"/>
            <p14:sldId id="331"/>
            <p14:sldId id="332"/>
          </p14:sldIdLst>
        </p14:section>
        <p14:section name="Seção sem Título" id="{5D3938C1-01F9-431A-A6F1-E3F345A874E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FF5050"/>
    <a:srgbClr val="0066CC"/>
    <a:srgbClr val="CC0000"/>
    <a:srgbClr val="CC3300"/>
    <a:srgbClr val="00B0F0"/>
    <a:srgbClr val="FF0000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76" d="100"/>
          <a:sy n="76" d="100"/>
        </p:scale>
        <p:origin x="5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56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05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67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69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15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840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85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69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40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49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33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E46FC-05F1-4E56-8287-A94ECB08D438}" type="datetimeFigureOut">
              <a:rPr lang="pt-BR" smtClean="0"/>
              <a:t>25/09/2025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5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81445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42229" y="979663"/>
            <a:ext cx="86464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FF0000"/>
                </a:solidFill>
              </a:rPr>
              <a:t>Curso de Formação Inicial e Continuada</a:t>
            </a:r>
          </a:p>
          <a:p>
            <a:pPr algn="ctr"/>
            <a:r>
              <a:rPr lang="pt-BR" sz="3600" b="1" dirty="0"/>
              <a:t>Programação em Python</a:t>
            </a:r>
          </a:p>
          <a:p>
            <a:pPr algn="ctr"/>
            <a:r>
              <a:rPr lang="pt-BR" sz="3600"/>
              <a:t>Aula 4 </a:t>
            </a:r>
            <a:endParaRPr lang="pt-BR" sz="36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986" y="4575360"/>
            <a:ext cx="2571113" cy="164413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-4911" y="6488668"/>
            <a:ext cx="12196911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+mn-lt"/>
              </a:rPr>
              <a:t>Rua Santo André, 680 – Boa Vista – São Caetano do Sul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36" y="3868032"/>
            <a:ext cx="2272376" cy="94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3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/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Operadores Aritméticos</a:t>
            </a:r>
            <a:endParaRPr lang="pt-BR" sz="5400" b="1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517371" y="875327"/>
            <a:ext cx="5796344" cy="521543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 possui operadores aritméticos básicos para realizar cálculos simples: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(adição),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(subtração),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(multiplicação),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 (divisão),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(divisão inteira),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% (módulo),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** (exponenciação).</a:t>
            </a:r>
          </a:p>
          <a:p>
            <a:pPr marL="0" indent="0"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07A800C2-3F36-3BA5-2FF4-C204A921B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421692"/>
              </p:ext>
            </p:extLst>
          </p:nvPr>
        </p:nvGraphicFramePr>
        <p:xfrm>
          <a:off x="3841239" y="1727638"/>
          <a:ext cx="7833390" cy="30606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68922">
                  <a:extLst>
                    <a:ext uri="{9D8B030D-6E8A-4147-A177-3AD203B41FA5}">
                      <a16:colId xmlns:a16="http://schemas.microsoft.com/office/drawing/2014/main" val="889783287"/>
                    </a:ext>
                  </a:extLst>
                </a:gridCol>
                <a:gridCol w="4430035">
                  <a:extLst>
                    <a:ext uri="{9D8B030D-6E8A-4147-A177-3AD203B41FA5}">
                      <a16:colId xmlns:a16="http://schemas.microsoft.com/office/drawing/2014/main" val="2014015453"/>
                    </a:ext>
                  </a:extLst>
                </a:gridCol>
                <a:gridCol w="1134433">
                  <a:extLst>
                    <a:ext uri="{9D8B030D-6E8A-4147-A177-3AD203B41FA5}">
                      <a16:colId xmlns:a16="http://schemas.microsoft.com/office/drawing/2014/main" val="1368851972"/>
                    </a:ext>
                  </a:extLst>
                </a:gridCol>
              </a:tblGrid>
              <a:tr h="338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Operador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dirty="0">
                          <a:effectLst/>
                        </a:rPr>
                        <a:t>Conceito</a:t>
                      </a:r>
                      <a:endParaRPr lang="pt-BR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Exemplo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extLst>
                  <a:ext uri="{0D108BD9-81ED-4DB2-BD59-A6C34878D82A}">
                    <a16:rowId xmlns:a16="http://schemas.microsoft.com/office/drawing/2014/main" val="3950256066"/>
                  </a:ext>
                </a:extLst>
              </a:tr>
              <a:tr h="338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+ (Adição ou sinal positivo)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- Realiza a soma entre operandos - Adiciona o sinal de positivo ao número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- 10 + 7 - +4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extLst>
                  <a:ext uri="{0D108BD9-81ED-4DB2-BD59-A6C34878D82A}">
                    <a16:rowId xmlns:a16="http://schemas.microsoft.com/office/drawing/2014/main" val="3979707364"/>
                  </a:ext>
                </a:extLst>
              </a:tr>
              <a:tr h="6923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- (Subtração ou sinal negativo)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- Realiza a subtração entre operandos - Adiciona o sinal de negativo ao número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- 10 - 7 - -4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extLst>
                  <a:ext uri="{0D108BD9-81ED-4DB2-BD59-A6C34878D82A}">
                    <a16:rowId xmlns:a16="http://schemas.microsoft.com/office/drawing/2014/main" val="708016561"/>
                  </a:ext>
                </a:extLst>
              </a:tr>
              <a:tr h="338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* (Multiplicação)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Realiza a multiplicação entre operandos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3 * 4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extLst>
                  <a:ext uri="{0D108BD9-81ED-4DB2-BD59-A6C34878D82A}">
                    <a16:rowId xmlns:a16="http://schemas.microsoft.com/office/drawing/2014/main" val="3833892536"/>
                  </a:ext>
                </a:extLst>
              </a:tr>
              <a:tr h="338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/ (Divisão)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Realiza a divisão entre operandos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10 / 5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extLst>
                  <a:ext uri="{0D108BD9-81ED-4DB2-BD59-A6C34878D82A}">
                    <a16:rowId xmlns:a16="http://schemas.microsoft.com/office/drawing/2014/main" val="486550929"/>
                  </a:ext>
                </a:extLst>
              </a:tr>
              <a:tr h="338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// (Divisão inteira)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Realiza a divisão entre operandos e a parte decimal do resultado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10 // 6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extLst>
                  <a:ext uri="{0D108BD9-81ED-4DB2-BD59-A6C34878D82A}">
                    <a16:rowId xmlns:a16="http://schemas.microsoft.com/office/drawing/2014/main" val="578827229"/>
                  </a:ext>
                </a:extLst>
              </a:tr>
              <a:tr h="338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% (Módulo)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Retorna o resto da divisão entre operandos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4 % 2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extLst>
                  <a:ext uri="{0D108BD9-81ED-4DB2-BD59-A6C34878D82A}">
                    <a16:rowId xmlns:a16="http://schemas.microsoft.com/office/drawing/2014/main" val="3303251542"/>
                  </a:ext>
                </a:extLst>
              </a:tr>
              <a:tr h="338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** (Exponenciação)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>
                          <a:effectLst/>
                        </a:rPr>
                        <a:t>Retorna um número elevado a potência de outro</a:t>
                      </a:r>
                      <a:endParaRPr lang="pt-B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kern="100" dirty="0">
                          <a:effectLst/>
                        </a:rPr>
                        <a:t>4 ** 2</a:t>
                      </a:r>
                      <a:endParaRPr lang="pt-BR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0" anchor="ctr"/>
                </a:tc>
                <a:extLst>
                  <a:ext uri="{0D108BD9-81ED-4DB2-BD59-A6C34878D82A}">
                    <a16:rowId xmlns:a16="http://schemas.microsoft.com/office/drawing/2014/main" val="2119760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04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6C30E-D7B8-6428-C31F-CA97DB257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6C6037CC-7109-B535-C07C-6F2D56823483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7F4373E0-FFA5-5063-4275-B45723A39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B12B9D97-B9F9-C772-5084-94373CBC9DC2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2224FA1B-59DA-32D6-4D4F-A96FBE5BB0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93A6790-3B55-0F2C-CA39-27F4A97AC9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15D01678-4B41-2EE9-4309-212FF8B44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Operadores Aritméticos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DF4B7AF3-D63F-B072-0516-B7A69CD8A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494352" cy="521543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EXEMPLOS: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soma = 10 + 5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subtracao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20 - 7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multiplicacao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8 * 6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divisao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15 / 3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divisao_inteira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17 // 5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resto_divisao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22 % 7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potencia = 2 ** 3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</a:rPr>
              <a:t>Usando f-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</a:rPr>
              <a:t>string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</a:rPr>
              <a:t> para exibir o resultado da variável com o texto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dirty="0"/>
              <a:t>Uma </a:t>
            </a:r>
            <a:r>
              <a:rPr lang="pt-BR" sz="1400" b="1" dirty="0"/>
              <a:t>f-</a:t>
            </a:r>
            <a:r>
              <a:rPr lang="pt-BR" sz="1400" b="1" dirty="0" err="1"/>
              <a:t>string</a:t>
            </a:r>
            <a:r>
              <a:rPr lang="pt-BR" sz="1400" dirty="0"/>
              <a:t> (formatação de </a:t>
            </a:r>
            <a:r>
              <a:rPr lang="pt-BR" sz="1400" dirty="0" err="1"/>
              <a:t>string</a:t>
            </a:r>
            <a:r>
              <a:rPr lang="pt-BR" sz="1400" dirty="0"/>
              <a:t>). Permite inserir variáveis ou expressões diretamente dentro da </a:t>
            </a:r>
            <a:r>
              <a:rPr lang="pt-BR" sz="1400" dirty="0" err="1"/>
              <a:t>string</a:t>
            </a:r>
            <a:r>
              <a:rPr lang="pt-BR" sz="1400" dirty="0"/>
              <a:t>.</a:t>
            </a: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8" name="Espaço Reservado para Conteúdo 13">
            <a:extLst>
              <a:ext uri="{FF2B5EF4-FFF2-40B4-BE49-F238E27FC236}">
                <a16:creationId xmlns:a16="http://schemas.microsoft.com/office/drawing/2014/main" id="{49D99278-AF99-5233-5254-A4A17F9577B0}"/>
              </a:ext>
            </a:extLst>
          </p:cNvPr>
          <p:cNvSpPr txBox="1">
            <a:spLocks/>
          </p:cNvSpPr>
          <p:nvPr/>
        </p:nvSpPr>
        <p:spPr>
          <a:xfrm>
            <a:off x="6011723" y="821284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Resultados: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f"Subtração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{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subtracao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}")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f"Multiplicação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{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multiplicacao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}")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f"Divisão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{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divisao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}")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f"Divisão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inteira: {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divisao_inteira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}")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f"Resto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 divisão: {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resto_divisao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}")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f"Potência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{potencia}")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dirty="0"/>
              <a:t>A função </a:t>
            </a:r>
            <a:r>
              <a:rPr lang="pt-BR" sz="1400" dirty="0" err="1"/>
              <a:t>pow</a:t>
            </a:r>
            <a:r>
              <a:rPr lang="pt-BR" sz="1400" dirty="0"/>
              <a:t>() em Python calcula a potência de um número. Ela recebe dois ou três argumentos: a base, o expoente e, opcionalmente, um módulo. A forma mais básica é </a:t>
            </a:r>
            <a:r>
              <a:rPr lang="pt-BR" sz="1400" dirty="0" err="1"/>
              <a:t>pow</a:t>
            </a:r>
            <a:r>
              <a:rPr lang="pt-BR" sz="1400" dirty="0"/>
              <a:t>(base, </a:t>
            </a:r>
            <a:r>
              <a:rPr lang="pt-BR" sz="1400" dirty="0" err="1"/>
              <a:t>exponent</a:t>
            </a:r>
            <a:r>
              <a:rPr lang="pt-BR" sz="1400" dirty="0"/>
              <a:t>), que calcula base elevado à potência de expoente. Por exemplo, </a:t>
            </a:r>
            <a:r>
              <a:rPr lang="pt-BR" sz="1400" dirty="0" err="1"/>
              <a:t>pow</a:t>
            </a:r>
            <a:r>
              <a:rPr lang="pt-BR" sz="1400" dirty="0"/>
              <a:t>(2, 3) retorna 8, pois 2 elevado à terceira potência é 8. 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dirty="0"/>
              <a:t>Exemplo potencia 2 argumentos: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400" dirty="0"/>
              <a:t>resultado = </a:t>
            </a:r>
            <a:r>
              <a:rPr lang="pt-BR" sz="1400" dirty="0" err="1"/>
              <a:t>pow</a:t>
            </a:r>
            <a:r>
              <a:rPr lang="pt-BR" sz="1400" dirty="0"/>
              <a:t>(5, 4)</a:t>
            </a:r>
            <a:br>
              <a:rPr lang="pt-BR" sz="1400" dirty="0"/>
            </a:br>
            <a:r>
              <a:rPr lang="pt-BR" sz="1400" dirty="0"/>
              <a:t>print(resultado)  # Saída: 625</a:t>
            </a:r>
          </a:p>
          <a:p>
            <a:pPr marL="0" indent="0">
              <a:lnSpc>
                <a:spcPct val="117000"/>
              </a:lnSpc>
              <a:spcAft>
                <a:spcPts val="800"/>
              </a:spcAft>
              <a:buNone/>
            </a:pPr>
            <a:r>
              <a:rPr lang="pt-BR" sz="1400" dirty="0"/>
              <a:t>Exemplo potencia 3 argumentos:</a:t>
            </a:r>
          </a:p>
          <a:p>
            <a:pPr marL="0" indent="0">
              <a:lnSpc>
                <a:spcPct val="117000"/>
              </a:lnSpc>
              <a:spcAft>
                <a:spcPts val="800"/>
              </a:spcAft>
              <a:buNone/>
            </a:pPr>
            <a:r>
              <a:rPr lang="pt-BR" sz="1400" dirty="0"/>
              <a:t>resultado = </a:t>
            </a:r>
            <a:r>
              <a:rPr lang="pt-BR" sz="1400" dirty="0" err="1"/>
              <a:t>pow</a:t>
            </a:r>
            <a:r>
              <a:rPr lang="pt-BR" sz="1400" dirty="0"/>
              <a:t>(3, 2, 5)</a:t>
            </a:r>
            <a:br>
              <a:rPr lang="pt-BR" sz="1400" dirty="0"/>
            </a:br>
            <a:r>
              <a:rPr lang="pt-BR" sz="1400" dirty="0"/>
              <a:t>print(resultado)  # Saída: 4  (3**2 % 5 = 9 % 5 = 4)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1400" dirty="0"/>
          </a:p>
          <a:p>
            <a:pPr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954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FA291-E661-96E9-5BB7-CC2F7F9E3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A2794ED-80F5-BBDF-3808-A5496A3362EF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5DB18D32-51FA-E891-13C6-97E01F064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20AAF866-C630-9C9F-0858-429863DB1093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B9A288AF-3EE9-6831-670C-8A96380612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7EF5E56-EBB7-1124-B1F5-1459D5D458A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7F9A91BF-C208-354A-4E4D-B72B3FE8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Funções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BD24C5A9-D34B-AF1E-DE18-445DE5E5E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494352" cy="521543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2000" dirty="0"/>
              <a:t>Funções são </a:t>
            </a:r>
            <a:r>
              <a:rPr lang="pt-BR" sz="2000" b="1" dirty="0"/>
              <a:t>blocos de código reutilizáveis</a:t>
            </a:r>
            <a:r>
              <a:rPr lang="pt-BR" sz="2000" dirty="0"/>
              <a:t> que executam uma tarefa específica. Com instruções pré-definidas, elas ajudam a organizar o código, evitar repetição e facilitar a manutenção.</a:t>
            </a:r>
          </a:p>
          <a:p>
            <a:pPr>
              <a:buNone/>
            </a:pPr>
            <a:r>
              <a:rPr lang="pt-BR" sz="2400" b="1" dirty="0"/>
              <a:t>Vantagens de usar funções: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Evitam repetir código (reutilização)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Deixam o programa mais organizado e legível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Facilitam testes e manutenção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Permitem dividir um problema em partes menores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pt-BR" sz="36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613FAA91-2182-9A3C-108E-7E8274D8631F}"/>
              </a:ext>
            </a:extLst>
          </p:cNvPr>
          <p:cNvSpPr txBox="1">
            <a:spLocks/>
          </p:cNvSpPr>
          <p:nvPr/>
        </p:nvSpPr>
        <p:spPr>
          <a:xfrm>
            <a:off x="6180279" y="821284"/>
            <a:ext cx="5494352" cy="521543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2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Funções de arredondamento: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round() (arredonda para o inteiro mais próximo) e </a:t>
            </a:r>
            <a:r>
              <a:rPr lang="pt-BR" sz="2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math.ceil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 (arredonda para cima) e </a:t>
            </a:r>
            <a:r>
              <a:rPr lang="pt-BR" sz="2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math.floor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 (arredonda para baixo) </a:t>
            </a:r>
          </a:p>
          <a:p>
            <a:pPr marL="0" lvl="0" indent="0">
              <a:lnSpc>
                <a:spcPct val="12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pt-BR" sz="2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Funções de tipo: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pt-BR" sz="2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2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float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2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complex</a:t>
            </a: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 (conversão entre tipos numéricos) </a:t>
            </a:r>
          </a:p>
          <a:p>
            <a:pPr>
              <a:lnSpc>
                <a:spcPct val="120000"/>
              </a:lnSpc>
              <a:spcAft>
                <a:spcPts val="800"/>
              </a:spcAft>
              <a:buNone/>
            </a:pPr>
            <a:r>
              <a:rPr lang="pt-BR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Tipos de dados comuns em Python: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</a:t>
            </a:r>
            <a:r>
              <a:rPr lang="pt-BR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 Inteiros (números sem casas decimais).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float</a:t>
            </a:r>
            <a:r>
              <a:rPr lang="pt-BR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 Números de ponto flutuante (com casas decimais).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</a:t>
            </a:r>
            <a:r>
              <a:rPr lang="pt-BR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 Cadeias de caracteres (textos).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</a:t>
            </a:r>
            <a:r>
              <a:rPr lang="pt-BR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 Listas (conjuntos ordenados e mutáveis).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tuple</a:t>
            </a:r>
            <a:r>
              <a:rPr lang="pt-BR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 Tuplas (conjuntos ordenados e imutáveis).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dict</a:t>
            </a:r>
            <a:r>
              <a:rPr lang="pt-BR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 Dicionários (conjuntos não ordenados de pares chave-valor).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set: Conjuntos (conjuntos não ordenados e únicos).</a:t>
            </a:r>
          </a:p>
          <a:p>
            <a:pPr marL="342900" lvl="0" indent="-342900">
              <a:lnSpc>
                <a:spcPct val="12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bool</a:t>
            </a:r>
            <a:r>
              <a:rPr lang="pt-BR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 Valores booleanos (</a:t>
            </a:r>
            <a:r>
              <a:rPr lang="pt-BR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  <a:r>
              <a:rPr lang="pt-BR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ou False). </a:t>
            </a:r>
          </a:p>
          <a:p>
            <a:pPr marL="0" indent="0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endParaRPr lang="pt-BR" sz="36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1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D92B3-2843-5E84-B0C5-C0B40BDBE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4468DB09-DB72-DAB2-D181-1B631C6F58A2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02F5154F-DD11-5335-96A6-F5D460DA5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53A457AE-E8DD-799A-43B3-3ACDADA97DA6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0BC5F097-213A-D359-AF46-EC44BCED4A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B8ACAF8-E27C-3EBB-204E-5014B01B28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3FD4B8A8-1527-63DB-CA8C-AB8621C7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Módulo MATH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2664A0ED-3348-BBDF-A0FB-8A32E8622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494352" cy="521543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dirty="0">
                <a:latin typeface="Arial" panose="020B0604020202020204" pitchFamily="34" charset="0"/>
              </a:rPr>
              <a:t>Módulos em Python são arquivos que contêm código Python (funções, variáveis, classes, etc.) e que podem ser importados e reutilizados em outros programas.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Organização: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separa o código em partes menores e mais claras.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Reutilização: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permite usar o mesmo código em vários projetos.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Produtividade: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aproveita módulos prontos da biblioteca padrão ou de terceiros.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Para se utilizar módulos em </a:t>
            </a:r>
            <a:r>
              <a:rPr lang="pt-BR" sz="18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python</a:t>
            </a:r>
            <a:r>
              <a:rPr lang="pt-BR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, precisamos importar sua biblioteca.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sz="3600" dirty="0" err="1">
                <a:solidFill>
                  <a:srgbClr val="FF66FF"/>
                </a:solidFill>
                <a:latin typeface="Agency FB" panose="020B0503020202020204" pitchFamily="34" charset="0"/>
              </a:rPr>
              <a:t>import</a:t>
            </a:r>
            <a:r>
              <a:rPr lang="pt-B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</a:rPr>
              <a:t> </a:t>
            </a:r>
            <a:r>
              <a:rPr lang="pt-BR" sz="3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gency FB" panose="020B0503020202020204" pitchFamily="34" charset="0"/>
              </a:rPr>
              <a:t>math</a:t>
            </a:r>
            <a:endParaRPr lang="pt-BR" sz="3600" dirty="0">
              <a:solidFill>
                <a:schemeClr val="tx1">
                  <a:lumMod val="65000"/>
                  <a:lumOff val="3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5AB001CD-B710-E490-39B6-705122581601}"/>
              </a:ext>
            </a:extLst>
          </p:cNvPr>
          <p:cNvSpPr txBox="1">
            <a:spLocks/>
          </p:cNvSpPr>
          <p:nvPr/>
        </p:nvSpPr>
        <p:spPr>
          <a:xfrm>
            <a:off x="6180279" y="821284"/>
            <a:ext cx="5494352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endParaRPr lang="pt-BR" sz="36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54FEF86-8795-D899-6031-2E3DFB61B1A8}"/>
              </a:ext>
            </a:extLst>
          </p:cNvPr>
          <p:cNvSpPr txBox="1"/>
          <p:nvPr/>
        </p:nvSpPr>
        <p:spPr>
          <a:xfrm>
            <a:off x="6180279" y="880241"/>
            <a:ext cx="5627788" cy="4541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b="1" u="sng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Módulo </a:t>
            </a:r>
            <a:r>
              <a:rPr lang="pt-BR" sz="1800" b="1" u="sng" kern="10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math</a:t>
            </a:r>
            <a:r>
              <a:rPr lang="pt-BR" sz="1800" b="1" kern="1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módulo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math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fornece funções matemáticas avançadas que não estão disponíveis como operadores diretamente. 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Algumas funções importantes do módulo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math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incluem: 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Trigonometria: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cos(),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tan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asin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acos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atan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sinh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cosh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tanh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asinh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acosh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atanh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Funções exponenciais e logarítmicas: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log(), log10(), expm1(), log1p(), log2()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Outras funções: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sqrt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ceil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floor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trunc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factorial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gcd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isqrt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 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8642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0D087-D734-7A6C-28E5-CE80CD089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A498A51E-7F8F-ED0C-B11E-2782D6502B3A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4DD9859-79CE-3C9E-9E35-576288502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ABE15D4C-2C6C-0FB5-4E3B-8A34C6D9BC0F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D26162C2-0D6D-911E-23CC-6FBD5BDD7F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3D41BE3-3811-9D9D-9953-E544A52E93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85D048BF-FC2F-E9D4-8717-6D6AC5808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Módulo MATH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FD610CD9-4A84-4308-25DC-1D8C918E6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290696" cy="521543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math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Trigonometria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angulo_em_graus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45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angulo_em_radianos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math.radians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angulo_em_graus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seno = 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math.sin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angulo_em_radianos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cosseno = 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math.cos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angulo_em_radianos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f"Seno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{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angulo_em_graus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 graus: {seno}")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f"Cosseno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{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angulo_em_graus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 graus: {cosseno}")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Exponencial e Logaritmo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numero = 10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exponencial = 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math.exp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(numero)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logaritmo_natural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math.log(numero)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f"e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elevado a {numero}: {exponencial}")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f"Logaritmo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natural de {numero}: {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logaritmo_natural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}")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 Raiz quadrada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numero = 25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raiz_quadrada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math.sqrt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(numero)</a:t>
            </a:r>
            <a:b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print(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f"Raiz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quadrada de {numero}: {</a:t>
            </a:r>
            <a:r>
              <a:rPr lang="pt-BR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raiz_quadrada</a:t>
            </a:r>
            <a:r>
              <a:rPr lang="pt-B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pt-BR" sz="3600" dirty="0">
              <a:solidFill>
                <a:schemeClr val="tx1">
                  <a:lumMod val="65000"/>
                  <a:lumOff val="3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2D6CD010-2B7D-6AEA-4833-DCF736400D1D}"/>
              </a:ext>
            </a:extLst>
          </p:cNvPr>
          <p:cNvSpPr txBox="1">
            <a:spLocks/>
          </p:cNvSpPr>
          <p:nvPr/>
        </p:nvSpPr>
        <p:spPr>
          <a:xfrm>
            <a:off x="6180279" y="821284"/>
            <a:ext cx="5494352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endParaRPr lang="pt-BR" sz="36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389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13798</TotalTime>
  <Words>1098</Words>
  <Application>Microsoft Office PowerPoint</Application>
  <PresentationFormat>Widescreen</PresentationFormat>
  <Paragraphs>84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Agency FB</vt:lpstr>
      <vt:lpstr>Arial</vt:lpstr>
      <vt:lpstr>Calibri</vt:lpstr>
      <vt:lpstr>Calibri Light</vt:lpstr>
      <vt:lpstr>Symbol</vt:lpstr>
      <vt:lpstr>Times New Roman</vt:lpstr>
      <vt:lpstr>Tema do Office</vt:lpstr>
      <vt:lpstr>Apresentação do PowerPoint</vt:lpstr>
      <vt:lpstr>Operadores Aritméticos</vt:lpstr>
      <vt:lpstr>Operadores Aritméticos</vt:lpstr>
      <vt:lpstr>Funções</vt:lpstr>
      <vt:lpstr>Módulo MATH</vt:lpstr>
      <vt:lpstr>Módulo MATH</vt:lpstr>
    </vt:vector>
  </TitlesOfParts>
  <Company>SESI_SENAI_SP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André da Silva</dc:creator>
  <cp:lastModifiedBy>MARCOS ANDRE DA SILVA</cp:lastModifiedBy>
  <cp:revision>167</cp:revision>
  <dcterms:created xsi:type="dcterms:W3CDTF">2017-07-19T17:45:31Z</dcterms:created>
  <dcterms:modified xsi:type="dcterms:W3CDTF">2025-09-26T00:31:13Z</dcterms:modified>
</cp:coreProperties>
</file>