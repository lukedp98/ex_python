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74" r:id="rId4"/>
    <p:sldId id="275" r:id="rId5"/>
    <p:sldId id="276" r:id="rId6"/>
    <p:sldId id="277" r:id="rId7"/>
    <p:sldId id="278" r:id="rId8"/>
    <p:sldId id="279" r:id="rId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761E820B-E4B9-4326-9E0A-32245E96C64A}">
          <p14:sldIdLst>
            <p14:sldId id="256"/>
            <p14:sldId id="273"/>
            <p14:sldId id="274"/>
            <p14:sldId id="275"/>
            <p14:sldId id="276"/>
            <p14:sldId id="277"/>
            <p14:sldId id="278"/>
            <p14:sldId id="279"/>
          </p14:sldIdLst>
        </p14:section>
        <p14:section name="Seção sem Título" id="{5D3938C1-01F9-431A-A6F1-E3F345A874E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5B9BD5"/>
    <a:srgbClr val="FF66FF"/>
    <a:srgbClr val="FF5050"/>
    <a:srgbClr val="0066CC"/>
    <a:srgbClr val="CC0000"/>
    <a:srgbClr val="CC33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Estilo Claro 3 - Ênfase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A111915-BE36-4E01-A7E5-04B1672EAD32}" styleName="Estilo Claro 2 - Ênfase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p:cViewPr varScale="1">
        <p:scale>
          <a:sx n="114" d="100"/>
          <a:sy n="114" d="100"/>
        </p:scale>
        <p:origin x="30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F6AE46FC-05F1-4E56-8287-A94ECB08D438}" type="datetimeFigureOut">
              <a:rPr lang="pt-BR" smtClean="0"/>
              <a:t>09/10/2025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86635FB-1ED8-4035-A1D0-E1FE2042D0F3}" type="slidenum">
              <a:rPr lang="pt-BR" smtClean="0"/>
              <a:t>‹nº›</a:t>
            </a:fld>
            <a:endParaRPr lang="pt-BR"/>
          </a:p>
        </p:txBody>
      </p:sp>
    </p:spTree>
    <p:extLst>
      <p:ext uri="{BB962C8B-B14F-4D97-AF65-F5344CB8AC3E}">
        <p14:creationId xmlns:p14="http://schemas.microsoft.com/office/powerpoint/2010/main" val="399656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F6AE46FC-05F1-4E56-8287-A94ECB08D438}" type="datetimeFigureOut">
              <a:rPr lang="pt-BR" smtClean="0"/>
              <a:t>09/10/2025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86635FB-1ED8-4035-A1D0-E1FE2042D0F3}" type="slidenum">
              <a:rPr lang="pt-BR" smtClean="0"/>
              <a:t>‹nº›</a:t>
            </a:fld>
            <a:endParaRPr lang="pt-BR"/>
          </a:p>
        </p:txBody>
      </p:sp>
    </p:spTree>
    <p:extLst>
      <p:ext uri="{BB962C8B-B14F-4D97-AF65-F5344CB8AC3E}">
        <p14:creationId xmlns:p14="http://schemas.microsoft.com/office/powerpoint/2010/main" val="1874059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F6AE46FC-05F1-4E56-8287-A94ECB08D438}" type="datetimeFigureOut">
              <a:rPr lang="pt-BR" smtClean="0"/>
              <a:t>09/10/2025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86635FB-1ED8-4035-A1D0-E1FE2042D0F3}" type="slidenum">
              <a:rPr lang="pt-BR" smtClean="0"/>
              <a:t>‹nº›</a:t>
            </a:fld>
            <a:endParaRPr lang="pt-BR"/>
          </a:p>
        </p:txBody>
      </p:sp>
    </p:spTree>
    <p:extLst>
      <p:ext uri="{BB962C8B-B14F-4D97-AF65-F5344CB8AC3E}">
        <p14:creationId xmlns:p14="http://schemas.microsoft.com/office/powerpoint/2010/main" val="1026679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838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72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F6AE46FC-05F1-4E56-8287-A94ECB08D438}" type="datetimeFigureOut">
              <a:rPr lang="pt-BR" smtClean="0"/>
              <a:t>09/10/2025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86635FB-1ED8-4035-A1D0-E1FE2042D0F3}" type="slidenum">
              <a:rPr lang="pt-BR" smtClean="0"/>
              <a:t>‹nº›</a:t>
            </a:fld>
            <a:endParaRPr lang="pt-BR"/>
          </a:p>
        </p:txBody>
      </p:sp>
    </p:spTree>
    <p:extLst>
      <p:ext uri="{BB962C8B-B14F-4D97-AF65-F5344CB8AC3E}">
        <p14:creationId xmlns:p14="http://schemas.microsoft.com/office/powerpoint/2010/main" val="4142696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F6AE46FC-05F1-4E56-8287-A94ECB08D438}" type="datetimeFigureOut">
              <a:rPr lang="pt-BR" smtClean="0"/>
              <a:t>09/10/2025</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86635FB-1ED8-4035-A1D0-E1FE2042D0F3}" type="slidenum">
              <a:rPr lang="pt-BR" smtClean="0"/>
              <a:t>‹nº›</a:t>
            </a:fld>
            <a:endParaRPr lang="pt-BR"/>
          </a:p>
        </p:txBody>
      </p:sp>
    </p:spTree>
    <p:extLst>
      <p:ext uri="{BB962C8B-B14F-4D97-AF65-F5344CB8AC3E}">
        <p14:creationId xmlns:p14="http://schemas.microsoft.com/office/powerpoint/2010/main" val="2035157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F6AE46FC-05F1-4E56-8287-A94ECB08D438}" type="datetimeFigureOut">
              <a:rPr lang="pt-BR" smtClean="0"/>
              <a:t>09/10/2025</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86635FB-1ED8-4035-A1D0-E1FE2042D0F3}" type="slidenum">
              <a:rPr lang="pt-BR" smtClean="0"/>
              <a:t>‹nº›</a:t>
            </a:fld>
            <a:endParaRPr lang="pt-BR"/>
          </a:p>
        </p:txBody>
      </p:sp>
    </p:spTree>
    <p:extLst>
      <p:ext uri="{BB962C8B-B14F-4D97-AF65-F5344CB8AC3E}">
        <p14:creationId xmlns:p14="http://schemas.microsoft.com/office/powerpoint/2010/main" val="1894840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F6AE46FC-05F1-4E56-8287-A94ECB08D438}" type="datetimeFigureOut">
              <a:rPr lang="pt-BR" smtClean="0"/>
              <a:t>09/10/2025</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86635FB-1ED8-4035-A1D0-E1FE2042D0F3}" type="slidenum">
              <a:rPr lang="pt-BR" smtClean="0"/>
              <a:t>‹nº›</a:t>
            </a:fld>
            <a:endParaRPr lang="pt-BR"/>
          </a:p>
        </p:txBody>
      </p:sp>
    </p:spTree>
    <p:extLst>
      <p:ext uri="{BB962C8B-B14F-4D97-AF65-F5344CB8AC3E}">
        <p14:creationId xmlns:p14="http://schemas.microsoft.com/office/powerpoint/2010/main" val="3746855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F6AE46FC-05F1-4E56-8287-A94ECB08D438}" type="datetimeFigureOut">
              <a:rPr lang="pt-BR" smtClean="0"/>
              <a:t>09/10/2025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86635FB-1ED8-4035-A1D0-E1FE2042D0F3}" type="slidenum">
              <a:rPr lang="pt-BR" smtClean="0"/>
              <a:t>‹nº›</a:t>
            </a:fld>
            <a:endParaRPr lang="pt-BR"/>
          </a:p>
        </p:txBody>
      </p:sp>
    </p:spTree>
    <p:extLst>
      <p:ext uri="{BB962C8B-B14F-4D97-AF65-F5344CB8AC3E}">
        <p14:creationId xmlns:p14="http://schemas.microsoft.com/office/powerpoint/2010/main" val="1462693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F6AE46FC-05F1-4E56-8287-A94ECB08D438}" type="datetimeFigureOut">
              <a:rPr lang="pt-BR" smtClean="0"/>
              <a:t>09/10/2025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86635FB-1ED8-4035-A1D0-E1FE2042D0F3}" type="slidenum">
              <a:rPr lang="pt-BR" smtClean="0"/>
              <a:t>‹nº›</a:t>
            </a:fld>
            <a:endParaRPr lang="pt-BR"/>
          </a:p>
        </p:txBody>
      </p:sp>
    </p:spTree>
    <p:extLst>
      <p:ext uri="{BB962C8B-B14F-4D97-AF65-F5344CB8AC3E}">
        <p14:creationId xmlns:p14="http://schemas.microsoft.com/office/powerpoint/2010/main" val="3297405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F6AE46FC-05F1-4E56-8287-A94ECB08D438}" type="datetimeFigureOut">
              <a:rPr lang="pt-BR" smtClean="0"/>
              <a:t>09/10/2025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86635FB-1ED8-4035-A1D0-E1FE2042D0F3}" type="slidenum">
              <a:rPr lang="pt-BR" smtClean="0"/>
              <a:t>‹nº›</a:t>
            </a:fld>
            <a:endParaRPr lang="pt-BR"/>
          </a:p>
        </p:txBody>
      </p:sp>
    </p:spTree>
    <p:extLst>
      <p:ext uri="{BB962C8B-B14F-4D97-AF65-F5344CB8AC3E}">
        <p14:creationId xmlns:p14="http://schemas.microsoft.com/office/powerpoint/2010/main" val="1243490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F6AE46FC-05F1-4E56-8287-A94ECB08D438}" type="datetimeFigureOut">
              <a:rPr lang="pt-BR" smtClean="0"/>
              <a:t>09/10/2025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86635FB-1ED8-4035-A1D0-E1FE2042D0F3}" type="slidenum">
              <a:rPr lang="pt-BR" smtClean="0"/>
              <a:t>‹nº›</a:t>
            </a:fld>
            <a:endParaRPr lang="pt-BR"/>
          </a:p>
        </p:txBody>
      </p:sp>
    </p:spTree>
    <p:extLst>
      <p:ext uri="{BB962C8B-B14F-4D97-AF65-F5344CB8AC3E}">
        <p14:creationId xmlns:p14="http://schemas.microsoft.com/office/powerpoint/2010/main" val="429333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AE46FC-05F1-4E56-8287-A94ECB08D438}" type="datetimeFigureOut">
              <a:rPr lang="pt-BR" smtClean="0"/>
              <a:t>09/10/2025</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6635FB-1ED8-4035-A1D0-E1FE2042D0F3}" type="slidenum">
              <a:rPr lang="pt-BR" smtClean="0"/>
              <a:t>‹nº›</a:t>
            </a:fld>
            <a:endParaRPr lang="pt-BR"/>
          </a:p>
        </p:txBody>
      </p:sp>
    </p:spTree>
    <p:extLst>
      <p:ext uri="{BB962C8B-B14F-4D97-AF65-F5344CB8AC3E}">
        <p14:creationId xmlns:p14="http://schemas.microsoft.com/office/powerpoint/2010/main" val="814522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tiff"/></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m 6"/>
          <p:cNvPicPr>
            <a:picLocks noChangeAspect="1"/>
          </p:cNvPicPr>
          <p:nvPr/>
        </p:nvPicPr>
        <p:blipFill>
          <a:blip r:embed="rId2"/>
          <a:stretch>
            <a:fillRect/>
          </a:stretch>
        </p:blipFill>
        <p:spPr>
          <a:xfrm>
            <a:off x="-1" y="0"/>
            <a:ext cx="12192001" cy="6881445"/>
          </a:xfrm>
          <a:prstGeom prst="rect">
            <a:avLst/>
          </a:prstGeom>
        </p:spPr>
      </p:pic>
      <p:sp>
        <p:nvSpPr>
          <p:cNvPr id="4" name="CaixaDeTexto 3"/>
          <p:cNvSpPr txBox="1"/>
          <p:nvPr/>
        </p:nvSpPr>
        <p:spPr>
          <a:xfrm>
            <a:off x="242229" y="979663"/>
            <a:ext cx="8646403" cy="1815882"/>
          </a:xfrm>
          <a:prstGeom prst="rect">
            <a:avLst/>
          </a:prstGeom>
          <a:noFill/>
        </p:spPr>
        <p:txBody>
          <a:bodyPr wrap="square" rtlCol="0">
            <a:spAutoFit/>
          </a:bodyPr>
          <a:lstStyle/>
          <a:p>
            <a:pPr algn="ctr"/>
            <a:r>
              <a:rPr lang="pt-BR" sz="4000" b="1" dirty="0">
                <a:solidFill>
                  <a:srgbClr val="FF0000"/>
                </a:solidFill>
              </a:rPr>
              <a:t>Curso de Formação Inicial e Continuada</a:t>
            </a:r>
          </a:p>
          <a:p>
            <a:pPr algn="ctr"/>
            <a:r>
              <a:rPr lang="pt-BR" sz="3600" b="1" dirty="0"/>
              <a:t>Programação em Python</a:t>
            </a:r>
          </a:p>
          <a:p>
            <a:pPr algn="ctr"/>
            <a:r>
              <a:rPr lang="pt-BR" sz="3600" dirty="0"/>
              <a:t>Aula 8 </a:t>
            </a:r>
          </a:p>
        </p:txBody>
      </p:sp>
      <p:pic>
        <p:nvPicPr>
          <p:cNvPr id="5" name="Imagem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00986" y="4575360"/>
            <a:ext cx="2571113" cy="1644139"/>
          </a:xfrm>
          <a:prstGeom prst="rect">
            <a:avLst/>
          </a:prstGeom>
        </p:spPr>
      </p:pic>
      <p:sp>
        <p:nvSpPr>
          <p:cNvPr id="6" name="CaixaDeTexto 5"/>
          <p:cNvSpPr txBox="1"/>
          <p:nvPr/>
        </p:nvSpPr>
        <p:spPr>
          <a:xfrm>
            <a:off x="-4911" y="6488668"/>
            <a:ext cx="12196911" cy="369332"/>
          </a:xfrm>
          <a:prstGeom prst="rect">
            <a:avLst/>
          </a:prstGeom>
          <a:solidFill>
            <a:schemeClr val="accent1">
              <a:lumMod val="75000"/>
            </a:schemeClr>
          </a:solidFill>
        </p:spPr>
        <p:txBody>
          <a:bodyPr wrap="square" rtlCol="0">
            <a:spAutoFit/>
          </a:bodyPr>
          <a:lstStyle/>
          <a:p>
            <a:pPr algn="ctr"/>
            <a:r>
              <a:rPr lang="pt-BR" dirty="0">
                <a:solidFill>
                  <a:schemeClr val="bg1"/>
                </a:solidFill>
                <a:latin typeface="+mn-lt"/>
              </a:rPr>
              <a:t>Rua Santo André, 680 – Boa Vista – São Caetano do Sul</a:t>
            </a:r>
          </a:p>
        </p:txBody>
      </p:sp>
      <p:pic>
        <p:nvPicPr>
          <p:cNvPr id="8" name="Imagem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0936" y="3868032"/>
            <a:ext cx="2272376" cy="947985"/>
          </a:xfrm>
          <a:prstGeom prst="rect">
            <a:avLst/>
          </a:prstGeom>
        </p:spPr>
      </p:pic>
    </p:spTree>
    <p:extLst>
      <p:ext uri="{BB962C8B-B14F-4D97-AF65-F5344CB8AC3E}">
        <p14:creationId xmlns:p14="http://schemas.microsoft.com/office/powerpoint/2010/main" val="2526531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upo 2"/>
          <p:cNvGrpSpPr/>
          <p:nvPr/>
        </p:nvGrpSpPr>
        <p:grpSpPr>
          <a:xfrm>
            <a:off x="0" y="0"/>
            <a:ext cx="12192000" cy="6870358"/>
            <a:chOff x="0" y="0"/>
            <a:chExt cx="12192000" cy="6870358"/>
          </a:xfrm>
        </p:grpSpPr>
        <p:pic>
          <p:nvPicPr>
            <p:cNvPr id="5" name="Imagem 4"/>
            <p:cNvPicPr>
              <a:picLocks noChangeAspect="1"/>
            </p:cNvPicPr>
            <p:nvPr/>
          </p:nvPicPr>
          <p:blipFill>
            <a:blip r:embed="rId2"/>
            <a:stretch>
              <a:fillRect/>
            </a:stretch>
          </p:blipFill>
          <p:spPr>
            <a:xfrm>
              <a:off x="0" y="0"/>
              <a:ext cx="12192000" cy="6870358"/>
            </a:xfrm>
            <a:prstGeom prst="rect">
              <a:avLst/>
            </a:prstGeom>
          </p:spPr>
        </p:pic>
        <p:sp>
          <p:nvSpPr>
            <p:cNvPr id="4" name="Retângulo 3"/>
            <p:cNvSpPr/>
            <p:nvPr/>
          </p:nvSpPr>
          <p:spPr>
            <a:xfrm>
              <a:off x="9995561" y="5567881"/>
              <a:ext cx="1909746" cy="4074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6" name="Imagem 5"/>
          <p:cNvPicPr>
            <a:picLocks noChangeAspect="1"/>
          </p:cNvPicPr>
          <p:nvPr/>
        </p:nvPicPr>
        <p:blipFill rotWithShape="1">
          <a:blip r:embed="rId3"/>
          <a:srcRect b="38508"/>
          <a:stretch/>
        </p:blipFill>
        <p:spPr>
          <a:xfrm>
            <a:off x="9995561" y="206091"/>
            <a:ext cx="1812506" cy="463145"/>
          </a:xfrm>
          <a:prstGeom prst="rect">
            <a:avLst/>
          </a:prstGeom>
        </p:spPr>
      </p:pic>
      <p:pic>
        <p:nvPicPr>
          <p:cNvPr id="7" name="Imagem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0130" y="47980"/>
            <a:ext cx="938710" cy="600273"/>
          </a:xfrm>
          <a:prstGeom prst="rect">
            <a:avLst/>
          </a:prstGeom>
        </p:spPr>
      </p:pic>
      <p:sp>
        <p:nvSpPr>
          <p:cNvPr id="15" name="Título 14"/>
          <p:cNvSpPr>
            <a:spLocks noGrp="1"/>
          </p:cNvSpPr>
          <p:nvPr>
            <p:ph type="title"/>
          </p:nvPr>
        </p:nvSpPr>
        <p:spPr>
          <a:xfrm>
            <a:off x="1676400" y="98006"/>
            <a:ext cx="8216537" cy="669236"/>
          </a:xfrm>
        </p:spPr>
        <p:txBody>
          <a:bodyPr>
            <a:noAutofit/>
          </a:bodyPr>
          <a:lstStyle/>
          <a:p>
            <a:pPr algn="ctr" fontAlgn="auto">
              <a:spcBef>
                <a:spcPts val="0"/>
              </a:spcBef>
              <a:spcAft>
                <a:spcPts val="0"/>
              </a:spcAft>
              <a:defRPr/>
            </a:pPr>
            <a:r>
              <a:rPr lang="pt-BR" sz="3600" dirty="0">
                <a:effectLst/>
                <a:latin typeface="Calibri" panose="020F0502020204030204" pitchFamily="34" charset="0"/>
                <a:ea typeface="Calibri" panose="020F0502020204030204" pitchFamily="34" charset="0"/>
                <a:cs typeface="Times New Roman" panose="02020603050405020304" pitchFamily="18" charset="0"/>
              </a:rPr>
              <a:t>FUNÇÕES</a:t>
            </a:r>
            <a:endParaRPr lang="pt-BR" sz="5400" b="1" dirty="0"/>
          </a:p>
        </p:txBody>
      </p:sp>
      <p:sp>
        <p:nvSpPr>
          <p:cNvPr id="14" name="Espaço Reservado para Conteúdo 13"/>
          <p:cNvSpPr>
            <a:spLocks noGrp="1"/>
          </p:cNvSpPr>
          <p:nvPr>
            <p:ph idx="1"/>
          </p:nvPr>
        </p:nvSpPr>
        <p:spPr>
          <a:xfrm>
            <a:off x="517371" y="875327"/>
            <a:ext cx="5796344" cy="5215431"/>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pt-BR" sz="2000" b="1" dirty="0"/>
              <a:t>O que é uma função? </a:t>
            </a:r>
          </a:p>
          <a:p>
            <a:pPr marL="0" marR="0" lvl="0" indent="0" algn="l" defTabSz="914400" rtl="0" eaLnBrk="0" fontAlgn="base" latinLnBrk="0" hangingPunct="0">
              <a:lnSpc>
                <a:spcPct val="100000"/>
              </a:lnSpc>
              <a:spcBef>
                <a:spcPct val="0"/>
              </a:spcBef>
              <a:spcAft>
                <a:spcPct val="0"/>
              </a:spcAft>
              <a:buClrTx/>
              <a:buSzTx/>
              <a:buFontTx/>
              <a:buNone/>
              <a:tabLst/>
            </a:pPr>
            <a:endParaRPr lang="pt-BR" sz="1400" dirty="0"/>
          </a:p>
          <a:p>
            <a:pPr marL="0" marR="0" lvl="0" indent="0" algn="l" defTabSz="914400" rtl="0" eaLnBrk="0" fontAlgn="base" latinLnBrk="0" hangingPunct="0">
              <a:lnSpc>
                <a:spcPct val="100000"/>
              </a:lnSpc>
              <a:spcBef>
                <a:spcPct val="0"/>
              </a:spcBef>
              <a:spcAft>
                <a:spcPct val="0"/>
              </a:spcAft>
              <a:buClrTx/>
              <a:buSzTx/>
              <a:buFontTx/>
              <a:buNone/>
              <a:tabLst/>
            </a:pPr>
            <a:r>
              <a:rPr lang="pt-BR" sz="1800" dirty="0"/>
              <a:t>Uma função é um </a:t>
            </a:r>
            <a:r>
              <a:rPr lang="pt-BR" sz="1800" b="1" dirty="0"/>
              <a:t>bloco de código reutilizável</a:t>
            </a:r>
            <a:r>
              <a:rPr lang="pt-BR" sz="1800" dirty="0"/>
              <a:t> que executa uma tarefa específica. Podemos definir como uma biblioteca de instruções, onde dentro dela existem varias ações que podem ser executadas sempre que exista um problema comum as instruções desta biblioteca.</a:t>
            </a:r>
            <a:r>
              <a:rPr lang="pt-BR" sz="1200" b="1" dirty="0"/>
              <a:t> </a:t>
            </a:r>
          </a:p>
          <a:p>
            <a:pPr marL="0" marR="0" lvl="0" indent="0" algn="l" defTabSz="914400" rtl="0" eaLnBrk="0" fontAlgn="base" latinLnBrk="0" hangingPunct="0">
              <a:lnSpc>
                <a:spcPct val="100000"/>
              </a:lnSpc>
              <a:spcBef>
                <a:spcPct val="0"/>
              </a:spcBef>
              <a:spcAft>
                <a:spcPct val="0"/>
              </a:spcAft>
              <a:buClrTx/>
              <a:buSzTx/>
              <a:buFontTx/>
              <a:buNone/>
              <a:tabLst/>
            </a:pPr>
            <a:endParaRPr lang="pt-BR" sz="1200" b="1" dirty="0"/>
          </a:p>
          <a:p>
            <a:pPr marL="0" marR="0" lvl="0" indent="0" algn="l" defTabSz="914400" rtl="0" eaLnBrk="0" fontAlgn="base" latinLnBrk="0" hangingPunct="0">
              <a:lnSpc>
                <a:spcPct val="100000"/>
              </a:lnSpc>
              <a:spcBef>
                <a:spcPct val="0"/>
              </a:spcBef>
              <a:spcAft>
                <a:spcPct val="0"/>
              </a:spcAft>
              <a:buClrTx/>
              <a:buSzTx/>
              <a:buFontTx/>
              <a:buNone/>
              <a:tabLst/>
            </a:pPr>
            <a:r>
              <a:rPr lang="pt-BR" sz="1800" b="1" dirty="0"/>
              <a:t>Sintaxe básica em </a:t>
            </a:r>
            <a:r>
              <a:rPr lang="pt-BR" sz="1800" b="1" dirty="0" err="1"/>
              <a:t>python</a:t>
            </a:r>
            <a:r>
              <a:rPr lang="pt-BR" sz="1800" dirty="0"/>
              <a:t>:</a:t>
            </a:r>
          </a:p>
          <a:p>
            <a:pPr marL="0" marR="0" lvl="0" indent="0" algn="l" defTabSz="914400" rtl="0" eaLnBrk="0" fontAlgn="base" latinLnBrk="0" hangingPunct="0">
              <a:lnSpc>
                <a:spcPct val="100000"/>
              </a:lnSpc>
              <a:spcBef>
                <a:spcPct val="0"/>
              </a:spcBef>
              <a:spcAft>
                <a:spcPct val="0"/>
              </a:spcAft>
              <a:buClrTx/>
              <a:buSzTx/>
              <a:buFontTx/>
              <a:buNone/>
              <a:tabLst/>
            </a:pPr>
            <a:endParaRPr lang="pt-BR" sz="1800" dirty="0"/>
          </a:p>
          <a:p>
            <a:pPr marL="0" marR="0" lvl="0" indent="0" algn="l" defTabSz="914400" rtl="0" eaLnBrk="0" fontAlgn="base" latinLnBrk="0" hangingPunct="0">
              <a:lnSpc>
                <a:spcPct val="100000"/>
              </a:lnSpc>
              <a:spcBef>
                <a:spcPct val="0"/>
              </a:spcBef>
              <a:spcAft>
                <a:spcPct val="0"/>
              </a:spcAft>
              <a:buClrTx/>
              <a:buSzTx/>
              <a:buFontTx/>
              <a:buNone/>
              <a:tabLst/>
            </a:pPr>
            <a:r>
              <a:rPr lang="pt-BR" sz="1800" b="1" dirty="0" err="1">
                <a:solidFill>
                  <a:srgbClr val="00B0F0"/>
                </a:solidFill>
              </a:rPr>
              <a:t>def</a:t>
            </a:r>
            <a:r>
              <a:rPr lang="pt-BR" sz="1800" dirty="0"/>
              <a:t> </a:t>
            </a:r>
            <a:r>
              <a:rPr lang="pt-BR" sz="1800" dirty="0" err="1"/>
              <a:t>nome_da_funcao</a:t>
            </a:r>
            <a:r>
              <a:rPr lang="pt-BR" sz="1800" b="1" dirty="0"/>
              <a:t>()</a:t>
            </a:r>
            <a:r>
              <a:rPr lang="pt-BR" sz="1800" dirty="0"/>
              <a:t>:</a:t>
            </a:r>
          </a:p>
          <a:p>
            <a:pPr marL="0" marR="0" lvl="0" indent="0" algn="l" defTabSz="914400" rtl="0" eaLnBrk="0" fontAlgn="base" latinLnBrk="0" hangingPunct="0">
              <a:lnSpc>
                <a:spcPct val="100000"/>
              </a:lnSpc>
              <a:spcBef>
                <a:spcPct val="0"/>
              </a:spcBef>
              <a:spcAft>
                <a:spcPct val="0"/>
              </a:spcAft>
              <a:buClrTx/>
              <a:buSzTx/>
              <a:buFontTx/>
              <a:buNone/>
              <a:tabLst/>
            </a:pPr>
            <a:r>
              <a:rPr lang="pt-BR" sz="1800" dirty="0"/>
              <a:t>    </a:t>
            </a:r>
            <a:r>
              <a:rPr lang="pt-BR" sz="1800" dirty="0">
                <a:solidFill>
                  <a:srgbClr val="00B050"/>
                </a:solidFill>
              </a:rPr>
              <a:t># bloco de código</a:t>
            </a:r>
          </a:p>
          <a:p>
            <a:pPr marL="0" marR="0" lvl="0" indent="0" algn="l" defTabSz="914400" rtl="0" eaLnBrk="0" fontAlgn="base" latinLnBrk="0" hangingPunct="0">
              <a:lnSpc>
                <a:spcPct val="100000"/>
              </a:lnSpc>
              <a:spcBef>
                <a:spcPct val="0"/>
              </a:spcBef>
              <a:spcAft>
                <a:spcPct val="0"/>
              </a:spcAft>
              <a:buClrTx/>
              <a:buSzTx/>
              <a:buFontTx/>
              <a:buNone/>
              <a:tabLst/>
            </a:pPr>
            <a:br>
              <a:rPr lang="pt-BR" sz="1800" dirty="0"/>
            </a:br>
            <a:r>
              <a:rPr lang="pt-BR" sz="1800" dirty="0">
                <a:solidFill>
                  <a:srgbClr val="00B050"/>
                </a:solidFill>
              </a:rPr>
              <a:t>#você “chama” a função para que ela seja executada. </a:t>
            </a:r>
          </a:p>
          <a:p>
            <a:pPr marL="0" marR="0" lvl="0" indent="0" algn="l" defTabSz="914400" rtl="0" eaLnBrk="0" fontAlgn="base" latinLnBrk="0" hangingPunct="0">
              <a:lnSpc>
                <a:spcPct val="100000"/>
              </a:lnSpc>
              <a:spcBef>
                <a:spcPct val="0"/>
              </a:spcBef>
              <a:spcAft>
                <a:spcPct val="0"/>
              </a:spcAft>
              <a:buClrTx/>
              <a:buSzTx/>
              <a:buFontTx/>
              <a:buNone/>
              <a:tabLst/>
            </a:pPr>
            <a:r>
              <a:rPr lang="pt-BR" sz="1800" dirty="0" err="1"/>
              <a:t>nome_da_funçao</a:t>
            </a:r>
            <a:r>
              <a:rPr lang="pt-BR" sz="1800" dirty="0"/>
              <a:t>()</a:t>
            </a:r>
          </a:p>
          <a:p>
            <a:pPr marL="0" marR="0" lvl="0" indent="0" algn="l" defTabSz="914400" rtl="0" eaLnBrk="0" fontAlgn="base" latinLnBrk="0" hangingPunct="0">
              <a:lnSpc>
                <a:spcPct val="100000"/>
              </a:lnSpc>
              <a:spcBef>
                <a:spcPct val="0"/>
              </a:spcBef>
              <a:spcAft>
                <a:spcPct val="0"/>
              </a:spcAft>
              <a:buClrTx/>
              <a:buSzTx/>
              <a:buFontTx/>
              <a:buNone/>
              <a:tabLst/>
            </a:pPr>
            <a:endParaRPr lang="pt-BR" sz="1800" dirty="0"/>
          </a:p>
        </p:txBody>
      </p:sp>
      <p:sp>
        <p:nvSpPr>
          <p:cNvPr id="9" name="Espaço Reservado para Conteúdo 13">
            <a:extLst>
              <a:ext uri="{FF2B5EF4-FFF2-40B4-BE49-F238E27FC236}">
                <a16:creationId xmlns:a16="http://schemas.microsoft.com/office/drawing/2014/main" id="{C1F12C75-56A4-DDE5-E503-C3F7738E9390}"/>
              </a:ext>
            </a:extLst>
          </p:cNvPr>
          <p:cNvSpPr txBox="1">
            <a:spLocks/>
          </p:cNvSpPr>
          <p:nvPr/>
        </p:nvSpPr>
        <p:spPr>
          <a:xfrm>
            <a:off x="6313715" y="767242"/>
            <a:ext cx="5796344" cy="5215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pt-BR" b="1" dirty="0">
              <a:solidFill>
                <a:schemeClr val="tx1">
                  <a:lumMod val="95000"/>
                  <a:lumOff val="5000"/>
                </a:schemeClr>
              </a:solidFill>
              <a:latin typeface="Agency FB" panose="020B0503020202020204" pitchFamily="34" charset="0"/>
            </a:endParaRPr>
          </a:p>
        </p:txBody>
      </p:sp>
      <p:sp>
        <p:nvSpPr>
          <p:cNvPr id="38" name="Espaço Reservado para Conteúdo 13">
            <a:extLst>
              <a:ext uri="{FF2B5EF4-FFF2-40B4-BE49-F238E27FC236}">
                <a16:creationId xmlns:a16="http://schemas.microsoft.com/office/drawing/2014/main" id="{622A14B8-3B82-1846-4517-0EEAA4F09E45}"/>
              </a:ext>
            </a:extLst>
          </p:cNvPr>
          <p:cNvSpPr txBox="1">
            <a:spLocks/>
          </p:cNvSpPr>
          <p:nvPr/>
        </p:nvSpPr>
        <p:spPr>
          <a:xfrm>
            <a:off x="6231774" y="865248"/>
            <a:ext cx="5796344" cy="5215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pt-BR" sz="1800" dirty="0"/>
              <a:t>Exemplo:</a:t>
            </a:r>
          </a:p>
          <a:p>
            <a:pPr marL="0" indent="0" eaLnBrk="0" fontAlgn="base" hangingPunct="0">
              <a:lnSpc>
                <a:spcPct val="100000"/>
              </a:lnSpc>
              <a:spcBef>
                <a:spcPct val="0"/>
              </a:spcBef>
              <a:spcAft>
                <a:spcPct val="0"/>
              </a:spcAft>
              <a:buFontTx/>
              <a:buNone/>
            </a:pPr>
            <a:endParaRPr lang="pt-BR" sz="1800" dirty="0"/>
          </a:p>
          <a:p>
            <a:pPr marL="0" indent="0" eaLnBrk="0" fontAlgn="base" hangingPunct="0">
              <a:lnSpc>
                <a:spcPct val="100000"/>
              </a:lnSpc>
              <a:spcBef>
                <a:spcPct val="0"/>
              </a:spcBef>
              <a:spcAft>
                <a:spcPct val="0"/>
              </a:spcAft>
              <a:buFontTx/>
              <a:buNone/>
            </a:pPr>
            <a:r>
              <a:rPr lang="pt-BR" sz="1800" dirty="0"/>
              <a:t>Pense em um liquidificador. você coloca ingredientes (argumentos), aperta o botão (chama a função) e ele devolve um suco (retorno).</a:t>
            </a:r>
          </a:p>
          <a:p>
            <a:pPr marL="0" indent="0" eaLnBrk="0" fontAlgn="base" hangingPunct="0">
              <a:lnSpc>
                <a:spcPct val="100000"/>
              </a:lnSpc>
              <a:spcBef>
                <a:spcPct val="0"/>
              </a:spcBef>
              <a:spcAft>
                <a:spcPct val="0"/>
              </a:spcAft>
              <a:buFontTx/>
              <a:buNone/>
            </a:pPr>
            <a:endParaRPr lang="pt-BR" sz="1800" dirty="0"/>
          </a:p>
          <a:p>
            <a:pPr marL="0" indent="0" eaLnBrk="0" fontAlgn="base" hangingPunct="0">
              <a:lnSpc>
                <a:spcPct val="100000"/>
              </a:lnSpc>
              <a:spcBef>
                <a:spcPct val="0"/>
              </a:spcBef>
              <a:spcAft>
                <a:spcPct val="0"/>
              </a:spcAft>
              <a:buFontTx/>
              <a:buNone/>
            </a:pPr>
            <a:r>
              <a:rPr lang="pt-BR" sz="1800" dirty="0">
                <a:solidFill>
                  <a:schemeClr val="tx1">
                    <a:lumMod val="95000"/>
                    <a:lumOff val="5000"/>
                  </a:schemeClr>
                </a:solidFill>
                <a:latin typeface="Arial Nova" panose="020F0502020204030204" pitchFamily="34" charset="0"/>
              </a:rPr>
              <a:t>As funções possuem 2 etapas:</a:t>
            </a:r>
          </a:p>
          <a:p>
            <a:pPr marL="0" indent="0" eaLnBrk="0" fontAlgn="base" hangingPunct="0">
              <a:lnSpc>
                <a:spcPct val="100000"/>
              </a:lnSpc>
              <a:spcBef>
                <a:spcPct val="0"/>
              </a:spcBef>
              <a:spcAft>
                <a:spcPct val="0"/>
              </a:spcAft>
              <a:buFontTx/>
              <a:buNone/>
            </a:pPr>
            <a:endParaRPr lang="pt-BR" sz="1800" dirty="0">
              <a:solidFill>
                <a:schemeClr val="tx1">
                  <a:lumMod val="95000"/>
                  <a:lumOff val="5000"/>
                </a:schemeClr>
              </a:solidFill>
              <a:latin typeface="Arial Nova" panose="020F0502020204030204" pitchFamily="34" charset="0"/>
            </a:endParaRPr>
          </a:p>
          <a:p>
            <a:pPr marL="0" indent="0" eaLnBrk="0" fontAlgn="base" hangingPunct="0">
              <a:lnSpc>
                <a:spcPct val="100000"/>
              </a:lnSpc>
              <a:spcBef>
                <a:spcPct val="0"/>
              </a:spcBef>
              <a:spcAft>
                <a:spcPct val="0"/>
              </a:spcAft>
              <a:buFontTx/>
              <a:buNone/>
            </a:pPr>
            <a:r>
              <a:rPr lang="pt-BR" sz="1800" b="1" dirty="0">
                <a:solidFill>
                  <a:schemeClr val="tx1">
                    <a:lumMod val="95000"/>
                    <a:lumOff val="5000"/>
                  </a:schemeClr>
                </a:solidFill>
                <a:latin typeface="Arial Nova" panose="020F0502020204030204" pitchFamily="34" charset="0"/>
              </a:rPr>
              <a:t>A criação </a:t>
            </a:r>
            <a:r>
              <a:rPr lang="pt-BR" sz="1800" dirty="0">
                <a:solidFill>
                  <a:schemeClr val="tx1">
                    <a:lumMod val="95000"/>
                    <a:lumOff val="5000"/>
                  </a:schemeClr>
                </a:solidFill>
                <a:latin typeface="Arial Nova" panose="020F0502020204030204" pitchFamily="34" charset="0"/>
              </a:rPr>
              <a:t>– quando você define o conjunto de instruções e parâmetros necessários;</a:t>
            </a:r>
          </a:p>
          <a:p>
            <a:pPr marL="0" indent="0" eaLnBrk="0" fontAlgn="base" hangingPunct="0">
              <a:lnSpc>
                <a:spcPct val="100000"/>
              </a:lnSpc>
              <a:spcBef>
                <a:spcPct val="0"/>
              </a:spcBef>
              <a:spcAft>
                <a:spcPct val="0"/>
              </a:spcAft>
              <a:buFontTx/>
              <a:buNone/>
            </a:pPr>
            <a:endParaRPr lang="pt-BR" sz="1800" dirty="0">
              <a:solidFill>
                <a:schemeClr val="tx1">
                  <a:lumMod val="95000"/>
                  <a:lumOff val="5000"/>
                </a:schemeClr>
              </a:solidFill>
              <a:latin typeface="Arial Nova" panose="020F0502020204030204" pitchFamily="34" charset="0"/>
            </a:endParaRPr>
          </a:p>
          <a:p>
            <a:pPr marL="0" indent="0" eaLnBrk="0" fontAlgn="base" hangingPunct="0">
              <a:lnSpc>
                <a:spcPct val="100000"/>
              </a:lnSpc>
              <a:spcBef>
                <a:spcPct val="0"/>
              </a:spcBef>
              <a:spcAft>
                <a:spcPct val="0"/>
              </a:spcAft>
              <a:buFontTx/>
              <a:buNone/>
            </a:pPr>
            <a:r>
              <a:rPr lang="pt-BR" sz="1800" b="1" dirty="0">
                <a:solidFill>
                  <a:schemeClr val="tx1">
                    <a:lumMod val="95000"/>
                    <a:lumOff val="5000"/>
                  </a:schemeClr>
                </a:solidFill>
                <a:latin typeface="Arial Nova" panose="020F0502020204030204" pitchFamily="34" charset="0"/>
              </a:rPr>
              <a:t>A chamada </a:t>
            </a:r>
            <a:r>
              <a:rPr lang="pt-BR" sz="1800" dirty="0">
                <a:solidFill>
                  <a:schemeClr val="tx1">
                    <a:lumMod val="95000"/>
                    <a:lumOff val="5000"/>
                  </a:schemeClr>
                </a:solidFill>
                <a:latin typeface="Arial Nova" panose="020F0502020204030204" pitchFamily="34" charset="0"/>
              </a:rPr>
              <a:t>– quando você invoca a função para realizar tarefas pré-definidas.</a:t>
            </a:r>
          </a:p>
        </p:txBody>
      </p:sp>
    </p:spTree>
    <p:extLst>
      <p:ext uri="{BB962C8B-B14F-4D97-AF65-F5344CB8AC3E}">
        <p14:creationId xmlns:p14="http://schemas.microsoft.com/office/powerpoint/2010/main" val="442044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2F91D-ABAF-72DA-284E-125C9872831E}"/>
            </a:ext>
          </a:extLst>
        </p:cNvPr>
        <p:cNvGrpSpPr/>
        <p:nvPr/>
      </p:nvGrpSpPr>
      <p:grpSpPr>
        <a:xfrm>
          <a:off x="0" y="0"/>
          <a:ext cx="0" cy="0"/>
          <a:chOff x="0" y="0"/>
          <a:chExt cx="0" cy="0"/>
        </a:xfrm>
      </p:grpSpPr>
      <p:grpSp>
        <p:nvGrpSpPr>
          <p:cNvPr id="3" name="Grupo 2">
            <a:extLst>
              <a:ext uri="{FF2B5EF4-FFF2-40B4-BE49-F238E27FC236}">
                <a16:creationId xmlns:a16="http://schemas.microsoft.com/office/drawing/2014/main" id="{DA87510E-7E2A-7BFF-9FBA-C1BEF0209E24}"/>
              </a:ext>
            </a:extLst>
          </p:cNvPr>
          <p:cNvGrpSpPr/>
          <p:nvPr/>
        </p:nvGrpSpPr>
        <p:grpSpPr>
          <a:xfrm>
            <a:off x="0" y="0"/>
            <a:ext cx="12192000" cy="6870358"/>
            <a:chOff x="0" y="0"/>
            <a:chExt cx="12192000" cy="6870358"/>
          </a:xfrm>
        </p:grpSpPr>
        <p:pic>
          <p:nvPicPr>
            <p:cNvPr id="5" name="Imagem 4">
              <a:extLst>
                <a:ext uri="{FF2B5EF4-FFF2-40B4-BE49-F238E27FC236}">
                  <a16:creationId xmlns:a16="http://schemas.microsoft.com/office/drawing/2014/main" id="{768FC9E6-5FCF-D4B5-B3FF-8EED61F91720}"/>
                </a:ext>
              </a:extLst>
            </p:cNvPr>
            <p:cNvPicPr>
              <a:picLocks noChangeAspect="1"/>
            </p:cNvPicPr>
            <p:nvPr/>
          </p:nvPicPr>
          <p:blipFill>
            <a:blip r:embed="rId2"/>
            <a:stretch>
              <a:fillRect/>
            </a:stretch>
          </p:blipFill>
          <p:spPr>
            <a:xfrm>
              <a:off x="0" y="0"/>
              <a:ext cx="12192000" cy="6870358"/>
            </a:xfrm>
            <a:prstGeom prst="rect">
              <a:avLst/>
            </a:prstGeom>
          </p:spPr>
        </p:pic>
        <p:sp>
          <p:nvSpPr>
            <p:cNvPr id="4" name="Retângulo 3">
              <a:extLst>
                <a:ext uri="{FF2B5EF4-FFF2-40B4-BE49-F238E27FC236}">
                  <a16:creationId xmlns:a16="http://schemas.microsoft.com/office/drawing/2014/main" id="{FF491276-86FC-7879-CCD9-BC413497D747}"/>
                </a:ext>
              </a:extLst>
            </p:cNvPr>
            <p:cNvSpPr/>
            <p:nvPr/>
          </p:nvSpPr>
          <p:spPr>
            <a:xfrm>
              <a:off x="9995561" y="5567881"/>
              <a:ext cx="1909746" cy="4074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6" name="Imagem 5">
            <a:extLst>
              <a:ext uri="{FF2B5EF4-FFF2-40B4-BE49-F238E27FC236}">
                <a16:creationId xmlns:a16="http://schemas.microsoft.com/office/drawing/2014/main" id="{F2B5437B-F0EF-108F-EA00-730D4D1CD2E4}"/>
              </a:ext>
            </a:extLst>
          </p:cNvPr>
          <p:cNvPicPr>
            <a:picLocks noChangeAspect="1"/>
          </p:cNvPicPr>
          <p:nvPr/>
        </p:nvPicPr>
        <p:blipFill rotWithShape="1">
          <a:blip r:embed="rId3"/>
          <a:srcRect b="38508"/>
          <a:stretch/>
        </p:blipFill>
        <p:spPr>
          <a:xfrm>
            <a:off x="9995561" y="206091"/>
            <a:ext cx="1812506" cy="463145"/>
          </a:xfrm>
          <a:prstGeom prst="rect">
            <a:avLst/>
          </a:prstGeom>
        </p:spPr>
      </p:pic>
      <p:pic>
        <p:nvPicPr>
          <p:cNvPr id="7" name="Imagem 6">
            <a:extLst>
              <a:ext uri="{FF2B5EF4-FFF2-40B4-BE49-F238E27FC236}">
                <a16:creationId xmlns:a16="http://schemas.microsoft.com/office/drawing/2014/main" id="{785D10D7-2E1F-4752-838F-11698225E9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0130" y="47980"/>
            <a:ext cx="938710" cy="600273"/>
          </a:xfrm>
          <a:prstGeom prst="rect">
            <a:avLst/>
          </a:prstGeom>
        </p:spPr>
      </p:pic>
      <p:sp>
        <p:nvSpPr>
          <p:cNvPr id="15" name="Título 14">
            <a:extLst>
              <a:ext uri="{FF2B5EF4-FFF2-40B4-BE49-F238E27FC236}">
                <a16:creationId xmlns:a16="http://schemas.microsoft.com/office/drawing/2014/main" id="{38897E26-2334-4398-A85C-BA387B7E29EC}"/>
              </a:ext>
            </a:extLst>
          </p:cNvPr>
          <p:cNvSpPr>
            <a:spLocks noGrp="1"/>
          </p:cNvSpPr>
          <p:nvPr>
            <p:ph type="title"/>
          </p:nvPr>
        </p:nvSpPr>
        <p:spPr>
          <a:xfrm>
            <a:off x="1676400" y="98006"/>
            <a:ext cx="8216537" cy="669236"/>
          </a:xfrm>
        </p:spPr>
        <p:txBody>
          <a:bodyPr>
            <a:noAutofit/>
          </a:bodyPr>
          <a:lstStyle/>
          <a:p>
            <a:pPr algn="ctr" fontAlgn="auto">
              <a:spcBef>
                <a:spcPts val="0"/>
              </a:spcBef>
              <a:spcAft>
                <a:spcPts val="0"/>
              </a:spcAft>
              <a:defRPr/>
            </a:pPr>
            <a:r>
              <a:rPr lang="pt-BR" sz="3600" dirty="0">
                <a:effectLst/>
                <a:latin typeface="Calibri" panose="020F0502020204030204" pitchFamily="34" charset="0"/>
                <a:ea typeface="Calibri" panose="020F0502020204030204" pitchFamily="34" charset="0"/>
                <a:cs typeface="Times New Roman" panose="02020603050405020304" pitchFamily="18" charset="0"/>
              </a:rPr>
              <a:t>FUNÇÕES</a:t>
            </a:r>
            <a:endParaRPr lang="pt-BR" sz="5400" b="1" dirty="0"/>
          </a:p>
        </p:txBody>
      </p:sp>
      <p:sp>
        <p:nvSpPr>
          <p:cNvPr id="14" name="Espaço Reservado para Conteúdo 13">
            <a:extLst>
              <a:ext uri="{FF2B5EF4-FFF2-40B4-BE49-F238E27FC236}">
                <a16:creationId xmlns:a16="http://schemas.microsoft.com/office/drawing/2014/main" id="{9FB90A20-A339-2044-D8C2-F6EFEF0E6FCC}"/>
              </a:ext>
            </a:extLst>
          </p:cNvPr>
          <p:cNvSpPr>
            <a:spLocks noGrp="1"/>
          </p:cNvSpPr>
          <p:nvPr>
            <p:ph idx="1"/>
          </p:nvPr>
        </p:nvSpPr>
        <p:spPr>
          <a:xfrm>
            <a:off x="517371" y="875327"/>
            <a:ext cx="11290696" cy="5215431"/>
          </a:xfrm>
        </p:spPr>
        <p:txBody>
          <a:bodyPr>
            <a:normAutofit/>
          </a:bodyPr>
          <a:lstStyle/>
          <a:p>
            <a:pPr>
              <a:buNone/>
            </a:pPr>
            <a:r>
              <a:rPr lang="pt-BR" sz="2000" b="1" dirty="0"/>
              <a:t>Funções sem argumento e sem retorno</a:t>
            </a:r>
          </a:p>
          <a:p>
            <a:pPr marL="0" indent="0">
              <a:buNone/>
            </a:pPr>
            <a:r>
              <a:rPr lang="pt-BR" sz="1800" dirty="0"/>
              <a:t>São usadas quando a função não precisa de informações externas e não devolve resultado. </a:t>
            </a:r>
          </a:p>
          <a:p>
            <a:pPr marL="0" indent="0">
              <a:buNone/>
            </a:pPr>
            <a:endParaRPr lang="pt-BR" sz="1800" dirty="0"/>
          </a:p>
          <a:p>
            <a:pPr marL="0" indent="0">
              <a:buNone/>
            </a:pPr>
            <a:r>
              <a:rPr lang="pt-BR" sz="1800" dirty="0"/>
              <a:t>Exemplo:</a:t>
            </a:r>
          </a:p>
          <a:p>
            <a:pPr marL="0" indent="0">
              <a:buNone/>
            </a:pPr>
            <a:endParaRPr lang="pt-BR" sz="1800" dirty="0"/>
          </a:p>
          <a:p>
            <a:pPr marL="0" indent="0">
              <a:buNone/>
            </a:pPr>
            <a:r>
              <a:rPr lang="pt-BR" sz="1800" dirty="0"/>
              <a:t># Criando a função</a:t>
            </a:r>
          </a:p>
          <a:p>
            <a:pPr marL="0" indent="0">
              <a:buNone/>
            </a:pPr>
            <a:r>
              <a:rPr lang="pt-BR" sz="1800" dirty="0" err="1"/>
              <a:t>def</a:t>
            </a:r>
            <a:r>
              <a:rPr lang="pt-BR" sz="1800" dirty="0"/>
              <a:t> </a:t>
            </a:r>
            <a:r>
              <a:rPr lang="pt-BR" sz="1800" dirty="0" err="1"/>
              <a:t>boas_vindas</a:t>
            </a:r>
            <a:r>
              <a:rPr lang="pt-BR" sz="1800" dirty="0"/>
              <a:t>():</a:t>
            </a:r>
          </a:p>
          <a:p>
            <a:pPr marL="0" indent="0">
              <a:buNone/>
            </a:pPr>
            <a:r>
              <a:rPr lang="pt-BR" sz="1800" dirty="0"/>
              <a:t>    print("Olá! Seja bem-vindo ao curso de Python!")</a:t>
            </a:r>
          </a:p>
          <a:p>
            <a:pPr marL="0" indent="0">
              <a:buNone/>
            </a:pPr>
            <a:endParaRPr lang="pt-BR" sz="1800" dirty="0"/>
          </a:p>
          <a:p>
            <a:pPr marL="0" indent="0">
              <a:buNone/>
            </a:pPr>
            <a:r>
              <a:rPr lang="pt-BR" sz="1800" dirty="0"/>
              <a:t># Chamando a função</a:t>
            </a:r>
          </a:p>
          <a:p>
            <a:pPr marL="0" indent="0">
              <a:buNone/>
            </a:pPr>
            <a:r>
              <a:rPr lang="pt-BR" sz="1800" dirty="0" err="1"/>
              <a:t>boas_vindas</a:t>
            </a:r>
            <a:r>
              <a:rPr lang="pt-BR" sz="1800" dirty="0"/>
              <a:t>()</a:t>
            </a:r>
          </a:p>
          <a:p>
            <a:pPr marL="0" marR="0" lvl="0" indent="0" algn="l" defTabSz="914400" rtl="0" eaLnBrk="0" fontAlgn="base" latinLnBrk="0" hangingPunct="0">
              <a:lnSpc>
                <a:spcPct val="100000"/>
              </a:lnSpc>
              <a:spcBef>
                <a:spcPct val="0"/>
              </a:spcBef>
              <a:spcAft>
                <a:spcPct val="0"/>
              </a:spcAft>
              <a:buClrTx/>
              <a:buSzTx/>
              <a:buFontTx/>
              <a:buNone/>
              <a:tabLst/>
            </a:pPr>
            <a:endParaRPr lang="pt-BR" sz="2000" b="1" dirty="0"/>
          </a:p>
          <a:p>
            <a:pPr marL="0" marR="0" lvl="0" indent="0" algn="l" defTabSz="914400" rtl="0" eaLnBrk="0" fontAlgn="base" latinLnBrk="0" hangingPunct="0">
              <a:lnSpc>
                <a:spcPct val="100000"/>
              </a:lnSpc>
              <a:spcBef>
                <a:spcPct val="0"/>
              </a:spcBef>
              <a:spcAft>
                <a:spcPct val="0"/>
              </a:spcAft>
              <a:buClrTx/>
              <a:buSzTx/>
              <a:buFontTx/>
              <a:buNone/>
              <a:tabLst/>
            </a:pPr>
            <a:endParaRPr lang="pt-BR" sz="1400" dirty="0"/>
          </a:p>
          <a:p>
            <a:pPr marL="0" marR="0" lvl="0" indent="0" algn="l" defTabSz="914400" rtl="0" eaLnBrk="0" fontAlgn="base" latinLnBrk="0" hangingPunct="0">
              <a:lnSpc>
                <a:spcPct val="100000"/>
              </a:lnSpc>
              <a:spcBef>
                <a:spcPct val="0"/>
              </a:spcBef>
              <a:spcAft>
                <a:spcPct val="0"/>
              </a:spcAft>
              <a:buClrTx/>
              <a:buSzTx/>
              <a:buFontTx/>
              <a:buNone/>
              <a:tabLst/>
            </a:pPr>
            <a:endParaRPr lang="pt-BR" sz="1800" dirty="0"/>
          </a:p>
        </p:txBody>
      </p:sp>
      <p:sp>
        <p:nvSpPr>
          <p:cNvPr id="9" name="Espaço Reservado para Conteúdo 13">
            <a:extLst>
              <a:ext uri="{FF2B5EF4-FFF2-40B4-BE49-F238E27FC236}">
                <a16:creationId xmlns:a16="http://schemas.microsoft.com/office/drawing/2014/main" id="{970CF10A-CCCD-4485-00D7-EFA2A8CECF99}"/>
              </a:ext>
            </a:extLst>
          </p:cNvPr>
          <p:cNvSpPr txBox="1">
            <a:spLocks/>
          </p:cNvSpPr>
          <p:nvPr/>
        </p:nvSpPr>
        <p:spPr>
          <a:xfrm>
            <a:off x="6313715" y="767242"/>
            <a:ext cx="5796344" cy="5215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pt-BR" b="1" dirty="0">
              <a:solidFill>
                <a:schemeClr val="tx1">
                  <a:lumMod val="95000"/>
                  <a:lumOff val="5000"/>
                </a:schemeClr>
              </a:solidFill>
              <a:latin typeface="Agency FB" panose="020B0503020202020204" pitchFamily="34" charset="0"/>
            </a:endParaRPr>
          </a:p>
        </p:txBody>
      </p:sp>
      <p:sp>
        <p:nvSpPr>
          <p:cNvPr id="38" name="Espaço Reservado para Conteúdo 13">
            <a:extLst>
              <a:ext uri="{FF2B5EF4-FFF2-40B4-BE49-F238E27FC236}">
                <a16:creationId xmlns:a16="http://schemas.microsoft.com/office/drawing/2014/main" id="{92788009-78C7-26F8-EE69-189E3E3598B7}"/>
              </a:ext>
            </a:extLst>
          </p:cNvPr>
          <p:cNvSpPr txBox="1">
            <a:spLocks/>
          </p:cNvSpPr>
          <p:nvPr/>
        </p:nvSpPr>
        <p:spPr>
          <a:xfrm>
            <a:off x="6231774" y="865248"/>
            <a:ext cx="5796344" cy="5215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pt-BR" sz="1800" dirty="0"/>
              <a:t>´</a:t>
            </a:r>
            <a:endParaRPr lang="pt-BR" sz="1800" dirty="0">
              <a:solidFill>
                <a:schemeClr val="tx1">
                  <a:lumMod val="95000"/>
                  <a:lumOff val="5000"/>
                </a:schemeClr>
              </a:solidFill>
              <a:latin typeface="Arial Nova" panose="020F0502020204030204" pitchFamily="34" charset="0"/>
            </a:endParaRPr>
          </a:p>
        </p:txBody>
      </p:sp>
    </p:spTree>
    <p:extLst>
      <p:ext uri="{BB962C8B-B14F-4D97-AF65-F5344CB8AC3E}">
        <p14:creationId xmlns:p14="http://schemas.microsoft.com/office/powerpoint/2010/main" val="913031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3E2BA-43BB-FEE7-1E6B-2FC8057121FB}"/>
            </a:ext>
          </a:extLst>
        </p:cNvPr>
        <p:cNvGrpSpPr/>
        <p:nvPr/>
      </p:nvGrpSpPr>
      <p:grpSpPr>
        <a:xfrm>
          <a:off x="0" y="0"/>
          <a:ext cx="0" cy="0"/>
          <a:chOff x="0" y="0"/>
          <a:chExt cx="0" cy="0"/>
        </a:xfrm>
      </p:grpSpPr>
      <p:grpSp>
        <p:nvGrpSpPr>
          <p:cNvPr id="3" name="Grupo 2">
            <a:extLst>
              <a:ext uri="{FF2B5EF4-FFF2-40B4-BE49-F238E27FC236}">
                <a16:creationId xmlns:a16="http://schemas.microsoft.com/office/drawing/2014/main" id="{4363BA1A-11D9-BCB3-9E91-BDC311285A9C}"/>
              </a:ext>
            </a:extLst>
          </p:cNvPr>
          <p:cNvGrpSpPr/>
          <p:nvPr/>
        </p:nvGrpSpPr>
        <p:grpSpPr>
          <a:xfrm>
            <a:off x="0" y="0"/>
            <a:ext cx="12192000" cy="6870358"/>
            <a:chOff x="0" y="0"/>
            <a:chExt cx="12192000" cy="6870358"/>
          </a:xfrm>
        </p:grpSpPr>
        <p:pic>
          <p:nvPicPr>
            <p:cNvPr id="5" name="Imagem 4">
              <a:extLst>
                <a:ext uri="{FF2B5EF4-FFF2-40B4-BE49-F238E27FC236}">
                  <a16:creationId xmlns:a16="http://schemas.microsoft.com/office/drawing/2014/main" id="{C0C0B961-4107-72E4-EC27-2C9489454966}"/>
                </a:ext>
              </a:extLst>
            </p:cNvPr>
            <p:cNvPicPr>
              <a:picLocks noChangeAspect="1"/>
            </p:cNvPicPr>
            <p:nvPr/>
          </p:nvPicPr>
          <p:blipFill>
            <a:blip r:embed="rId2"/>
            <a:stretch>
              <a:fillRect/>
            </a:stretch>
          </p:blipFill>
          <p:spPr>
            <a:xfrm>
              <a:off x="0" y="0"/>
              <a:ext cx="12192000" cy="6870358"/>
            </a:xfrm>
            <a:prstGeom prst="rect">
              <a:avLst/>
            </a:prstGeom>
          </p:spPr>
        </p:pic>
        <p:sp>
          <p:nvSpPr>
            <p:cNvPr id="4" name="Retângulo 3">
              <a:extLst>
                <a:ext uri="{FF2B5EF4-FFF2-40B4-BE49-F238E27FC236}">
                  <a16:creationId xmlns:a16="http://schemas.microsoft.com/office/drawing/2014/main" id="{C87698B3-A217-C4C7-9F82-DC1E5CBDBD2F}"/>
                </a:ext>
              </a:extLst>
            </p:cNvPr>
            <p:cNvSpPr/>
            <p:nvPr/>
          </p:nvSpPr>
          <p:spPr>
            <a:xfrm>
              <a:off x="9995561" y="5567881"/>
              <a:ext cx="1909746" cy="4074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6" name="Imagem 5">
            <a:extLst>
              <a:ext uri="{FF2B5EF4-FFF2-40B4-BE49-F238E27FC236}">
                <a16:creationId xmlns:a16="http://schemas.microsoft.com/office/drawing/2014/main" id="{0EA39BC4-B24D-C63F-5B01-730A2AE7A8FF}"/>
              </a:ext>
            </a:extLst>
          </p:cNvPr>
          <p:cNvPicPr>
            <a:picLocks noChangeAspect="1"/>
          </p:cNvPicPr>
          <p:nvPr/>
        </p:nvPicPr>
        <p:blipFill rotWithShape="1">
          <a:blip r:embed="rId3"/>
          <a:srcRect b="38508"/>
          <a:stretch/>
        </p:blipFill>
        <p:spPr>
          <a:xfrm>
            <a:off x="9995561" y="206091"/>
            <a:ext cx="1812506" cy="463145"/>
          </a:xfrm>
          <a:prstGeom prst="rect">
            <a:avLst/>
          </a:prstGeom>
        </p:spPr>
      </p:pic>
      <p:pic>
        <p:nvPicPr>
          <p:cNvPr id="7" name="Imagem 6">
            <a:extLst>
              <a:ext uri="{FF2B5EF4-FFF2-40B4-BE49-F238E27FC236}">
                <a16:creationId xmlns:a16="http://schemas.microsoft.com/office/drawing/2014/main" id="{58F198B6-CD8F-0F1E-F60C-AB718C8E15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0130" y="47980"/>
            <a:ext cx="938710" cy="600273"/>
          </a:xfrm>
          <a:prstGeom prst="rect">
            <a:avLst/>
          </a:prstGeom>
        </p:spPr>
      </p:pic>
      <p:sp>
        <p:nvSpPr>
          <p:cNvPr id="15" name="Título 14">
            <a:extLst>
              <a:ext uri="{FF2B5EF4-FFF2-40B4-BE49-F238E27FC236}">
                <a16:creationId xmlns:a16="http://schemas.microsoft.com/office/drawing/2014/main" id="{0AC660A0-2B06-907A-8BDE-4D06A33887A4}"/>
              </a:ext>
            </a:extLst>
          </p:cNvPr>
          <p:cNvSpPr>
            <a:spLocks noGrp="1"/>
          </p:cNvSpPr>
          <p:nvPr>
            <p:ph type="title"/>
          </p:nvPr>
        </p:nvSpPr>
        <p:spPr>
          <a:xfrm>
            <a:off x="1676400" y="98006"/>
            <a:ext cx="8216537" cy="669236"/>
          </a:xfrm>
        </p:spPr>
        <p:txBody>
          <a:bodyPr>
            <a:noAutofit/>
          </a:bodyPr>
          <a:lstStyle/>
          <a:p>
            <a:pPr algn="ctr" fontAlgn="auto">
              <a:spcBef>
                <a:spcPts val="0"/>
              </a:spcBef>
              <a:spcAft>
                <a:spcPts val="0"/>
              </a:spcAft>
              <a:defRPr/>
            </a:pPr>
            <a:r>
              <a:rPr lang="pt-BR" sz="3600" dirty="0">
                <a:effectLst/>
                <a:latin typeface="Calibri" panose="020F0502020204030204" pitchFamily="34" charset="0"/>
                <a:ea typeface="Calibri" panose="020F0502020204030204" pitchFamily="34" charset="0"/>
                <a:cs typeface="Times New Roman" panose="02020603050405020304" pitchFamily="18" charset="0"/>
              </a:rPr>
              <a:t>FUNÇÕES</a:t>
            </a:r>
            <a:endParaRPr lang="pt-BR" sz="5400" b="1" dirty="0"/>
          </a:p>
        </p:txBody>
      </p:sp>
      <p:sp>
        <p:nvSpPr>
          <p:cNvPr id="14" name="Espaço Reservado para Conteúdo 13">
            <a:extLst>
              <a:ext uri="{FF2B5EF4-FFF2-40B4-BE49-F238E27FC236}">
                <a16:creationId xmlns:a16="http://schemas.microsoft.com/office/drawing/2014/main" id="{13AE390B-D4AD-48D8-16B6-A7F10F642015}"/>
              </a:ext>
            </a:extLst>
          </p:cNvPr>
          <p:cNvSpPr>
            <a:spLocks noGrp="1"/>
          </p:cNvSpPr>
          <p:nvPr>
            <p:ph idx="1"/>
          </p:nvPr>
        </p:nvSpPr>
        <p:spPr>
          <a:xfrm>
            <a:off x="517371" y="875327"/>
            <a:ext cx="11290696" cy="5215431"/>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000" b="1" i="0" u="none" strike="noStrike" cap="none" normalizeH="0" baseline="0" dirty="0">
                <a:ln>
                  <a:noFill/>
                </a:ln>
                <a:solidFill>
                  <a:schemeClr val="tx1"/>
                </a:solidFill>
                <a:effectLst/>
                <a:latin typeface="Arial" panose="020B0604020202020204" pitchFamily="34" charset="0"/>
              </a:rPr>
              <a:t>Funções com argumento e sem retorno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panose="020B0604020202020204" pitchFamily="34" charset="0"/>
              </a:rPr>
              <a:t>Aqui passamos informações para a função, mas ela não devolve nada.</a:t>
            </a: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panose="020B0604020202020204" pitchFamily="34" charset="0"/>
              </a:rPr>
              <a:t>Exemplo:</a:t>
            </a: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panose="020B0604020202020204" pitchFamily="34" charset="0"/>
              </a:rPr>
              <a:t>#criando a função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err="1">
                <a:ln>
                  <a:noFill/>
                </a:ln>
                <a:solidFill>
                  <a:schemeClr val="tx1"/>
                </a:solidFill>
                <a:effectLst/>
                <a:latin typeface="Arial Unicode MS"/>
              </a:rPr>
              <a:t>def</a:t>
            </a:r>
            <a:r>
              <a:rPr kumimoji="0" lang="pt-BR" altLang="pt-BR" sz="1800" b="0" i="0" u="none" strike="noStrike" cap="none" normalizeH="0" baseline="0" dirty="0">
                <a:ln>
                  <a:noFill/>
                </a:ln>
                <a:solidFill>
                  <a:schemeClr val="tx1"/>
                </a:solidFill>
                <a:effectLst/>
                <a:latin typeface="Arial Unicode MS"/>
              </a:rPr>
              <a:t> </a:t>
            </a:r>
            <a:r>
              <a:rPr kumimoji="0" lang="pt-BR" altLang="pt-BR" sz="1800" b="0" i="0" u="none" strike="noStrike" cap="none" normalizeH="0" baseline="0" dirty="0" err="1">
                <a:ln>
                  <a:noFill/>
                </a:ln>
                <a:solidFill>
                  <a:schemeClr val="tx1"/>
                </a:solidFill>
                <a:effectLst/>
                <a:latin typeface="Arial Unicode MS"/>
              </a:rPr>
              <a:t>saudacao</a:t>
            </a:r>
            <a:r>
              <a:rPr kumimoji="0" lang="pt-BR" altLang="pt-BR" sz="1800" b="0" i="0" u="none" strike="noStrike" cap="none" normalizeH="0" baseline="0" dirty="0">
                <a:ln>
                  <a:noFill/>
                </a:ln>
                <a:solidFill>
                  <a:schemeClr val="tx1"/>
                </a:solidFill>
                <a:effectLst/>
                <a:latin typeface="Arial Unicode MS"/>
              </a:rPr>
              <a:t>(nome): </a:t>
            </a: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18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lang="pt-BR" altLang="pt-BR" sz="1800" dirty="0">
                <a:latin typeface="Arial Unicode MS"/>
              </a:rPr>
              <a:t>    </a:t>
            </a:r>
            <a:r>
              <a:rPr kumimoji="0" lang="pt-BR" altLang="pt-BR" sz="1800" b="0" i="0" u="none" strike="noStrike" cap="none" normalizeH="0" baseline="0" dirty="0">
                <a:ln>
                  <a:noFill/>
                </a:ln>
                <a:solidFill>
                  <a:schemeClr val="tx1"/>
                </a:solidFill>
                <a:effectLst/>
                <a:latin typeface="Arial Unicode MS"/>
              </a:rPr>
              <a:t>print(</a:t>
            </a:r>
            <a:r>
              <a:rPr kumimoji="0" lang="pt-BR" altLang="pt-BR" sz="1800" b="0" i="0" u="none" strike="noStrike" cap="none" normalizeH="0" baseline="0" dirty="0" err="1">
                <a:ln>
                  <a:noFill/>
                </a:ln>
                <a:solidFill>
                  <a:schemeClr val="tx1"/>
                </a:solidFill>
                <a:effectLst/>
                <a:latin typeface="Arial Unicode MS"/>
              </a:rPr>
              <a:t>f"Olá</a:t>
            </a:r>
            <a:r>
              <a:rPr kumimoji="0" lang="pt-BR" altLang="pt-BR" sz="1800" b="0" i="0" u="none" strike="noStrike" cap="none" normalizeH="0" baseline="0" dirty="0">
                <a:ln>
                  <a:noFill/>
                </a:ln>
                <a:solidFill>
                  <a:schemeClr val="tx1"/>
                </a:solidFill>
                <a:effectLst/>
                <a:latin typeface="Arial Unicode MS"/>
              </a:rPr>
              <a:t>, {nome}! Seja bem-vindo!") </a:t>
            </a: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18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1800" dirty="0">
              <a:latin typeface="Arial Unicode MS"/>
            </a:endParaRPr>
          </a:p>
          <a:p>
            <a:pPr marL="0" indent="0" eaLnBrk="0" fontAlgn="base" hangingPunct="0">
              <a:lnSpc>
                <a:spcPct val="100000"/>
              </a:lnSpc>
              <a:spcBef>
                <a:spcPct val="0"/>
              </a:spcBef>
              <a:spcAft>
                <a:spcPct val="0"/>
              </a:spcAft>
              <a:buNone/>
            </a:pPr>
            <a:r>
              <a:rPr kumimoji="0" lang="pt-BR" altLang="pt-BR" sz="1800" b="0" i="0" u="none" strike="noStrike" cap="none" normalizeH="0" baseline="0" dirty="0">
                <a:ln>
                  <a:noFill/>
                </a:ln>
                <a:solidFill>
                  <a:schemeClr val="tx1"/>
                </a:solidFill>
                <a:effectLst/>
                <a:latin typeface="Arial" panose="020B0604020202020204" pitchFamily="34" charset="0"/>
              </a:rPr>
              <a:t>#chamando a função</a:t>
            </a:r>
          </a:p>
          <a:p>
            <a:pPr marL="0" indent="0" eaLnBrk="0" fontAlgn="base" hangingPunct="0">
              <a:lnSpc>
                <a:spcPct val="100000"/>
              </a:lnSpc>
              <a:spcBef>
                <a:spcPct val="0"/>
              </a:spcBef>
              <a:spcAft>
                <a:spcPct val="0"/>
              </a:spcAft>
              <a:buNone/>
            </a:pPr>
            <a:endParaRPr lang="pt-BR" altLang="pt-BR" sz="18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err="1">
                <a:ln>
                  <a:noFill/>
                </a:ln>
                <a:solidFill>
                  <a:schemeClr val="tx1"/>
                </a:solidFill>
                <a:effectLst/>
                <a:latin typeface="Arial Unicode MS"/>
              </a:rPr>
              <a:t>saudacao</a:t>
            </a:r>
            <a:r>
              <a:rPr kumimoji="0" lang="pt-BR" altLang="pt-BR" sz="1800" b="0" i="0" u="none" strike="noStrike" cap="none" normalizeH="0" baseline="0" dirty="0">
                <a:ln>
                  <a:noFill/>
                </a:ln>
                <a:solidFill>
                  <a:schemeClr val="tx1"/>
                </a:solidFill>
                <a:effectLst/>
                <a:latin typeface="Arial Unicode MS"/>
              </a:rPr>
              <a:t>("Maria")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err="1">
                <a:ln>
                  <a:noFill/>
                </a:ln>
                <a:solidFill>
                  <a:schemeClr val="tx1"/>
                </a:solidFill>
                <a:effectLst/>
                <a:latin typeface="Arial Unicode MS"/>
              </a:rPr>
              <a:t>saudacao</a:t>
            </a:r>
            <a:r>
              <a:rPr kumimoji="0" lang="pt-BR" altLang="pt-BR" sz="1800" b="0" i="0" u="none" strike="noStrike" cap="none" normalizeH="0" baseline="0" dirty="0">
                <a:ln>
                  <a:noFill/>
                </a:ln>
                <a:solidFill>
                  <a:schemeClr val="tx1"/>
                </a:solidFill>
                <a:effectLst/>
                <a:latin typeface="Arial Unicode MS"/>
              </a:rPr>
              <a:t>("João")</a:t>
            </a:r>
            <a:endParaRPr kumimoji="0" lang="pt-BR" altLang="pt-B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pt-BR" sz="1800" dirty="0"/>
          </a:p>
        </p:txBody>
      </p:sp>
      <p:sp>
        <p:nvSpPr>
          <p:cNvPr id="9" name="Espaço Reservado para Conteúdo 13">
            <a:extLst>
              <a:ext uri="{FF2B5EF4-FFF2-40B4-BE49-F238E27FC236}">
                <a16:creationId xmlns:a16="http://schemas.microsoft.com/office/drawing/2014/main" id="{817EB1AC-6D84-0AD7-564C-FF3AA66842FF}"/>
              </a:ext>
            </a:extLst>
          </p:cNvPr>
          <p:cNvSpPr txBox="1">
            <a:spLocks/>
          </p:cNvSpPr>
          <p:nvPr/>
        </p:nvSpPr>
        <p:spPr>
          <a:xfrm>
            <a:off x="6313715" y="767242"/>
            <a:ext cx="5796344" cy="5215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pt-BR" b="1" dirty="0">
              <a:solidFill>
                <a:schemeClr val="tx1">
                  <a:lumMod val="95000"/>
                  <a:lumOff val="5000"/>
                </a:schemeClr>
              </a:solidFill>
              <a:latin typeface="Agency FB" panose="020B0503020202020204" pitchFamily="34" charset="0"/>
            </a:endParaRPr>
          </a:p>
        </p:txBody>
      </p:sp>
      <p:sp>
        <p:nvSpPr>
          <p:cNvPr id="38" name="Espaço Reservado para Conteúdo 13">
            <a:extLst>
              <a:ext uri="{FF2B5EF4-FFF2-40B4-BE49-F238E27FC236}">
                <a16:creationId xmlns:a16="http://schemas.microsoft.com/office/drawing/2014/main" id="{F0AB70D3-2BC3-8A54-4356-FD43B11E3ED6}"/>
              </a:ext>
            </a:extLst>
          </p:cNvPr>
          <p:cNvSpPr txBox="1">
            <a:spLocks/>
          </p:cNvSpPr>
          <p:nvPr/>
        </p:nvSpPr>
        <p:spPr>
          <a:xfrm>
            <a:off x="6231774" y="865248"/>
            <a:ext cx="5796344" cy="5215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pt-BR" sz="1800" dirty="0"/>
              <a:t>´</a:t>
            </a:r>
            <a:endParaRPr lang="pt-BR" sz="1800" dirty="0">
              <a:solidFill>
                <a:schemeClr val="tx1">
                  <a:lumMod val="95000"/>
                  <a:lumOff val="5000"/>
                </a:schemeClr>
              </a:solidFill>
              <a:latin typeface="Arial Nova" panose="020F0502020204030204" pitchFamily="34" charset="0"/>
            </a:endParaRPr>
          </a:p>
        </p:txBody>
      </p:sp>
    </p:spTree>
    <p:extLst>
      <p:ext uri="{BB962C8B-B14F-4D97-AF65-F5344CB8AC3E}">
        <p14:creationId xmlns:p14="http://schemas.microsoft.com/office/powerpoint/2010/main" val="2240900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F7471-CEBD-A75C-8FD3-C17BD6F6E4EC}"/>
            </a:ext>
          </a:extLst>
        </p:cNvPr>
        <p:cNvGrpSpPr/>
        <p:nvPr/>
      </p:nvGrpSpPr>
      <p:grpSpPr>
        <a:xfrm>
          <a:off x="0" y="0"/>
          <a:ext cx="0" cy="0"/>
          <a:chOff x="0" y="0"/>
          <a:chExt cx="0" cy="0"/>
        </a:xfrm>
      </p:grpSpPr>
      <p:grpSp>
        <p:nvGrpSpPr>
          <p:cNvPr id="3" name="Grupo 2">
            <a:extLst>
              <a:ext uri="{FF2B5EF4-FFF2-40B4-BE49-F238E27FC236}">
                <a16:creationId xmlns:a16="http://schemas.microsoft.com/office/drawing/2014/main" id="{995B3BBF-4C6A-4318-ADDE-4C6E7CB02162}"/>
              </a:ext>
            </a:extLst>
          </p:cNvPr>
          <p:cNvGrpSpPr/>
          <p:nvPr/>
        </p:nvGrpSpPr>
        <p:grpSpPr>
          <a:xfrm>
            <a:off x="0" y="0"/>
            <a:ext cx="12192000" cy="6870358"/>
            <a:chOff x="0" y="0"/>
            <a:chExt cx="12192000" cy="6870358"/>
          </a:xfrm>
        </p:grpSpPr>
        <p:pic>
          <p:nvPicPr>
            <p:cNvPr id="5" name="Imagem 4">
              <a:extLst>
                <a:ext uri="{FF2B5EF4-FFF2-40B4-BE49-F238E27FC236}">
                  <a16:creationId xmlns:a16="http://schemas.microsoft.com/office/drawing/2014/main" id="{63AAD14B-8AEB-F8FF-E0DE-DB1BEAD5BCF0}"/>
                </a:ext>
              </a:extLst>
            </p:cNvPr>
            <p:cNvPicPr>
              <a:picLocks noChangeAspect="1"/>
            </p:cNvPicPr>
            <p:nvPr/>
          </p:nvPicPr>
          <p:blipFill>
            <a:blip r:embed="rId2"/>
            <a:stretch>
              <a:fillRect/>
            </a:stretch>
          </p:blipFill>
          <p:spPr>
            <a:xfrm>
              <a:off x="0" y="0"/>
              <a:ext cx="12192000" cy="6870358"/>
            </a:xfrm>
            <a:prstGeom prst="rect">
              <a:avLst/>
            </a:prstGeom>
          </p:spPr>
        </p:pic>
        <p:sp>
          <p:nvSpPr>
            <p:cNvPr id="4" name="Retângulo 3">
              <a:extLst>
                <a:ext uri="{FF2B5EF4-FFF2-40B4-BE49-F238E27FC236}">
                  <a16:creationId xmlns:a16="http://schemas.microsoft.com/office/drawing/2014/main" id="{0CA35319-58C2-D960-77C0-3F076001260E}"/>
                </a:ext>
              </a:extLst>
            </p:cNvPr>
            <p:cNvSpPr/>
            <p:nvPr/>
          </p:nvSpPr>
          <p:spPr>
            <a:xfrm>
              <a:off x="9995561" y="5567881"/>
              <a:ext cx="1909746" cy="4074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6" name="Imagem 5">
            <a:extLst>
              <a:ext uri="{FF2B5EF4-FFF2-40B4-BE49-F238E27FC236}">
                <a16:creationId xmlns:a16="http://schemas.microsoft.com/office/drawing/2014/main" id="{D83BE9C4-3CAA-6276-79F0-B4E65EE07D43}"/>
              </a:ext>
            </a:extLst>
          </p:cNvPr>
          <p:cNvPicPr>
            <a:picLocks noChangeAspect="1"/>
          </p:cNvPicPr>
          <p:nvPr/>
        </p:nvPicPr>
        <p:blipFill rotWithShape="1">
          <a:blip r:embed="rId3"/>
          <a:srcRect b="38508"/>
          <a:stretch/>
        </p:blipFill>
        <p:spPr>
          <a:xfrm>
            <a:off x="9995561" y="206091"/>
            <a:ext cx="1812506" cy="463145"/>
          </a:xfrm>
          <a:prstGeom prst="rect">
            <a:avLst/>
          </a:prstGeom>
        </p:spPr>
      </p:pic>
      <p:pic>
        <p:nvPicPr>
          <p:cNvPr id="7" name="Imagem 6">
            <a:extLst>
              <a:ext uri="{FF2B5EF4-FFF2-40B4-BE49-F238E27FC236}">
                <a16:creationId xmlns:a16="http://schemas.microsoft.com/office/drawing/2014/main" id="{65BA84B5-CD7E-4685-0AF6-E841F9E62A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0130" y="47980"/>
            <a:ext cx="938710" cy="600273"/>
          </a:xfrm>
          <a:prstGeom prst="rect">
            <a:avLst/>
          </a:prstGeom>
        </p:spPr>
      </p:pic>
      <p:sp>
        <p:nvSpPr>
          <p:cNvPr id="15" name="Título 14">
            <a:extLst>
              <a:ext uri="{FF2B5EF4-FFF2-40B4-BE49-F238E27FC236}">
                <a16:creationId xmlns:a16="http://schemas.microsoft.com/office/drawing/2014/main" id="{CEDC6C94-8D5F-776B-3A04-A85A1511A180}"/>
              </a:ext>
            </a:extLst>
          </p:cNvPr>
          <p:cNvSpPr>
            <a:spLocks noGrp="1"/>
          </p:cNvSpPr>
          <p:nvPr>
            <p:ph type="title"/>
          </p:nvPr>
        </p:nvSpPr>
        <p:spPr>
          <a:xfrm>
            <a:off x="1676400" y="98006"/>
            <a:ext cx="8216537" cy="669236"/>
          </a:xfrm>
        </p:spPr>
        <p:txBody>
          <a:bodyPr>
            <a:noAutofit/>
          </a:bodyPr>
          <a:lstStyle/>
          <a:p>
            <a:pPr algn="ctr" fontAlgn="auto">
              <a:spcBef>
                <a:spcPts val="0"/>
              </a:spcBef>
              <a:spcAft>
                <a:spcPts val="0"/>
              </a:spcAft>
              <a:defRPr/>
            </a:pPr>
            <a:r>
              <a:rPr lang="pt-BR" sz="3600" dirty="0">
                <a:effectLst/>
                <a:latin typeface="Calibri" panose="020F0502020204030204" pitchFamily="34" charset="0"/>
                <a:ea typeface="Calibri" panose="020F0502020204030204" pitchFamily="34" charset="0"/>
                <a:cs typeface="Times New Roman" panose="02020603050405020304" pitchFamily="18" charset="0"/>
              </a:rPr>
              <a:t>FUNÇÕES</a:t>
            </a:r>
            <a:endParaRPr lang="pt-BR" sz="5400" b="1" dirty="0"/>
          </a:p>
        </p:txBody>
      </p:sp>
      <p:sp>
        <p:nvSpPr>
          <p:cNvPr id="14" name="Espaço Reservado para Conteúdo 13">
            <a:extLst>
              <a:ext uri="{FF2B5EF4-FFF2-40B4-BE49-F238E27FC236}">
                <a16:creationId xmlns:a16="http://schemas.microsoft.com/office/drawing/2014/main" id="{638BBE36-59C4-1FF3-C951-7124A37FBA6A}"/>
              </a:ext>
            </a:extLst>
          </p:cNvPr>
          <p:cNvSpPr>
            <a:spLocks noGrp="1"/>
          </p:cNvSpPr>
          <p:nvPr>
            <p:ph idx="1"/>
          </p:nvPr>
        </p:nvSpPr>
        <p:spPr>
          <a:xfrm>
            <a:off x="517371" y="875327"/>
            <a:ext cx="11290696" cy="5215431"/>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pt-BR" sz="2000" b="1" dirty="0"/>
              <a:t>Funções sem argumento e com retorno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pt-BR" sz="1800" dirty="0"/>
              <a:t>A função não recebe nada, mas devolve um valor para o programa.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panose="020B0604020202020204" pitchFamily="34" charset="0"/>
              </a:rPr>
              <a:t>Exemplo:</a:t>
            </a: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panose="020B0604020202020204" pitchFamily="34" charset="0"/>
              </a:rPr>
              <a:t>#criando a função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pt-BR" sz="1800" b="0" i="0" u="none" strike="noStrike" cap="none" normalizeH="0" baseline="0" dirty="0">
                <a:ln>
                  <a:noFill/>
                </a:ln>
                <a:solidFill>
                  <a:schemeClr val="tx1"/>
                </a:solidFill>
                <a:effectLst/>
                <a:latin typeface="Arial Unicode MS"/>
              </a:rPr>
              <a:t>def numero_favorito():</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pt-BR" sz="1800" b="0" i="0" u="none" strike="noStrike" cap="none" normalizeH="0" baseline="0" dirty="0">
                <a:ln>
                  <a:noFill/>
                </a:ln>
                <a:solidFill>
                  <a:schemeClr val="tx1"/>
                </a:solidFill>
                <a:effectLst/>
                <a:latin typeface="Arial Unicode MS"/>
              </a:rPr>
              <a:t>    return 7</a:t>
            </a:r>
            <a:endParaRPr lang="pt-BR" altLang="pt-BR" sz="18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1800" dirty="0">
              <a:latin typeface="Arial Unicode MS"/>
            </a:endParaRPr>
          </a:p>
          <a:p>
            <a:pPr marL="0" indent="0" eaLnBrk="0" fontAlgn="base" hangingPunct="0">
              <a:lnSpc>
                <a:spcPct val="100000"/>
              </a:lnSpc>
              <a:spcBef>
                <a:spcPct val="0"/>
              </a:spcBef>
              <a:spcAft>
                <a:spcPct val="0"/>
              </a:spcAft>
              <a:buNone/>
            </a:pPr>
            <a:r>
              <a:rPr kumimoji="0" lang="pt-BR" altLang="pt-BR" sz="1800" b="0" i="0" u="none" strike="noStrike" cap="none" normalizeH="0" baseline="0" dirty="0">
                <a:ln>
                  <a:noFill/>
                </a:ln>
                <a:solidFill>
                  <a:schemeClr val="tx1"/>
                </a:solidFill>
                <a:effectLst/>
                <a:latin typeface="Arial" panose="020B0604020202020204" pitchFamily="34" charset="0"/>
              </a:rPr>
              <a:t>#chamando a função</a:t>
            </a:r>
          </a:p>
          <a:p>
            <a:pPr marL="0" indent="0" eaLnBrk="0" fontAlgn="base" hangingPunct="0">
              <a:lnSpc>
                <a:spcPct val="100000"/>
              </a:lnSpc>
              <a:spcBef>
                <a:spcPct val="0"/>
              </a:spcBef>
              <a:spcAft>
                <a:spcPct val="0"/>
              </a:spcAft>
              <a:buNone/>
            </a:pPr>
            <a:endParaRPr lang="pt-BR" altLang="pt-BR" sz="18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Unicode MS"/>
              </a:rPr>
              <a:t>num = </a:t>
            </a:r>
            <a:r>
              <a:rPr kumimoji="0" lang="pt-BR" altLang="pt-BR" sz="1800" b="0" i="0" u="none" strike="noStrike" cap="none" normalizeH="0" baseline="0" dirty="0" err="1">
                <a:ln>
                  <a:noFill/>
                </a:ln>
                <a:solidFill>
                  <a:schemeClr val="tx1"/>
                </a:solidFill>
                <a:effectLst/>
                <a:latin typeface="Arial Unicode MS"/>
              </a:rPr>
              <a:t>numero_favorito</a:t>
            </a:r>
            <a:r>
              <a:rPr kumimoji="0" lang="pt-BR" altLang="pt-BR" sz="1800" b="0" i="0" u="none" strike="noStrike" cap="none" normalizeH="0" baseline="0" dirty="0">
                <a:ln>
                  <a:noFill/>
                </a:ln>
                <a:solidFill>
                  <a:schemeClr val="tx1"/>
                </a:solidFill>
                <a:effectLst/>
                <a:latin typeface="Arial Unicode M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Unicode MS"/>
              </a:rPr>
              <a:t>print(</a:t>
            </a:r>
            <a:r>
              <a:rPr kumimoji="0" lang="pt-BR" altLang="pt-BR" sz="1800" b="0" i="0" u="none" strike="noStrike" cap="none" normalizeH="0" baseline="0" dirty="0" err="1">
                <a:ln>
                  <a:noFill/>
                </a:ln>
                <a:solidFill>
                  <a:schemeClr val="tx1"/>
                </a:solidFill>
                <a:effectLst/>
                <a:latin typeface="Arial Unicode MS"/>
              </a:rPr>
              <a:t>f"Meu</a:t>
            </a:r>
            <a:r>
              <a:rPr kumimoji="0" lang="pt-BR" altLang="pt-BR" sz="1800" b="0" i="0" u="none" strike="noStrike" cap="none" normalizeH="0" baseline="0" dirty="0">
                <a:ln>
                  <a:noFill/>
                </a:ln>
                <a:solidFill>
                  <a:schemeClr val="tx1"/>
                </a:solidFill>
                <a:effectLst/>
                <a:latin typeface="Arial Unicode MS"/>
              </a:rPr>
              <a:t> número favorito é {num}")</a:t>
            </a:r>
            <a:endParaRPr lang="pt-BR" sz="1800" dirty="0"/>
          </a:p>
        </p:txBody>
      </p:sp>
      <p:sp>
        <p:nvSpPr>
          <p:cNvPr id="9" name="Espaço Reservado para Conteúdo 13">
            <a:extLst>
              <a:ext uri="{FF2B5EF4-FFF2-40B4-BE49-F238E27FC236}">
                <a16:creationId xmlns:a16="http://schemas.microsoft.com/office/drawing/2014/main" id="{410392D1-29D1-5955-D5A0-A6ED2973D01F}"/>
              </a:ext>
            </a:extLst>
          </p:cNvPr>
          <p:cNvSpPr txBox="1">
            <a:spLocks/>
          </p:cNvSpPr>
          <p:nvPr/>
        </p:nvSpPr>
        <p:spPr>
          <a:xfrm>
            <a:off x="6313715" y="767242"/>
            <a:ext cx="5796344" cy="5215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pt-BR" b="1" dirty="0">
              <a:solidFill>
                <a:schemeClr val="tx1">
                  <a:lumMod val="95000"/>
                  <a:lumOff val="5000"/>
                </a:schemeClr>
              </a:solidFill>
              <a:latin typeface="Agency FB" panose="020B0503020202020204" pitchFamily="34" charset="0"/>
            </a:endParaRPr>
          </a:p>
        </p:txBody>
      </p:sp>
      <p:sp>
        <p:nvSpPr>
          <p:cNvPr id="38" name="Espaço Reservado para Conteúdo 13">
            <a:extLst>
              <a:ext uri="{FF2B5EF4-FFF2-40B4-BE49-F238E27FC236}">
                <a16:creationId xmlns:a16="http://schemas.microsoft.com/office/drawing/2014/main" id="{01B6FAAD-6A4D-486C-B065-F810A4698CCC}"/>
              </a:ext>
            </a:extLst>
          </p:cNvPr>
          <p:cNvSpPr txBox="1">
            <a:spLocks/>
          </p:cNvSpPr>
          <p:nvPr/>
        </p:nvSpPr>
        <p:spPr>
          <a:xfrm>
            <a:off x="6231774" y="865248"/>
            <a:ext cx="5796344" cy="5215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pt-BR" sz="1800" dirty="0"/>
              <a:t>´</a:t>
            </a:r>
            <a:endParaRPr lang="pt-BR" sz="1800" dirty="0">
              <a:solidFill>
                <a:schemeClr val="tx1">
                  <a:lumMod val="95000"/>
                  <a:lumOff val="5000"/>
                </a:schemeClr>
              </a:solidFill>
              <a:latin typeface="Arial Nova" panose="020F0502020204030204" pitchFamily="34" charset="0"/>
            </a:endParaRPr>
          </a:p>
        </p:txBody>
      </p:sp>
    </p:spTree>
    <p:extLst>
      <p:ext uri="{BB962C8B-B14F-4D97-AF65-F5344CB8AC3E}">
        <p14:creationId xmlns:p14="http://schemas.microsoft.com/office/powerpoint/2010/main" val="2753860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C4A0F-C0A9-12ED-B426-19DE421AA4D1}"/>
            </a:ext>
          </a:extLst>
        </p:cNvPr>
        <p:cNvGrpSpPr/>
        <p:nvPr/>
      </p:nvGrpSpPr>
      <p:grpSpPr>
        <a:xfrm>
          <a:off x="0" y="0"/>
          <a:ext cx="0" cy="0"/>
          <a:chOff x="0" y="0"/>
          <a:chExt cx="0" cy="0"/>
        </a:xfrm>
      </p:grpSpPr>
      <p:grpSp>
        <p:nvGrpSpPr>
          <p:cNvPr id="3" name="Grupo 2">
            <a:extLst>
              <a:ext uri="{FF2B5EF4-FFF2-40B4-BE49-F238E27FC236}">
                <a16:creationId xmlns:a16="http://schemas.microsoft.com/office/drawing/2014/main" id="{9AED27BC-D4AE-D571-E540-EA1CB455A385}"/>
              </a:ext>
            </a:extLst>
          </p:cNvPr>
          <p:cNvGrpSpPr/>
          <p:nvPr/>
        </p:nvGrpSpPr>
        <p:grpSpPr>
          <a:xfrm>
            <a:off x="0" y="0"/>
            <a:ext cx="12192000" cy="6870358"/>
            <a:chOff x="0" y="0"/>
            <a:chExt cx="12192000" cy="6870358"/>
          </a:xfrm>
        </p:grpSpPr>
        <p:pic>
          <p:nvPicPr>
            <p:cNvPr id="5" name="Imagem 4">
              <a:extLst>
                <a:ext uri="{FF2B5EF4-FFF2-40B4-BE49-F238E27FC236}">
                  <a16:creationId xmlns:a16="http://schemas.microsoft.com/office/drawing/2014/main" id="{2CE2804A-BB60-0052-A9CC-1FDB4845F3DD}"/>
                </a:ext>
              </a:extLst>
            </p:cNvPr>
            <p:cNvPicPr>
              <a:picLocks noChangeAspect="1"/>
            </p:cNvPicPr>
            <p:nvPr/>
          </p:nvPicPr>
          <p:blipFill>
            <a:blip r:embed="rId2"/>
            <a:stretch>
              <a:fillRect/>
            </a:stretch>
          </p:blipFill>
          <p:spPr>
            <a:xfrm>
              <a:off x="0" y="0"/>
              <a:ext cx="12192000" cy="6870358"/>
            </a:xfrm>
            <a:prstGeom prst="rect">
              <a:avLst/>
            </a:prstGeom>
          </p:spPr>
        </p:pic>
        <p:sp>
          <p:nvSpPr>
            <p:cNvPr id="4" name="Retângulo 3">
              <a:extLst>
                <a:ext uri="{FF2B5EF4-FFF2-40B4-BE49-F238E27FC236}">
                  <a16:creationId xmlns:a16="http://schemas.microsoft.com/office/drawing/2014/main" id="{64F064EF-4438-4E47-B0D4-C6292F16E8B9}"/>
                </a:ext>
              </a:extLst>
            </p:cNvPr>
            <p:cNvSpPr/>
            <p:nvPr/>
          </p:nvSpPr>
          <p:spPr>
            <a:xfrm>
              <a:off x="9995561" y="5567881"/>
              <a:ext cx="1909746" cy="4074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6" name="Imagem 5">
            <a:extLst>
              <a:ext uri="{FF2B5EF4-FFF2-40B4-BE49-F238E27FC236}">
                <a16:creationId xmlns:a16="http://schemas.microsoft.com/office/drawing/2014/main" id="{748107F7-69D5-FF93-B971-D0B7DD9B4C4A}"/>
              </a:ext>
            </a:extLst>
          </p:cNvPr>
          <p:cNvPicPr>
            <a:picLocks noChangeAspect="1"/>
          </p:cNvPicPr>
          <p:nvPr/>
        </p:nvPicPr>
        <p:blipFill rotWithShape="1">
          <a:blip r:embed="rId3"/>
          <a:srcRect b="38508"/>
          <a:stretch/>
        </p:blipFill>
        <p:spPr>
          <a:xfrm>
            <a:off x="9995561" y="206091"/>
            <a:ext cx="1812506" cy="463145"/>
          </a:xfrm>
          <a:prstGeom prst="rect">
            <a:avLst/>
          </a:prstGeom>
        </p:spPr>
      </p:pic>
      <p:pic>
        <p:nvPicPr>
          <p:cNvPr id="7" name="Imagem 6">
            <a:extLst>
              <a:ext uri="{FF2B5EF4-FFF2-40B4-BE49-F238E27FC236}">
                <a16:creationId xmlns:a16="http://schemas.microsoft.com/office/drawing/2014/main" id="{4F093EF4-F9F6-B6CA-F525-3473EF3226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0130" y="47980"/>
            <a:ext cx="938710" cy="600273"/>
          </a:xfrm>
          <a:prstGeom prst="rect">
            <a:avLst/>
          </a:prstGeom>
        </p:spPr>
      </p:pic>
      <p:sp>
        <p:nvSpPr>
          <p:cNvPr id="15" name="Título 14">
            <a:extLst>
              <a:ext uri="{FF2B5EF4-FFF2-40B4-BE49-F238E27FC236}">
                <a16:creationId xmlns:a16="http://schemas.microsoft.com/office/drawing/2014/main" id="{4A8340D6-F635-F11E-025E-DAF19B31EE45}"/>
              </a:ext>
            </a:extLst>
          </p:cNvPr>
          <p:cNvSpPr>
            <a:spLocks noGrp="1"/>
          </p:cNvSpPr>
          <p:nvPr>
            <p:ph type="title"/>
          </p:nvPr>
        </p:nvSpPr>
        <p:spPr>
          <a:xfrm>
            <a:off x="1676400" y="98006"/>
            <a:ext cx="8216537" cy="669236"/>
          </a:xfrm>
        </p:spPr>
        <p:txBody>
          <a:bodyPr>
            <a:noAutofit/>
          </a:bodyPr>
          <a:lstStyle/>
          <a:p>
            <a:pPr algn="ctr" fontAlgn="auto">
              <a:spcBef>
                <a:spcPts val="0"/>
              </a:spcBef>
              <a:spcAft>
                <a:spcPts val="0"/>
              </a:spcAft>
              <a:defRPr/>
            </a:pPr>
            <a:r>
              <a:rPr lang="pt-BR" sz="3600" dirty="0">
                <a:effectLst/>
                <a:latin typeface="Calibri" panose="020F0502020204030204" pitchFamily="34" charset="0"/>
                <a:ea typeface="Calibri" panose="020F0502020204030204" pitchFamily="34" charset="0"/>
                <a:cs typeface="Times New Roman" panose="02020603050405020304" pitchFamily="18" charset="0"/>
              </a:rPr>
              <a:t>FUNÇÕES</a:t>
            </a:r>
            <a:endParaRPr lang="pt-BR" sz="5400" b="1" dirty="0"/>
          </a:p>
        </p:txBody>
      </p:sp>
      <p:sp>
        <p:nvSpPr>
          <p:cNvPr id="14" name="Espaço Reservado para Conteúdo 13">
            <a:extLst>
              <a:ext uri="{FF2B5EF4-FFF2-40B4-BE49-F238E27FC236}">
                <a16:creationId xmlns:a16="http://schemas.microsoft.com/office/drawing/2014/main" id="{C8060B36-8437-1C3B-E909-943F06B11CF9}"/>
              </a:ext>
            </a:extLst>
          </p:cNvPr>
          <p:cNvSpPr>
            <a:spLocks noGrp="1"/>
          </p:cNvSpPr>
          <p:nvPr>
            <p:ph idx="1"/>
          </p:nvPr>
        </p:nvSpPr>
        <p:spPr>
          <a:xfrm>
            <a:off x="517371" y="875327"/>
            <a:ext cx="11290696" cy="5215431"/>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pt-BR" sz="2000" b="1" dirty="0"/>
              <a:t>Funções com argumento e com retorno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pt-BR" sz="1800" dirty="0"/>
              <a:t>Recebem dados (valores do usuário) e devolvem um resultado.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panose="020B0604020202020204" pitchFamily="34" charset="0"/>
              </a:rPr>
              <a:t>Exemplo:</a:t>
            </a: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panose="020B0604020202020204" pitchFamily="34" charset="0"/>
              </a:rPr>
              <a:t>#criando a função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pt-BR" sz="1800" b="0" i="0" u="none" strike="noStrike" cap="none" normalizeH="0" baseline="0" dirty="0">
                <a:ln>
                  <a:noFill/>
                </a:ln>
                <a:solidFill>
                  <a:schemeClr val="tx1"/>
                </a:solidFill>
                <a:effectLst/>
                <a:latin typeface="Arial Unicode MS"/>
              </a:rPr>
              <a:t>def soma(a, b):</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pt-BR" sz="1800" b="0" i="0" u="none" strike="noStrike" cap="none" normalizeH="0" baseline="0" dirty="0">
                <a:ln>
                  <a:noFill/>
                </a:ln>
                <a:solidFill>
                  <a:schemeClr val="tx1"/>
                </a:solidFill>
                <a:effectLst/>
                <a:latin typeface="Arial Unicode MS"/>
              </a:rPr>
              <a:t>    return a + b</a:t>
            </a: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1800" dirty="0">
              <a:latin typeface="Arial Unicode MS"/>
            </a:endParaRPr>
          </a:p>
          <a:p>
            <a:pPr marL="0" indent="0" eaLnBrk="0" fontAlgn="base" hangingPunct="0">
              <a:lnSpc>
                <a:spcPct val="100000"/>
              </a:lnSpc>
              <a:spcBef>
                <a:spcPct val="0"/>
              </a:spcBef>
              <a:spcAft>
                <a:spcPct val="0"/>
              </a:spcAft>
              <a:buNone/>
            </a:pPr>
            <a:r>
              <a:rPr kumimoji="0" lang="pt-BR" altLang="pt-BR" sz="1800" b="0" i="0" u="none" strike="noStrike" cap="none" normalizeH="0" baseline="0" dirty="0">
                <a:ln>
                  <a:noFill/>
                </a:ln>
                <a:solidFill>
                  <a:schemeClr val="tx1"/>
                </a:solidFill>
                <a:effectLst/>
                <a:latin typeface="Arial" panose="020B0604020202020204" pitchFamily="34" charset="0"/>
              </a:rPr>
              <a:t>#chamando a função</a:t>
            </a:r>
          </a:p>
          <a:p>
            <a:pPr marL="0" indent="0" eaLnBrk="0" fontAlgn="base" hangingPunct="0">
              <a:lnSpc>
                <a:spcPct val="100000"/>
              </a:lnSpc>
              <a:spcBef>
                <a:spcPct val="0"/>
              </a:spcBef>
              <a:spcAft>
                <a:spcPct val="0"/>
              </a:spcAft>
              <a:buNone/>
            </a:pPr>
            <a:endParaRPr lang="pt-BR" altLang="pt-BR" sz="18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Unicode MS"/>
              </a:rPr>
              <a:t>resultado = soma(5, 3)</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Unicode MS"/>
              </a:rPr>
              <a:t>print(</a:t>
            </a:r>
            <a:r>
              <a:rPr kumimoji="0" lang="pt-BR" altLang="pt-BR" sz="1800" b="0" i="0" u="none" strike="noStrike" cap="none" normalizeH="0" baseline="0" dirty="0" err="1">
                <a:ln>
                  <a:noFill/>
                </a:ln>
                <a:solidFill>
                  <a:schemeClr val="tx1"/>
                </a:solidFill>
                <a:effectLst/>
                <a:latin typeface="Arial Unicode MS"/>
              </a:rPr>
              <a:t>f"A</a:t>
            </a:r>
            <a:r>
              <a:rPr kumimoji="0" lang="pt-BR" altLang="pt-BR" sz="1800" b="0" i="0" u="none" strike="noStrike" cap="none" normalizeH="0" baseline="0" dirty="0">
                <a:ln>
                  <a:noFill/>
                </a:ln>
                <a:solidFill>
                  <a:schemeClr val="tx1"/>
                </a:solidFill>
                <a:effectLst/>
                <a:latin typeface="Arial Unicode MS"/>
              </a:rPr>
              <a:t> soma é {resultado}")</a:t>
            </a:r>
            <a:endParaRPr lang="pt-BR" sz="1800" dirty="0"/>
          </a:p>
        </p:txBody>
      </p:sp>
      <p:sp>
        <p:nvSpPr>
          <p:cNvPr id="9" name="Espaço Reservado para Conteúdo 13">
            <a:extLst>
              <a:ext uri="{FF2B5EF4-FFF2-40B4-BE49-F238E27FC236}">
                <a16:creationId xmlns:a16="http://schemas.microsoft.com/office/drawing/2014/main" id="{84076D65-3A4B-40EE-39D3-D5E615F60F96}"/>
              </a:ext>
            </a:extLst>
          </p:cNvPr>
          <p:cNvSpPr txBox="1">
            <a:spLocks/>
          </p:cNvSpPr>
          <p:nvPr/>
        </p:nvSpPr>
        <p:spPr>
          <a:xfrm>
            <a:off x="6313715" y="767242"/>
            <a:ext cx="5796344" cy="5215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pt-BR" b="1" dirty="0">
              <a:solidFill>
                <a:schemeClr val="tx1">
                  <a:lumMod val="95000"/>
                  <a:lumOff val="5000"/>
                </a:schemeClr>
              </a:solidFill>
              <a:latin typeface="Agency FB" panose="020B0503020202020204" pitchFamily="34" charset="0"/>
            </a:endParaRPr>
          </a:p>
        </p:txBody>
      </p:sp>
      <p:sp>
        <p:nvSpPr>
          <p:cNvPr id="38" name="Espaço Reservado para Conteúdo 13">
            <a:extLst>
              <a:ext uri="{FF2B5EF4-FFF2-40B4-BE49-F238E27FC236}">
                <a16:creationId xmlns:a16="http://schemas.microsoft.com/office/drawing/2014/main" id="{9ED74472-0E85-9E40-BC06-311D76C8B4D6}"/>
              </a:ext>
            </a:extLst>
          </p:cNvPr>
          <p:cNvSpPr txBox="1">
            <a:spLocks/>
          </p:cNvSpPr>
          <p:nvPr/>
        </p:nvSpPr>
        <p:spPr>
          <a:xfrm>
            <a:off x="6231774" y="865248"/>
            <a:ext cx="5796344" cy="5215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pt-BR" sz="1800" dirty="0"/>
              <a:t>´</a:t>
            </a:r>
            <a:endParaRPr lang="pt-BR" sz="1800" dirty="0">
              <a:solidFill>
                <a:schemeClr val="tx1">
                  <a:lumMod val="95000"/>
                  <a:lumOff val="5000"/>
                </a:schemeClr>
              </a:solidFill>
              <a:latin typeface="Arial Nova" panose="020F0502020204030204" pitchFamily="34" charset="0"/>
            </a:endParaRPr>
          </a:p>
        </p:txBody>
      </p:sp>
    </p:spTree>
    <p:extLst>
      <p:ext uri="{BB962C8B-B14F-4D97-AF65-F5344CB8AC3E}">
        <p14:creationId xmlns:p14="http://schemas.microsoft.com/office/powerpoint/2010/main" val="3255723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8F053-BDDA-4B42-A2D5-22525D9649FA}"/>
            </a:ext>
          </a:extLst>
        </p:cNvPr>
        <p:cNvGrpSpPr/>
        <p:nvPr/>
      </p:nvGrpSpPr>
      <p:grpSpPr>
        <a:xfrm>
          <a:off x="0" y="0"/>
          <a:ext cx="0" cy="0"/>
          <a:chOff x="0" y="0"/>
          <a:chExt cx="0" cy="0"/>
        </a:xfrm>
      </p:grpSpPr>
      <p:grpSp>
        <p:nvGrpSpPr>
          <p:cNvPr id="3" name="Grupo 2">
            <a:extLst>
              <a:ext uri="{FF2B5EF4-FFF2-40B4-BE49-F238E27FC236}">
                <a16:creationId xmlns:a16="http://schemas.microsoft.com/office/drawing/2014/main" id="{B0B55EB0-F286-B80F-46EF-C135A1A48A55}"/>
              </a:ext>
            </a:extLst>
          </p:cNvPr>
          <p:cNvGrpSpPr/>
          <p:nvPr/>
        </p:nvGrpSpPr>
        <p:grpSpPr>
          <a:xfrm>
            <a:off x="0" y="0"/>
            <a:ext cx="12192000" cy="6870358"/>
            <a:chOff x="0" y="0"/>
            <a:chExt cx="12192000" cy="6870358"/>
          </a:xfrm>
        </p:grpSpPr>
        <p:pic>
          <p:nvPicPr>
            <p:cNvPr id="5" name="Imagem 4">
              <a:extLst>
                <a:ext uri="{FF2B5EF4-FFF2-40B4-BE49-F238E27FC236}">
                  <a16:creationId xmlns:a16="http://schemas.microsoft.com/office/drawing/2014/main" id="{F69926CD-E2DB-1D25-3653-3AAAAFCD8538}"/>
                </a:ext>
              </a:extLst>
            </p:cNvPr>
            <p:cNvPicPr>
              <a:picLocks noChangeAspect="1"/>
            </p:cNvPicPr>
            <p:nvPr/>
          </p:nvPicPr>
          <p:blipFill>
            <a:blip r:embed="rId2"/>
            <a:stretch>
              <a:fillRect/>
            </a:stretch>
          </p:blipFill>
          <p:spPr>
            <a:xfrm>
              <a:off x="0" y="0"/>
              <a:ext cx="12192000" cy="6870358"/>
            </a:xfrm>
            <a:prstGeom prst="rect">
              <a:avLst/>
            </a:prstGeom>
          </p:spPr>
        </p:pic>
        <p:sp>
          <p:nvSpPr>
            <p:cNvPr id="4" name="Retângulo 3">
              <a:extLst>
                <a:ext uri="{FF2B5EF4-FFF2-40B4-BE49-F238E27FC236}">
                  <a16:creationId xmlns:a16="http://schemas.microsoft.com/office/drawing/2014/main" id="{B88D8391-50D4-83A7-136A-4D9F0F93ADD0}"/>
                </a:ext>
              </a:extLst>
            </p:cNvPr>
            <p:cNvSpPr/>
            <p:nvPr/>
          </p:nvSpPr>
          <p:spPr>
            <a:xfrm>
              <a:off x="9995561" y="5567881"/>
              <a:ext cx="1909746" cy="4074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6" name="Imagem 5">
            <a:extLst>
              <a:ext uri="{FF2B5EF4-FFF2-40B4-BE49-F238E27FC236}">
                <a16:creationId xmlns:a16="http://schemas.microsoft.com/office/drawing/2014/main" id="{220DF46B-3926-E362-C7B5-4C2BC44417B3}"/>
              </a:ext>
            </a:extLst>
          </p:cNvPr>
          <p:cNvPicPr>
            <a:picLocks noChangeAspect="1"/>
          </p:cNvPicPr>
          <p:nvPr/>
        </p:nvPicPr>
        <p:blipFill rotWithShape="1">
          <a:blip r:embed="rId3"/>
          <a:srcRect b="38508"/>
          <a:stretch/>
        </p:blipFill>
        <p:spPr>
          <a:xfrm>
            <a:off x="9995561" y="206091"/>
            <a:ext cx="1812506" cy="463145"/>
          </a:xfrm>
          <a:prstGeom prst="rect">
            <a:avLst/>
          </a:prstGeom>
        </p:spPr>
      </p:pic>
      <p:pic>
        <p:nvPicPr>
          <p:cNvPr id="7" name="Imagem 6">
            <a:extLst>
              <a:ext uri="{FF2B5EF4-FFF2-40B4-BE49-F238E27FC236}">
                <a16:creationId xmlns:a16="http://schemas.microsoft.com/office/drawing/2014/main" id="{48F35920-C09B-01A2-58F7-0F138C9B68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0130" y="47980"/>
            <a:ext cx="938710" cy="600273"/>
          </a:xfrm>
          <a:prstGeom prst="rect">
            <a:avLst/>
          </a:prstGeom>
        </p:spPr>
      </p:pic>
      <p:sp>
        <p:nvSpPr>
          <p:cNvPr id="15" name="Título 14">
            <a:extLst>
              <a:ext uri="{FF2B5EF4-FFF2-40B4-BE49-F238E27FC236}">
                <a16:creationId xmlns:a16="http://schemas.microsoft.com/office/drawing/2014/main" id="{58A78861-A44E-0EDD-49C4-5C1ABC6B88A9}"/>
              </a:ext>
            </a:extLst>
          </p:cNvPr>
          <p:cNvSpPr>
            <a:spLocks noGrp="1"/>
          </p:cNvSpPr>
          <p:nvPr>
            <p:ph type="title"/>
          </p:nvPr>
        </p:nvSpPr>
        <p:spPr>
          <a:xfrm>
            <a:off x="1676400" y="98006"/>
            <a:ext cx="8216537" cy="669236"/>
          </a:xfrm>
        </p:spPr>
        <p:txBody>
          <a:bodyPr>
            <a:noAutofit/>
          </a:bodyPr>
          <a:lstStyle/>
          <a:p>
            <a:pPr algn="ctr" fontAlgn="auto">
              <a:spcBef>
                <a:spcPts val="0"/>
              </a:spcBef>
              <a:spcAft>
                <a:spcPts val="0"/>
              </a:spcAft>
              <a:defRPr/>
            </a:pPr>
            <a:r>
              <a:rPr lang="pt-BR" sz="3600" dirty="0">
                <a:effectLst/>
                <a:latin typeface="Calibri" panose="020F0502020204030204" pitchFamily="34" charset="0"/>
                <a:ea typeface="Calibri" panose="020F0502020204030204" pitchFamily="34" charset="0"/>
                <a:cs typeface="Times New Roman" panose="02020603050405020304" pitchFamily="18" charset="0"/>
              </a:rPr>
              <a:t>FUNÇÕES</a:t>
            </a:r>
            <a:endParaRPr lang="pt-BR" sz="5400" b="1" dirty="0"/>
          </a:p>
        </p:txBody>
      </p:sp>
      <p:sp>
        <p:nvSpPr>
          <p:cNvPr id="14" name="Espaço Reservado para Conteúdo 13">
            <a:extLst>
              <a:ext uri="{FF2B5EF4-FFF2-40B4-BE49-F238E27FC236}">
                <a16:creationId xmlns:a16="http://schemas.microsoft.com/office/drawing/2014/main" id="{CB144968-93F6-86B7-5CA1-A6CDA2DFF49F}"/>
              </a:ext>
            </a:extLst>
          </p:cNvPr>
          <p:cNvSpPr>
            <a:spLocks noGrp="1"/>
          </p:cNvSpPr>
          <p:nvPr>
            <p:ph idx="1"/>
          </p:nvPr>
        </p:nvSpPr>
        <p:spPr>
          <a:xfrm>
            <a:off x="517371" y="875327"/>
            <a:ext cx="11290696" cy="5215431"/>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pt-BR" sz="2000" b="1" dirty="0"/>
              <a:t>Funções com argumento e com retorno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pt-BR" sz="1800" dirty="0"/>
              <a:t>Recebem dados (valores do usuário) e devolvem um resultado.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panose="020B0604020202020204" pitchFamily="34" charset="0"/>
              </a:rPr>
              <a:t>Exemplo:</a:t>
            </a: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panose="020B0604020202020204" pitchFamily="34" charset="0"/>
              </a:rPr>
              <a:t>#criando a função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pt-BR" sz="1800" b="0" i="0" u="none" strike="noStrike" cap="none" normalizeH="0" baseline="0" dirty="0">
                <a:ln>
                  <a:noFill/>
                </a:ln>
                <a:solidFill>
                  <a:schemeClr val="tx1"/>
                </a:solidFill>
                <a:effectLst/>
                <a:latin typeface="Arial Unicode MS"/>
              </a:rPr>
              <a:t>def soma(a, b):</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pt-BR" sz="1800" b="0" i="0" u="none" strike="noStrike" cap="none" normalizeH="0" baseline="0" dirty="0">
                <a:ln>
                  <a:noFill/>
                </a:ln>
                <a:solidFill>
                  <a:schemeClr val="tx1"/>
                </a:solidFill>
                <a:effectLst/>
                <a:latin typeface="Arial Unicode MS"/>
              </a:rPr>
              <a:t>    return a + b</a:t>
            </a: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1800" dirty="0">
              <a:latin typeface="Arial Unicode MS"/>
            </a:endParaRPr>
          </a:p>
          <a:p>
            <a:pPr marL="0" indent="0" eaLnBrk="0" fontAlgn="base" hangingPunct="0">
              <a:lnSpc>
                <a:spcPct val="100000"/>
              </a:lnSpc>
              <a:spcBef>
                <a:spcPct val="0"/>
              </a:spcBef>
              <a:spcAft>
                <a:spcPct val="0"/>
              </a:spcAft>
              <a:buNone/>
            </a:pPr>
            <a:r>
              <a:rPr kumimoji="0" lang="pt-BR" altLang="pt-BR" sz="1800" b="0" i="0" u="none" strike="noStrike" cap="none" normalizeH="0" baseline="0" dirty="0">
                <a:ln>
                  <a:noFill/>
                </a:ln>
                <a:solidFill>
                  <a:schemeClr val="tx1"/>
                </a:solidFill>
                <a:effectLst/>
                <a:latin typeface="Arial" panose="020B0604020202020204" pitchFamily="34" charset="0"/>
              </a:rPr>
              <a:t>#chamando a função</a:t>
            </a:r>
          </a:p>
          <a:p>
            <a:pPr marL="0" indent="0" eaLnBrk="0" fontAlgn="base" hangingPunct="0">
              <a:lnSpc>
                <a:spcPct val="100000"/>
              </a:lnSpc>
              <a:spcBef>
                <a:spcPct val="0"/>
              </a:spcBef>
              <a:spcAft>
                <a:spcPct val="0"/>
              </a:spcAft>
              <a:buNone/>
            </a:pPr>
            <a:endParaRPr lang="pt-BR" altLang="pt-BR" sz="18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Unicode MS"/>
              </a:rPr>
              <a:t>resultado = soma(5, 3)</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Unicode MS"/>
              </a:rPr>
              <a:t>print(</a:t>
            </a:r>
            <a:r>
              <a:rPr kumimoji="0" lang="pt-BR" altLang="pt-BR" sz="1800" b="0" i="0" u="none" strike="noStrike" cap="none" normalizeH="0" baseline="0" dirty="0" err="1">
                <a:ln>
                  <a:noFill/>
                </a:ln>
                <a:solidFill>
                  <a:schemeClr val="tx1"/>
                </a:solidFill>
                <a:effectLst/>
                <a:latin typeface="Arial Unicode MS"/>
              </a:rPr>
              <a:t>f"A</a:t>
            </a:r>
            <a:r>
              <a:rPr kumimoji="0" lang="pt-BR" altLang="pt-BR" sz="1800" b="0" i="0" u="none" strike="noStrike" cap="none" normalizeH="0" baseline="0" dirty="0">
                <a:ln>
                  <a:noFill/>
                </a:ln>
                <a:solidFill>
                  <a:schemeClr val="tx1"/>
                </a:solidFill>
                <a:effectLst/>
                <a:latin typeface="Arial Unicode MS"/>
              </a:rPr>
              <a:t> soma é {resultado}")</a:t>
            </a:r>
            <a:endParaRPr lang="pt-BR" sz="1800" dirty="0"/>
          </a:p>
        </p:txBody>
      </p:sp>
      <p:sp>
        <p:nvSpPr>
          <p:cNvPr id="9" name="Espaço Reservado para Conteúdo 13">
            <a:extLst>
              <a:ext uri="{FF2B5EF4-FFF2-40B4-BE49-F238E27FC236}">
                <a16:creationId xmlns:a16="http://schemas.microsoft.com/office/drawing/2014/main" id="{F1B2881D-1313-D484-0B0F-2167DC8225F6}"/>
              </a:ext>
            </a:extLst>
          </p:cNvPr>
          <p:cNvSpPr txBox="1">
            <a:spLocks/>
          </p:cNvSpPr>
          <p:nvPr/>
        </p:nvSpPr>
        <p:spPr>
          <a:xfrm>
            <a:off x="6313715" y="767242"/>
            <a:ext cx="5796344" cy="5215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pt-BR" b="1" dirty="0">
              <a:solidFill>
                <a:schemeClr val="tx1">
                  <a:lumMod val="95000"/>
                  <a:lumOff val="5000"/>
                </a:schemeClr>
              </a:solidFill>
              <a:latin typeface="Agency FB" panose="020B0503020202020204" pitchFamily="34" charset="0"/>
            </a:endParaRPr>
          </a:p>
        </p:txBody>
      </p:sp>
      <p:sp>
        <p:nvSpPr>
          <p:cNvPr id="38" name="Espaço Reservado para Conteúdo 13">
            <a:extLst>
              <a:ext uri="{FF2B5EF4-FFF2-40B4-BE49-F238E27FC236}">
                <a16:creationId xmlns:a16="http://schemas.microsoft.com/office/drawing/2014/main" id="{B3FAB871-A17B-551C-F9F1-87A83499A183}"/>
              </a:ext>
            </a:extLst>
          </p:cNvPr>
          <p:cNvSpPr txBox="1">
            <a:spLocks/>
          </p:cNvSpPr>
          <p:nvPr/>
        </p:nvSpPr>
        <p:spPr>
          <a:xfrm>
            <a:off x="6231774" y="865248"/>
            <a:ext cx="5796344" cy="5215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pt-BR" sz="1800" dirty="0"/>
              <a:t>´</a:t>
            </a:r>
            <a:endParaRPr lang="pt-BR" sz="1800" dirty="0">
              <a:solidFill>
                <a:schemeClr val="tx1">
                  <a:lumMod val="95000"/>
                  <a:lumOff val="5000"/>
                </a:schemeClr>
              </a:solidFill>
              <a:latin typeface="Arial Nova" panose="020F0502020204030204" pitchFamily="34" charset="0"/>
            </a:endParaRPr>
          </a:p>
        </p:txBody>
      </p:sp>
    </p:spTree>
    <p:extLst>
      <p:ext uri="{BB962C8B-B14F-4D97-AF65-F5344CB8AC3E}">
        <p14:creationId xmlns:p14="http://schemas.microsoft.com/office/powerpoint/2010/main" val="1698193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76D7A-B2B6-86B0-725E-41D0B4A4857E}"/>
            </a:ext>
          </a:extLst>
        </p:cNvPr>
        <p:cNvGrpSpPr/>
        <p:nvPr/>
      </p:nvGrpSpPr>
      <p:grpSpPr>
        <a:xfrm>
          <a:off x="0" y="0"/>
          <a:ext cx="0" cy="0"/>
          <a:chOff x="0" y="0"/>
          <a:chExt cx="0" cy="0"/>
        </a:xfrm>
      </p:grpSpPr>
      <p:grpSp>
        <p:nvGrpSpPr>
          <p:cNvPr id="3" name="Grupo 2">
            <a:extLst>
              <a:ext uri="{FF2B5EF4-FFF2-40B4-BE49-F238E27FC236}">
                <a16:creationId xmlns:a16="http://schemas.microsoft.com/office/drawing/2014/main" id="{D11BCBDE-8F29-3510-C924-B4F20F2CEB78}"/>
              </a:ext>
            </a:extLst>
          </p:cNvPr>
          <p:cNvGrpSpPr/>
          <p:nvPr/>
        </p:nvGrpSpPr>
        <p:grpSpPr>
          <a:xfrm>
            <a:off x="0" y="0"/>
            <a:ext cx="12192000" cy="6870358"/>
            <a:chOff x="0" y="0"/>
            <a:chExt cx="12192000" cy="6870358"/>
          </a:xfrm>
        </p:grpSpPr>
        <p:pic>
          <p:nvPicPr>
            <p:cNvPr id="5" name="Imagem 4">
              <a:extLst>
                <a:ext uri="{FF2B5EF4-FFF2-40B4-BE49-F238E27FC236}">
                  <a16:creationId xmlns:a16="http://schemas.microsoft.com/office/drawing/2014/main" id="{00BB44CE-E28B-3133-910F-974C26C49B14}"/>
                </a:ext>
              </a:extLst>
            </p:cNvPr>
            <p:cNvPicPr>
              <a:picLocks noChangeAspect="1"/>
            </p:cNvPicPr>
            <p:nvPr/>
          </p:nvPicPr>
          <p:blipFill>
            <a:blip r:embed="rId2"/>
            <a:stretch>
              <a:fillRect/>
            </a:stretch>
          </p:blipFill>
          <p:spPr>
            <a:xfrm>
              <a:off x="0" y="0"/>
              <a:ext cx="12192000" cy="6870358"/>
            </a:xfrm>
            <a:prstGeom prst="rect">
              <a:avLst/>
            </a:prstGeom>
          </p:spPr>
        </p:pic>
        <p:sp>
          <p:nvSpPr>
            <p:cNvPr id="4" name="Retângulo 3">
              <a:extLst>
                <a:ext uri="{FF2B5EF4-FFF2-40B4-BE49-F238E27FC236}">
                  <a16:creationId xmlns:a16="http://schemas.microsoft.com/office/drawing/2014/main" id="{444758FF-949B-8C4D-255F-27F3485179CF}"/>
                </a:ext>
              </a:extLst>
            </p:cNvPr>
            <p:cNvSpPr/>
            <p:nvPr/>
          </p:nvSpPr>
          <p:spPr>
            <a:xfrm>
              <a:off x="9995561" y="5567881"/>
              <a:ext cx="1909746" cy="4074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6" name="Imagem 5">
            <a:extLst>
              <a:ext uri="{FF2B5EF4-FFF2-40B4-BE49-F238E27FC236}">
                <a16:creationId xmlns:a16="http://schemas.microsoft.com/office/drawing/2014/main" id="{B2AE5EEF-784A-A535-C592-2D61CE3B4713}"/>
              </a:ext>
            </a:extLst>
          </p:cNvPr>
          <p:cNvPicPr>
            <a:picLocks noChangeAspect="1"/>
          </p:cNvPicPr>
          <p:nvPr/>
        </p:nvPicPr>
        <p:blipFill rotWithShape="1">
          <a:blip r:embed="rId3"/>
          <a:srcRect b="38508"/>
          <a:stretch/>
        </p:blipFill>
        <p:spPr>
          <a:xfrm>
            <a:off x="9995561" y="206091"/>
            <a:ext cx="1812506" cy="463145"/>
          </a:xfrm>
          <a:prstGeom prst="rect">
            <a:avLst/>
          </a:prstGeom>
        </p:spPr>
      </p:pic>
      <p:pic>
        <p:nvPicPr>
          <p:cNvPr id="7" name="Imagem 6">
            <a:extLst>
              <a:ext uri="{FF2B5EF4-FFF2-40B4-BE49-F238E27FC236}">
                <a16:creationId xmlns:a16="http://schemas.microsoft.com/office/drawing/2014/main" id="{B1492B20-ACBA-1A67-C216-A57B42B3B5E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0130" y="47980"/>
            <a:ext cx="938710" cy="600273"/>
          </a:xfrm>
          <a:prstGeom prst="rect">
            <a:avLst/>
          </a:prstGeom>
        </p:spPr>
      </p:pic>
      <p:sp>
        <p:nvSpPr>
          <p:cNvPr id="15" name="Título 14">
            <a:extLst>
              <a:ext uri="{FF2B5EF4-FFF2-40B4-BE49-F238E27FC236}">
                <a16:creationId xmlns:a16="http://schemas.microsoft.com/office/drawing/2014/main" id="{D36747E1-D9E6-4BAB-AD13-90D1C4D9B11A}"/>
              </a:ext>
            </a:extLst>
          </p:cNvPr>
          <p:cNvSpPr>
            <a:spLocks noGrp="1"/>
          </p:cNvSpPr>
          <p:nvPr>
            <p:ph type="title"/>
          </p:nvPr>
        </p:nvSpPr>
        <p:spPr>
          <a:xfrm>
            <a:off x="1676400" y="98006"/>
            <a:ext cx="8216537" cy="669236"/>
          </a:xfrm>
        </p:spPr>
        <p:txBody>
          <a:bodyPr>
            <a:noAutofit/>
          </a:bodyPr>
          <a:lstStyle/>
          <a:p>
            <a:pPr algn="ctr" fontAlgn="auto">
              <a:spcBef>
                <a:spcPts val="0"/>
              </a:spcBef>
              <a:spcAft>
                <a:spcPts val="0"/>
              </a:spcAft>
              <a:defRPr/>
            </a:pPr>
            <a:r>
              <a:rPr lang="pt-BR" sz="3600" dirty="0">
                <a:effectLst/>
                <a:latin typeface="Calibri" panose="020F0502020204030204" pitchFamily="34" charset="0"/>
                <a:ea typeface="Calibri" panose="020F0502020204030204" pitchFamily="34" charset="0"/>
                <a:cs typeface="Times New Roman" panose="02020603050405020304" pitchFamily="18" charset="0"/>
              </a:rPr>
              <a:t>FUNÇÕES</a:t>
            </a:r>
            <a:endParaRPr lang="pt-BR" sz="5400" b="1" dirty="0"/>
          </a:p>
        </p:txBody>
      </p:sp>
      <p:sp>
        <p:nvSpPr>
          <p:cNvPr id="14" name="Espaço Reservado para Conteúdo 13">
            <a:extLst>
              <a:ext uri="{FF2B5EF4-FFF2-40B4-BE49-F238E27FC236}">
                <a16:creationId xmlns:a16="http://schemas.microsoft.com/office/drawing/2014/main" id="{C20D9E28-EAC4-72E6-1572-E9B52F2D5053}"/>
              </a:ext>
            </a:extLst>
          </p:cNvPr>
          <p:cNvSpPr>
            <a:spLocks noGrp="1"/>
          </p:cNvSpPr>
          <p:nvPr>
            <p:ph idx="1"/>
          </p:nvPr>
        </p:nvSpPr>
        <p:spPr>
          <a:xfrm>
            <a:off x="517371" y="875327"/>
            <a:ext cx="11290696" cy="5215431"/>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pt-BR" sz="2000" b="1" dirty="0"/>
              <a:t>Sugestão para treinar:</a:t>
            </a:r>
            <a:endParaRPr kumimoji="0" lang="pt-BR" altLang="pt-BR"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pt-BR" sz="18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400" b="1" i="0" u="none" strike="noStrike" cap="none" normalizeH="0" baseline="0" dirty="0">
                <a:ln>
                  <a:noFill/>
                </a:ln>
                <a:solidFill>
                  <a:schemeClr val="tx1"/>
                </a:solidFill>
                <a:effectLst/>
                <a:latin typeface="Arial" panose="020B0604020202020204" pitchFamily="34" charset="0"/>
              </a:rPr>
              <a:t>Exercícios sem argumento e sem retorno:</a:t>
            </a:r>
            <a:endParaRPr kumimoji="0" lang="pt-BR" altLang="pt-BR" sz="1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pt-BR" altLang="pt-BR" sz="1400" b="0" i="0" u="none" strike="noStrike" cap="none" normalizeH="0" baseline="0" dirty="0">
                <a:ln>
                  <a:noFill/>
                </a:ln>
                <a:solidFill>
                  <a:schemeClr val="tx1"/>
                </a:solidFill>
                <a:effectLst/>
                <a:latin typeface="Arial" panose="020B0604020202020204" pitchFamily="34" charset="0"/>
              </a:rPr>
              <a:t>Crie uma função </a:t>
            </a:r>
            <a:r>
              <a:rPr kumimoji="0" lang="pt-BR" altLang="pt-BR" sz="1400" b="0" i="0" u="none" strike="noStrike" cap="none" normalizeH="0" baseline="0" dirty="0">
                <a:ln>
                  <a:noFill/>
                </a:ln>
                <a:solidFill>
                  <a:schemeClr val="tx1"/>
                </a:solidFill>
                <a:effectLst/>
                <a:latin typeface="Arial Unicode MS"/>
              </a:rPr>
              <a:t>sequencia()</a:t>
            </a:r>
            <a:r>
              <a:rPr kumimoji="0" lang="pt-BR" altLang="pt-BR" sz="1400" b="0" i="0" u="none" strike="noStrike" cap="none" normalizeH="0" baseline="0" dirty="0">
                <a:ln>
                  <a:noFill/>
                </a:ln>
                <a:solidFill>
                  <a:schemeClr val="tx1"/>
                </a:solidFill>
                <a:effectLst/>
              </a:rPr>
              <a:t> que imprima a quantidade de números sequenciais até o informado pelo usuário.</a:t>
            </a:r>
            <a:endParaRPr kumimoji="0" lang="pt-BR" altLang="pt-BR" sz="1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pt-BR" altLang="pt-BR" sz="1400" b="0" i="0" u="none" strike="noStrike" cap="none" normalizeH="0" baseline="0" dirty="0">
                <a:ln>
                  <a:noFill/>
                </a:ln>
                <a:solidFill>
                  <a:schemeClr val="tx1"/>
                </a:solidFill>
                <a:effectLst/>
                <a:latin typeface="Arial" panose="020B0604020202020204" pitchFamily="34" charset="0"/>
              </a:rPr>
              <a:t>Crie uma função </a:t>
            </a:r>
            <a:r>
              <a:rPr kumimoji="0" lang="pt-BR" altLang="pt-BR" sz="1400" b="0" i="0" u="none" strike="noStrike" cap="none" normalizeH="0" baseline="0" dirty="0" err="1">
                <a:ln>
                  <a:noFill/>
                </a:ln>
                <a:solidFill>
                  <a:schemeClr val="tx1"/>
                </a:solidFill>
                <a:effectLst/>
                <a:latin typeface="Arial Unicode MS"/>
              </a:rPr>
              <a:t>msg</a:t>
            </a:r>
            <a:r>
              <a:rPr lang="pt-BR" altLang="pt-BR" sz="1400" dirty="0" err="1">
                <a:latin typeface="Arial Unicode MS"/>
              </a:rPr>
              <a:t>B</a:t>
            </a:r>
            <a:r>
              <a:rPr kumimoji="0" lang="pt-BR" altLang="pt-BR" sz="1400" b="0" i="0" u="none" strike="noStrike" cap="none" normalizeH="0" baseline="0" dirty="0" err="1">
                <a:ln>
                  <a:noFill/>
                </a:ln>
                <a:solidFill>
                  <a:schemeClr val="tx1"/>
                </a:solidFill>
                <a:effectLst/>
                <a:latin typeface="Arial Unicode MS"/>
              </a:rPr>
              <a:t>oas</a:t>
            </a:r>
            <a:r>
              <a:rPr lang="pt-BR" altLang="pt-BR" sz="1400" dirty="0" err="1">
                <a:latin typeface="Arial Unicode MS"/>
              </a:rPr>
              <a:t>V</a:t>
            </a:r>
            <a:r>
              <a:rPr kumimoji="0" lang="pt-BR" altLang="pt-BR" sz="1400" b="0" i="0" u="none" strike="noStrike" cap="none" normalizeH="0" baseline="0" dirty="0" err="1">
                <a:ln>
                  <a:noFill/>
                </a:ln>
                <a:solidFill>
                  <a:schemeClr val="tx1"/>
                </a:solidFill>
                <a:effectLst/>
                <a:latin typeface="Arial Unicode MS"/>
              </a:rPr>
              <a:t>indas</a:t>
            </a:r>
            <a:r>
              <a:rPr kumimoji="0" lang="pt-BR" altLang="pt-BR" sz="1400" b="0" i="0" u="none" strike="noStrike" cap="none" normalizeH="0" baseline="0" dirty="0">
                <a:ln>
                  <a:noFill/>
                </a:ln>
                <a:solidFill>
                  <a:schemeClr val="tx1"/>
                </a:solidFill>
                <a:effectLst/>
                <a:latin typeface="Arial Unicode MS"/>
              </a:rPr>
              <a:t>()</a:t>
            </a:r>
            <a:r>
              <a:rPr kumimoji="0" lang="pt-BR" altLang="pt-BR" sz="1400" b="0" i="0" u="none" strike="noStrike" cap="none" normalizeH="0" baseline="0" dirty="0">
                <a:ln>
                  <a:noFill/>
                </a:ln>
                <a:solidFill>
                  <a:schemeClr val="tx1"/>
                </a:solidFill>
                <a:effectLst/>
              </a:rPr>
              <a:t> que mostre uma frase de boas-vindas para o usuário.</a:t>
            </a:r>
            <a:endParaRPr lang="pt-BR" altLang="pt-BR" sz="1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pt-BR" sz="14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400" b="1" i="0" u="none" strike="noStrike" cap="none" normalizeH="0" baseline="0" dirty="0">
                <a:ln>
                  <a:noFill/>
                </a:ln>
                <a:solidFill>
                  <a:schemeClr val="tx1"/>
                </a:solidFill>
                <a:effectLst/>
                <a:latin typeface="Arial" panose="020B0604020202020204" pitchFamily="34" charset="0"/>
              </a:rPr>
              <a:t>Exercícios com argumento e sem retorno:</a:t>
            </a:r>
            <a:endParaRPr kumimoji="0" lang="pt-BR" altLang="pt-BR" sz="1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pt-BR" altLang="pt-BR" sz="1400" b="0" i="0" u="none" strike="noStrike" cap="none" normalizeH="0" baseline="0" dirty="0">
                <a:ln>
                  <a:noFill/>
                </a:ln>
                <a:solidFill>
                  <a:schemeClr val="tx1"/>
                </a:solidFill>
                <a:effectLst/>
                <a:latin typeface="Arial" panose="020B0604020202020204" pitchFamily="34" charset="0"/>
              </a:rPr>
              <a:t>Crie uma função </a:t>
            </a:r>
            <a:r>
              <a:rPr kumimoji="0" lang="pt-BR" altLang="pt-BR" sz="1400" b="0" i="0" u="none" strike="noStrike" cap="none" normalizeH="0" baseline="0" dirty="0" err="1">
                <a:ln>
                  <a:noFill/>
                </a:ln>
                <a:solidFill>
                  <a:schemeClr val="tx1"/>
                </a:solidFill>
                <a:effectLst/>
                <a:latin typeface="Arial Unicode MS"/>
              </a:rPr>
              <a:t>area</a:t>
            </a:r>
            <a:r>
              <a:rPr kumimoji="0" lang="pt-BR" altLang="pt-BR" sz="1400" b="0" i="0" u="none" strike="noStrike" cap="none" normalizeH="0" baseline="0" dirty="0">
                <a:ln>
                  <a:noFill/>
                </a:ln>
                <a:solidFill>
                  <a:schemeClr val="tx1"/>
                </a:solidFill>
                <a:effectLst/>
                <a:latin typeface="Arial Unicode MS"/>
              </a:rPr>
              <a:t>(L,C)</a:t>
            </a:r>
            <a:r>
              <a:rPr kumimoji="0" lang="pt-BR" altLang="pt-BR" sz="1400" b="0" i="0" u="none" strike="noStrike" cap="none" normalizeH="0" baseline="0" dirty="0">
                <a:ln>
                  <a:noFill/>
                </a:ln>
                <a:solidFill>
                  <a:schemeClr val="tx1"/>
                </a:solidFill>
                <a:effectLst/>
              </a:rPr>
              <a:t> que receba dois número e mostre a área de um ambiente </a:t>
            </a:r>
            <a:r>
              <a:rPr kumimoji="0" lang="pt-BR" altLang="pt-BR" sz="1400" b="0" i="0" u="none" strike="noStrike" cap="none" normalizeH="0" baseline="0" dirty="0" err="1">
                <a:ln>
                  <a:noFill/>
                </a:ln>
                <a:solidFill>
                  <a:schemeClr val="tx1"/>
                </a:solidFill>
                <a:effectLst/>
              </a:rPr>
              <a:t>LxC</a:t>
            </a:r>
            <a:r>
              <a:rPr kumimoji="0" lang="pt-BR" altLang="pt-BR" sz="1400" b="0" i="0" u="none" strike="noStrike" cap="none" normalizeH="0" baseline="0" dirty="0">
                <a:ln>
                  <a:noFill/>
                </a:ln>
                <a:solidFill>
                  <a:schemeClr val="tx1"/>
                </a:solidFill>
                <a:effectLst/>
              </a:rPr>
              <a:t>.</a:t>
            </a:r>
            <a:endParaRPr kumimoji="0" lang="pt-BR" altLang="pt-BR" sz="1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pt-BR" altLang="pt-BR" sz="1400" b="0" i="0" u="none" strike="noStrike" cap="none" normalizeH="0" baseline="0" dirty="0">
                <a:ln>
                  <a:noFill/>
                </a:ln>
                <a:solidFill>
                  <a:schemeClr val="tx1"/>
                </a:solidFill>
                <a:effectLst/>
                <a:latin typeface="Arial" panose="020B0604020202020204" pitchFamily="34" charset="0"/>
              </a:rPr>
              <a:t>Crie uma função </a:t>
            </a:r>
            <a:r>
              <a:rPr kumimoji="0" lang="pt-BR" altLang="pt-BR" sz="1400" b="0" i="0" u="none" strike="noStrike" cap="none" normalizeH="0" baseline="0" dirty="0">
                <a:ln>
                  <a:noFill/>
                </a:ln>
                <a:solidFill>
                  <a:schemeClr val="tx1"/>
                </a:solidFill>
                <a:effectLst/>
                <a:latin typeface="Arial Unicode MS"/>
              </a:rPr>
              <a:t>tabuadas(n)</a:t>
            </a:r>
            <a:r>
              <a:rPr kumimoji="0" lang="pt-BR" altLang="pt-BR" sz="1400" b="0" i="0" u="none" strike="noStrike" cap="none" normalizeH="0" baseline="0" dirty="0">
                <a:ln>
                  <a:noFill/>
                </a:ln>
                <a:solidFill>
                  <a:schemeClr val="tx1"/>
                </a:solidFill>
                <a:effectLst/>
              </a:rPr>
              <a:t> que mostre a tabuada do número e dos próximos número recebido.</a:t>
            </a:r>
          </a:p>
          <a:p>
            <a:pPr marL="0" marR="0" lvl="0" indent="0" algn="l" defTabSz="914400" rtl="0" eaLnBrk="0" fontAlgn="base" latinLnBrk="0" hangingPunct="0">
              <a:lnSpc>
                <a:spcPct val="100000"/>
              </a:lnSpc>
              <a:spcBef>
                <a:spcPct val="0"/>
              </a:spcBef>
              <a:spcAft>
                <a:spcPct val="0"/>
              </a:spcAft>
              <a:buClrTx/>
              <a:buSzTx/>
              <a:buNone/>
              <a:tabLst/>
            </a:pPr>
            <a:endParaRPr kumimoji="0" lang="pt-BR" altLang="pt-BR" sz="14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pt-BR" altLang="pt-BR" sz="1400" b="1" i="0" u="none" strike="noStrike" cap="none" normalizeH="0" baseline="0" dirty="0">
                <a:ln>
                  <a:noFill/>
                </a:ln>
                <a:solidFill>
                  <a:schemeClr val="tx1"/>
                </a:solidFill>
                <a:effectLst/>
                <a:latin typeface="Arial" panose="020B0604020202020204" pitchFamily="34" charset="0"/>
              </a:rPr>
              <a:t>Exercícios sem argumento e com retorno:</a:t>
            </a:r>
            <a:endParaRPr kumimoji="0" lang="pt-BR" altLang="pt-BR" sz="1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pt-BR" altLang="pt-BR" sz="1400" b="0" i="0" u="none" strike="noStrike" cap="none" normalizeH="0" baseline="0" dirty="0">
                <a:ln>
                  <a:noFill/>
                </a:ln>
                <a:solidFill>
                  <a:schemeClr val="tx1"/>
                </a:solidFill>
                <a:effectLst/>
                <a:latin typeface="Arial" panose="020B0604020202020204" pitchFamily="34" charset="0"/>
              </a:rPr>
              <a:t>Crie uma função </a:t>
            </a:r>
            <a:r>
              <a:rPr kumimoji="0" lang="pt-BR" altLang="pt-BR" sz="1400" b="0" i="0" u="none" strike="noStrike" cap="none" normalizeH="0" baseline="0" dirty="0">
                <a:ln>
                  <a:noFill/>
                </a:ln>
                <a:solidFill>
                  <a:schemeClr val="tx1"/>
                </a:solidFill>
                <a:effectLst/>
                <a:latin typeface="Arial Unicode MS"/>
              </a:rPr>
              <a:t>pi()</a:t>
            </a:r>
            <a:r>
              <a:rPr kumimoji="0" lang="pt-BR" altLang="pt-BR" sz="1400" b="0" i="0" u="none" strike="noStrike" cap="none" normalizeH="0" baseline="0" dirty="0">
                <a:ln>
                  <a:noFill/>
                </a:ln>
                <a:solidFill>
                  <a:schemeClr val="tx1"/>
                </a:solidFill>
                <a:effectLst/>
              </a:rPr>
              <a:t> que retorne o valor </a:t>
            </a:r>
            <a:r>
              <a:rPr kumimoji="0" lang="pt-BR" altLang="pt-BR" sz="1400" b="0" i="0" u="none" strike="noStrike" cap="none" normalizeH="0" baseline="0" dirty="0">
                <a:ln>
                  <a:noFill/>
                </a:ln>
                <a:solidFill>
                  <a:schemeClr val="tx1"/>
                </a:solidFill>
                <a:effectLst/>
                <a:latin typeface="Arial Unicode MS"/>
              </a:rPr>
              <a:t>3.14159</a:t>
            </a:r>
            <a:r>
              <a:rPr kumimoji="0" lang="pt-BR" altLang="pt-BR" sz="1400" b="0" i="0" u="none" strike="noStrike" cap="none" normalizeH="0" baseline="0" dirty="0">
                <a:ln>
                  <a:noFill/>
                </a:ln>
                <a:solidFill>
                  <a:schemeClr val="tx1"/>
                </a:solidFill>
                <a:effectLst/>
              </a:rPr>
              <a:t>.</a:t>
            </a:r>
            <a:endParaRPr kumimoji="0" lang="pt-BR" altLang="pt-BR" sz="1400" b="0" i="0" u="none" strike="noStrike" cap="none" normalizeH="0" baseline="0" dirty="0">
              <a:ln>
                <a:noFill/>
              </a:ln>
              <a:solidFill>
                <a:schemeClr val="tx1"/>
              </a:solidFill>
              <a:effectLst/>
              <a:latin typeface="Arial" panose="020B0604020202020204" pitchFamily="34" charset="0"/>
            </a:endParaRPr>
          </a:p>
          <a:p>
            <a:pPr marL="342900" lvl="0" indent="-342900" eaLnBrk="0" fontAlgn="base" hangingPunct="0">
              <a:lnSpc>
                <a:spcPct val="100000"/>
              </a:lnSpc>
              <a:spcBef>
                <a:spcPct val="0"/>
              </a:spcBef>
              <a:spcAft>
                <a:spcPct val="0"/>
              </a:spcAft>
              <a:buFont typeface="+mj-lt"/>
              <a:buAutoNum type="arabicPeriod"/>
            </a:pPr>
            <a:r>
              <a:rPr kumimoji="0" lang="pt-BR" altLang="pt-BR" sz="1400" b="0" i="0" u="none" strike="noStrike" cap="none" normalizeH="0" baseline="0" dirty="0">
                <a:ln>
                  <a:noFill/>
                </a:ln>
                <a:solidFill>
                  <a:schemeClr val="tx1"/>
                </a:solidFill>
                <a:effectLst/>
                <a:latin typeface="Arial" panose="020B0604020202020204" pitchFamily="34" charset="0"/>
              </a:rPr>
              <a:t>Crie uma função </a:t>
            </a:r>
            <a:r>
              <a:rPr kumimoji="0" lang="pt-BR" altLang="pt-BR" sz="1400" b="0" i="0" u="none" strike="noStrike" cap="none" normalizeH="0" baseline="0" dirty="0" err="1">
                <a:ln>
                  <a:noFill/>
                </a:ln>
                <a:solidFill>
                  <a:schemeClr val="tx1"/>
                </a:solidFill>
                <a:effectLst/>
                <a:latin typeface="Arial" panose="020B0604020202020204" pitchFamily="34" charset="0"/>
              </a:rPr>
              <a:t>converterT</a:t>
            </a:r>
            <a:r>
              <a:rPr kumimoji="0" lang="pt-BR" altLang="pt-BR" sz="1400" b="0" i="0" u="none" strike="noStrike" cap="none" normalizeH="0" baseline="0" dirty="0" err="1">
                <a:ln>
                  <a:noFill/>
                </a:ln>
                <a:solidFill>
                  <a:schemeClr val="tx1"/>
                </a:solidFill>
                <a:effectLst/>
                <a:latin typeface="Arial Unicode MS"/>
              </a:rPr>
              <a:t>emperatura</a:t>
            </a:r>
            <a:r>
              <a:rPr kumimoji="0" lang="pt-BR" altLang="pt-BR" sz="1400" b="0" i="0" u="none" strike="noStrike" cap="none" normalizeH="0" baseline="0" dirty="0">
                <a:ln>
                  <a:noFill/>
                </a:ln>
                <a:solidFill>
                  <a:schemeClr val="tx1"/>
                </a:solidFill>
                <a:effectLst/>
                <a:latin typeface="Arial Unicode MS"/>
              </a:rPr>
              <a:t> ()</a:t>
            </a:r>
            <a:r>
              <a:rPr kumimoji="0" lang="pt-BR" altLang="pt-BR" sz="1400" b="0" i="0" u="none" strike="noStrike" cap="none" normalizeH="0" baseline="0" dirty="0">
                <a:ln>
                  <a:noFill/>
                </a:ln>
                <a:solidFill>
                  <a:schemeClr val="tx1"/>
                </a:solidFill>
                <a:effectLst/>
              </a:rPr>
              <a:t> que retorne a temperaturas de Celsius para </a:t>
            </a:r>
            <a:r>
              <a:rPr lang="pt-BR" sz="1400" dirty="0"/>
              <a:t>Fahrenheit.</a:t>
            </a:r>
            <a:r>
              <a:rPr lang="pt-BR" dirty="0"/>
              <a:t> </a:t>
            </a:r>
            <a:r>
              <a:rPr kumimoji="0" lang="pt-BR" altLang="pt-BR" sz="1400" b="0" i="0" u="none" strike="noStrike" cap="none" normalizeH="0" baseline="0" dirty="0">
                <a:ln>
                  <a:noFill/>
                </a:ln>
                <a:solidFill>
                  <a:schemeClr val="tx1"/>
                </a:solidFill>
                <a:effectLst/>
              </a:rPr>
              <a:t> </a:t>
            </a:r>
            <a:r>
              <a:rPr lang="pt-BR" sz="1800" b="1" dirty="0"/>
              <a:t>F = (C * 1.8) + 32</a:t>
            </a:r>
            <a:endParaRPr kumimoji="0" lang="pt-BR" altLang="pt-BR" sz="1800" b="1"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pt-BR" altLang="pt-BR" sz="1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pt-BR" altLang="pt-BR" sz="1400" b="1" i="0" u="none" strike="noStrike" cap="none" normalizeH="0" baseline="0" dirty="0">
                <a:ln>
                  <a:noFill/>
                </a:ln>
                <a:solidFill>
                  <a:schemeClr val="tx1"/>
                </a:solidFill>
                <a:effectLst/>
                <a:latin typeface="Arial" panose="020B0604020202020204" pitchFamily="34" charset="0"/>
              </a:rPr>
              <a:t>Exercícios com argumento e com retorno:</a:t>
            </a:r>
            <a:endParaRPr kumimoji="0" lang="pt-BR" altLang="pt-BR" sz="1500" b="0" i="0" u="none" strike="noStrike" cap="none" normalizeH="0" baseline="0" dirty="0">
              <a:ln>
                <a:noFill/>
              </a:ln>
              <a:solidFill>
                <a:schemeClr val="tx1"/>
              </a:solidFill>
              <a:effectLst/>
              <a:latin typeface="Arial" panose="020B0604020202020204" pitchFamily="34" charset="0"/>
            </a:endParaRPr>
          </a:p>
          <a:p>
            <a:pPr marL="342900" lvl="0" indent="-342900" eaLnBrk="0" fontAlgn="base" hangingPunct="0">
              <a:lnSpc>
                <a:spcPct val="100000"/>
              </a:lnSpc>
              <a:spcBef>
                <a:spcPct val="0"/>
              </a:spcBef>
              <a:spcAft>
                <a:spcPct val="0"/>
              </a:spcAft>
              <a:buFont typeface="+mj-lt"/>
              <a:buAutoNum type="arabicPeriod"/>
            </a:pPr>
            <a:r>
              <a:rPr kumimoji="0" lang="pt-BR" altLang="pt-BR" sz="1500" b="0" i="0" u="none" strike="noStrike" cap="none" normalizeH="0" baseline="0" dirty="0">
                <a:ln>
                  <a:noFill/>
                </a:ln>
                <a:solidFill>
                  <a:schemeClr val="tx1"/>
                </a:solidFill>
                <a:effectLst/>
                <a:latin typeface="Arial" panose="020B0604020202020204" pitchFamily="34" charset="0"/>
              </a:rPr>
              <a:t>Crie uma função </a:t>
            </a:r>
            <a:r>
              <a:rPr lang="pt-BR" altLang="pt-BR" sz="1500" dirty="0" err="1">
                <a:latin typeface="Arial Unicode MS"/>
              </a:rPr>
              <a:t>perCirculo</a:t>
            </a:r>
            <a:r>
              <a:rPr kumimoji="0" lang="pt-BR" altLang="pt-BR" sz="1500" b="0" i="0" u="none" strike="noStrike" cap="none" normalizeH="0" baseline="0" dirty="0">
                <a:ln>
                  <a:noFill/>
                </a:ln>
                <a:solidFill>
                  <a:schemeClr val="tx1"/>
                </a:solidFill>
                <a:effectLst/>
                <a:latin typeface="Arial Unicode MS"/>
              </a:rPr>
              <a:t>(raio)</a:t>
            </a:r>
            <a:r>
              <a:rPr kumimoji="0" lang="pt-BR" altLang="pt-BR" sz="1500" b="0" i="0" u="none" strike="noStrike" cap="none" normalizeH="0" baseline="0" dirty="0">
                <a:ln>
                  <a:noFill/>
                </a:ln>
                <a:solidFill>
                  <a:schemeClr val="tx1"/>
                </a:solidFill>
                <a:effectLst/>
              </a:rPr>
              <a:t> que calcule e retorne a área </a:t>
            </a:r>
            <a:r>
              <a:rPr lang="pt-BR" sz="1600" dirty="0"/>
              <a:t>P = 2 * PI</a:t>
            </a:r>
            <a:r>
              <a:rPr lang="el-GR" sz="1600" dirty="0"/>
              <a:t> * </a:t>
            </a:r>
            <a:r>
              <a:rPr lang="pt-BR" sz="1600" dirty="0"/>
              <a:t>r</a:t>
            </a:r>
            <a:r>
              <a:rPr kumimoji="0" lang="pt-BR" altLang="pt-BR" sz="1500" b="0" i="0" u="none" strike="noStrike" cap="none" normalizeH="0" baseline="0" dirty="0">
                <a:ln>
                  <a:noFill/>
                </a:ln>
                <a:solidFill>
                  <a:schemeClr val="tx1"/>
                </a:solidFill>
                <a:effectLst/>
              </a:rPr>
              <a:t>.</a:t>
            </a:r>
            <a:endParaRPr kumimoji="0" lang="pt-BR" altLang="pt-BR" sz="15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pt-BR" altLang="pt-BR" sz="1500" b="0" i="0" u="none" strike="noStrike" cap="none" normalizeH="0" baseline="0" dirty="0">
                <a:ln>
                  <a:noFill/>
                </a:ln>
                <a:solidFill>
                  <a:schemeClr val="tx1"/>
                </a:solidFill>
                <a:effectLst/>
                <a:latin typeface="Arial" panose="020B0604020202020204" pitchFamily="34" charset="0"/>
              </a:rPr>
              <a:t>Crie uma função </a:t>
            </a:r>
            <a:r>
              <a:rPr kumimoji="0" lang="pt-BR" altLang="pt-BR" sz="1500" b="0" i="0" u="none" strike="noStrike" cap="none" normalizeH="0" baseline="0" dirty="0" err="1">
                <a:ln>
                  <a:noFill/>
                </a:ln>
                <a:solidFill>
                  <a:schemeClr val="tx1"/>
                </a:solidFill>
                <a:effectLst/>
                <a:latin typeface="Arial Unicode MS"/>
              </a:rPr>
              <a:t>maiorValor</a:t>
            </a:r>
            <a:r>
              <a:rPr kumimoji="0" lang="pt-BR" altLang="pt-BR" sz="1500" b="0" i="0" u="none" strike="noStrike" cap="none" normalizeH="0" baseline="0" dirty="0">
                <a:ln>
                  <a:noFill/>
                </a:ln>
                <a:solidFill>
                  <a:schemeClr val="tx1"/>
                </a:solidFill>
                <a:effectLst/>
                <a:latin typeface="Arial Unicode MS"/>
              </a:rPr>
              <a:t>(a, b)</a:t>
            </a:r>
            <a:r>
              <a:rPr kumimoji="0" lang="pt-BR" altLang="pt-BR" sz="1500" b="0" i="0" u="none" strike="noStrike" cap="none" normalizeH="0" baseline="0" dirty="0">
                <a:ln>
                  <a:noFill/>
                </a:ln>
                <a:solidFill>
                  <a:schemeClr val="tx1"/>
                </a:solidFill>
                <a:effectLst/>
              </a:rPr>
              <a:t> que retorne o maior valor entre dois números.</a:t>
            </a:r>
            <a:endParaRPr kumimoji="0" lang="pt-BR" altLang="pt-BR"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pt-BR" sz="1600" dirty="0"/>
          </a:p>
        </p:txBody>
      </p:sp>
      <p:sp>
        <p:nvSpPr>
          <p:cNvPr id="9" name="Espaço Reservado para Conteúdo 13">
            <a:extLst>
              <a:ext uri="{FF2B5EF4-FFF2-40B4-BE49-F238E27FC236}">
                <a16:creationId xmlns:a16="http://schemas.microsoft.com/office/drawing/2014/main" id="{70F7BF0A-6218-45B0-7F77-DA179CC4DEE7}"/>
              </a:ext>
            </a:extLst>
          </p:cNvPr>
          <p:cNvSpPr txBox="1">
            <a:spLocks/>
          </p:cNvSpPr>
          <p:nvPr/>
        </p:nvSpPr>
        <p:spPr>
          <a:xfrm>
            <a:off x="6395656" y="767242"/>
            <a:ext cx="5796344" cy="5215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pt-BR" b="1" dirty="0">
              <a:solidFill>
                <a:schemeClr val="tx1">
                  <a:lumMod val="95000"/>
                  <a:lumOff val="5000"/>
                </a:schemeClr>
              </a:solidFill>
              <a:latin typeface="Agency FB" panose="020B0503020202020204" pitchFamily="34" charset="0"/>
            </a:endParaRPr>
          </a:p>
        </p:txBody>
      </p:sp>
      <p:sp>
        <p:nvSpPr>
          <p:cNvPr id="38" name="Espaço Reservado para Conteúdo 13">
            <a:extLst>
              <a:ext uri="{FF2B5EF4-FFF2-40B4-BE49-F238E27FC236}">
                <a16:creationId xmlns:a16="http://schemas.microsoft.com/office/drawing/2014/main" id="{7E9F29D7-E79A-7C3A-CBDC-D1D4FA8FB3AD}"/>
              </a:ext>
            </a:extLst>
          </p:cNvPr>
          <p:cNvSpPr txBox="1">
            <a:spLocks/>
          </p:cNvSpPr>
          <p:nvPr/>
        </p:nvSpPr>
        <p:spPr>
          <a:xfrm>
            <a:off x="6231774" y="865248"/>
            <a:ext cx="5796344" cy="5215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pt-BR" sz="1800" dirty="0"/>
              <a:t>´</a:t>
            </a:r>
            <a:endParaRPr lang="pt-BR" sz="1800" dirty="0">
              <a:solidFill>
                <a:schemeClr val="tx1">
                  <a:lumMod val="95000"/>
                  <a:lumOff val="5000"/>
                </a:schemeClr>
              </a:solidFill>
              <a:latin typeface="Arial Nova" panose="020F0502020204030204" pitchFamily="34" charset="0"/>
            </a:endParaRPr>
          </a:p>
        </p:txBody>
      </p:sp>
      <p:sp>
        <p:nvSpPr>
          <p:cNvPr id="10" name="Rectangle 3">
            <a:extLst>
              <a:ext uri="{FF2B5EF4-FFF2-40B4-BE49-F238E27FC236}">
                <a16:creationId xmlns:a16="http://schemas.microsoft.com/office/drawing/2014/main" id="{97C410B2-9D0C-E990-0D7C-22969E46858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1800" b="0" i="0" u="none" strike="noStrike" cap="none" normalizeH="0" baseline="0" dirty="0">
              <a:ln>
                <a:noFill/>
              </a:ln>
              <a:solidFill>
                <a:schemeClr val="tx1"/>
              </a:solidFill>
              <a:effectLst/>
              <a:latin typeface="Arial" panose="020B0604020202020204" pitchFamily="34" charset="0"/>
            </a:endParaRPr>
          </a:p>
        </p:txBody>
      </p:sp>
      <p:sp>
        <p:nvSpPr>
          <p:cNvPr id="11" name="Rectangle 4">
            <a:extLst>
              <a:ext uri="{FF2B5EF4-FFF2-40B4-BE49-F238E27FC236}">
                <a16:creationId xmlns:a16="http://schemas.microsoft.com/office/drawing/2014/main" id="{05C7B6DB-3481-C8F9-D00D-3078FC69A382}"/>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9674831"/>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14076</TotalTime>
  <Words>644</Words>
  <Application>Microsoft Office PowerPoint</Application>
  <PresentationFormat>Widescreen</PresentationFormat>
  <Paragraphs>127</Paragraphs>
  <Slides>8</Slides>
  <Notes>0</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8</vt:i4>
      </vt:variant>
    </vt:vector>
  </HeadingPairs>
  <TitlesOfParts>
    <vt:vector size="16" baseType="lpstr">
      <vt:lpstr>Arial Unicode MS</vt:lpstr>
      <vt:lpstr>Agency FB</vt:lpstr>
      <vt:lpstr>Arial</vt:lpstr>
      <vt:lpstr>Arial Nova</vt:lpstr>
      <vt:lpstr>Calibri</vt:lpstr>
      <vt:lpstr>Calibri Light</vt:lpstr>
      <vt:lpstr>Times New Roman</vt:lpstr>
      <vt:lpstr>Tema do Office</vt:lpstr>
      <vt:lpstr>Apresentação do PowerPoint</vt:lpstr>
      <vt:lpstr>FUNÇÕES</vt:lpstr>
      <vt:lpstr>FUNÇÕES</vt:lpstr>
      <vt:lpstr>FUNÇÕES</vt:lpstr>
      <vt:lpstr>FUNÇÕES</vt:lpstr>
      <vt:lpstr>FUNÇÕES</vt:lpstr>
      <vt:lpstr>FUNÇÕES</vt:lpstr>
      <vt:lpstr>FUNÇÕES</vt:lpstr>
    </vt:vector>
  </TitlesOfParts>
  <Company>SESI_SENAI_SP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Marcos André da Silva</dc:creator>
  <cp:lastModifiedBy>MARCOS ANDRE DA SILVA</cp:lastModifiedBy>
  <cp:revision>178</cp:revision>
  <dcterms:created xsi:type="dcterms:W3CDTF">2017-07-19T17:45:31Z</dcterms:created>
  <dcterms:modified xsi:type="dcterms:W3CDTF">2025-10-09T21:22:08Z</dcterms:modified>
</cp:coreProperties>
</file>