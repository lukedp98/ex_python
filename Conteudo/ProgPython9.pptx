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80" r:id="rId5"/>
    <p:sldId id="281" r:id="rId6"/>
    <p:sldId id="282" r:id="rId7"/>
    <p:sldId id="283" r:id="rId8"/>
    <p:sldId id="284" r:id="rId9"/>
    <p:sldId id="290" r:id="rId10"/>
    <p:sldId id="289" r:id="rId11"/>
    <p:sldId id="285" r:id="rId12"/>
    <p:sldId id="286" r:id="rId13"/>
    <p:sldId id="287" r:id="rId14"/>
    <p:sldId id="288" r:id="rId15"/>
    <p:sldId id="29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80"/>
            <p14:sldId id="281"/>
            <p14:sldId id="282"/>
            <p14:sldId id="283"/>
            <p14:sldId id="284"/>
            <p14:sldId id="290"/>
            <p14:sldId id="289"/>
            <p14:sldId id="285"/>
            <p14:sldId id="286"/>
            <p14:sldId id="287"/>
            <p14:sldId id="288"/>
            <p14:sldId id="291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5B9BD5"/>
    <a:srgbClr val="FF66FF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/>
              <a:t>Aula 09 </a:t>
            </a:r>
            <a:endParaRPr lang="pt-BR" sz="3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O que é o </a:t>
            </a:r>
            <a:r>
              <a:rPr lang="pt-BR" sz="2000" b="1" dirty="0" err="1"/>
              <a:t>import</a:t>
            </a:r>
            <a:r>
              <a:rPr lang="pt-BR" sz="2000" b="1" dirty="0"/>
              <a:t>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Em Python, o IMPORT é usado para trazer funcionalidades de outros módulos (arquivos de código prontos) para o seu programa. Ele permite que você use funções, classes e variáveis que já foram criadas, sem precisar reescrever tudo do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Como funciona o </a:t>
            </a:r>
            <a:r>
              <a:rPr lang="pt-BR" sz="1800" b="1" dirty="0" err="1"/>
              <a:t>import</a:t>
            </a:r>
            <a:r>
              <a:rPr lang="pt-BR" sz="1800" b="1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Módulo: </a:t>
            </a:r>
            <a:r>
              <a:rPr lang="pt-BR" sz="1800" dirty="0"/>
              <a:t>é um arquivo .</a:t>
            </a:r>
            <a:r>
              <a:rPr lang="pt-BR" sz="1800" dirty="0" err="1"/>
              <a:t>py</a:t>
            </a:r>
            <a:r>
              <a:rPr lang="pt-BR" sz="1800" dirty="0"/>
              <a:t> que contém código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Biblioteca: </a:t>
            </a:r>
            <a:r>
              <a:rPr lang="pt-BR" sz="1800" dirty="0"/>
              <a:t>é um conjunto de módulos prontos, como a </a:t>
            </a:r>
            <a:r>
              <a:rPr lang="pt-BR" sz="1800" dirty="0" err="1"/>
              <a:t>math</a:t>
            </a:r>
            <a:r>
              <a:rPr lang="pt-BR" sz="1800" dirty="0"/>
              <a:t>, </a:t>
            </a:r>
            <a:r>
              <a:rPr lang="pt-BR" sz="1800" dirty="0" err="1"/>
              <a:t>random</a:t>
            </a:r>
            <a:r>
              <a:rPr lang="pt-BR" sz="1800" dirty="0"/>
              <a:t>,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Pacote: </a:t>
            </a:r>
            <a:r>
              <a:rPr lang="pt-BR" sz="1800" dirty="0"/>
              <a:t>é um conjunto de módulos organizados em pastas.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Quando usar o </a:t>
            </a:r>
            <a:r>
              <a:rPr lang="pt-BR" sz="1800" b="1" dirty="0" err="1"/>
              <a:t>import</a:t>
            </a:r>
            <a:r>
              <a:rPr lang="pt-BR" sz="1800" b="1" dirty="0"/>
              <a:t>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Quando você precisa de funções prontas, como gerar números aleatórios (</a:t>
            </a:r>
            <a:r>
              <a:rPr lang="pt-BR" sz="1800" dirty="0" err="1"/>
              <a:t>random</a:t>
            </a:r>
            <a:r>
              <a:rPr lang="pt-BR" sz="1800" dirty="0"/>
              <a:t>), trabalhar com datas (</a:t>
            </a:r>
            <a:r>
              <a:rPr lang="pt-BR" sz="1800" dirty="0" err="1"/>
              <a:t>datetime</a:t>
            </a:r>
            <a:r>
              <a:rPr lang="pt-BR" sz="1800" dirty="0"/>
              <a:t>), ou manipular arquivos (os).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Para organizar seu próprio código em vários arquivos (módulos) e reutilizá-los.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F91D-ABAF-72DA-284E-125C9872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A87510E-7E2A-7BFF-9FBA-C1BEF0209E2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68FC9E6-5FCF-D4B5-B3FF-8EED61F91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F491276-86FC-7879-CCD9-BC413497D74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2B5437B-F0EF-108F-EA00-730D4D1CD2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85D10D7-2E1F-4752-838F-11698225E9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38897E26-2334-4398-A85C-BA387B7E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FB90A20-A339-2044-D8C2-F6EFEF0E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b="1" dirty="0"/>
              <a:t>Formas de usar o </a:t>
            </a:r>
            <a:r>
              <a:rPr lang="pt-BR" sz="2000" b="1" dirty="0" err="1"/>
              <a:t>import</a:t>
            </a:r>
            <a:endParaRPr lang="pt-BR" sz="2000" b="1" dirty="0"/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sz="1800" dirty="0"/>
              <a:t>Importar o módulo inteiro: </a:t>
            </a:r>
          </a:p>
          <a:p>
            <a:pPr>
              <a:buNone/>
            </a:pPr>
            <a:r>
              <a:rPr lang="pt-BR" sz="1800" dirty="0"/>
              <a:t>Quando existe a necessidade de utilizar todos os pacotes da biblioteca escolhida.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math</a:t>
            </a: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print(</a:t>
            </a:r>
            <a:r>
              <a:rPr lang="pt-BR" sz="2000" dirty="0" err="1"/>
              <a:t>math.sqrt</a:t>
            </a:r>
            <a:r>
              <a:rPr lang="pt-BR" sz="2000" dirty="0"/>
              <a:t>(16))  # Usa a função </a:t>
            </a:r>
            <a:r>
              <a:rPr lang="pt-BR" sz="2000" dirty="0" err="1"/>
              <a:t>sqrt</a:t>
            </a:r>
            <a:r>
              <a:rPr lang="pt-BR" sz="2000" dirty="0"/>
              <a:t> (raiz quadrada) do módulo </a:t>
            </a:r>
            <a:r>
              <a:rPr lang="pt-BR" sz="2000" dirty="0" err="1"/>
              <a:t>math</a:t>
            </a: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970CF10A-CCCD-4485-00D7-EFA2A8CECF99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92788009-78C7-26F8-EE69-189E3E3598B7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031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B73B-44CA-A50C-51F7-58ACCA47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B788866-9DCF-AC48-DB41-500FC094736E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A2A6119-A69D-371B-C4A2-D9511AEDD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C2A7CF9-37B5-BD39-B6C3-21F4C901AE7E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223BE1A5-D4B9-DBE8-A47E-BAE76CA43A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73BAE0-3D72-B7B7-4556-9B14DC9D18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E5832EBF-E396-6C54-E6E8-AE78AE030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BBBB62C-ED4A-DC7B-83AF-15D2C40C9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b="1" dirty="0"/>
              <a:t>Formas de usar o </a:t>
            </a:r>
            <a:r>
              <a:rPr lang="pt-BR" sz="2000" b="1" dirty="0" err="1"/>
              <a:t>import</a:t>
            </a:r>
            <a:endParaRPr lang="pt-BR" sz="2000" b="1" dirty="0"/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sz="1800" dirty="0"/>
              <a:t>Importar um item específico: </a:t>
            </a:r>
          </a:p>
          <a:p>
            <a:pPr>
              <a:buNone/>
            </a:pPr>
            <a:r>
              <a:rPr lang="pt-BR" sz="1800" dirty="0"/>
              <a:t>Quando existe a necessidade de utilizar apenas um ou alguns dos pacotes da biblioteca escolhida.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from</a:t>
            </a:r>
            <a:r>
              <a:rPr lang="pt-BR" sz="1800" dirty="0"/>
              <a:t> </a:t>
            </a:r>
            <a:r>
              <a:rPr lang="pt-BR" sz="1800" dirty="0" err="1"/>
              <a:t>math</a:t>
            </a:r>
            <a:r>
              <a:rPr lang="pt-BR" sz="1800" dirty="0"/>
              <a:t> </a:t>
            </a: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sqrt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print(</a:t>
            </a:r>
            <a:r>
              <a:rPr lang="pt-BR" sz="1800" dirty="0" err="1"/>
              <a:t>sqrt</a:t>
            </a:r>
            <a:r>
              <a:rPr lang="pt-BR" sz="1800" dirty="0"/>
              <a:t>(16))  # Não precisa usar </a:t>
            </a:r>
            <a:r>
              <a:rPr lang="pt-BR" sz="1800" dirty="0" err="1"/>
              <a:t>math</a:t>
            </a:r>
            <a:r>
              <a:rPr lang="pt-BR" sz="1800" dirty="0"/>
              <a:t>. antes do nome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400" dirty="0"/>
              <a:t>Ou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from math import sqrt, 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print(sqrt(9), pi) 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F98A5C4-79F1-DCF8-24EB-983F8D09BB67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9F4AF922-08BA-F0D2-9EBE-EC6259CB2689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93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9872-D2C2-2E32-1238-AE38AC31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16C98C1-DCFE-E284-B694-334D2F45FF7D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BE55AB6-3BCB-05D3-4CEC-E6FE842C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B9886CC-B949-3155-048B-477ADA69DB3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0C0AA4C-4832-FE65-41DA-9D29970B3D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2F67E3-C2D5-E217-5B41-AE8D454CE0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E3C0174A-96C3-43A1-DA35-FDDE1F95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C409991-BDC8-68B3-047E-8648F2199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b="1" dirty="0"/>
              <a:t>Formas de usar o </a:t>
            </a:r>
            <a:r>
              <a:rPr lang="pt-BR" sz="2000" b="1" dirty="0" err="1"/>
              <a:t>import</a:t>
            </a:r>
            <a:endParaRPr lang="pt-BR" sz="2000" b="1" dirty="0"/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sz="1800" dirty="0"/>
              <a:t>Importar com um apelido (alias):</a:t>
            </a:r>
          </a:p>
          <a:p>
            <a:pPr>
              <a:buNone/>
            </a:pPr>
            <a:r>
              <a:rPr lang="pt-BR" sz="1800" dirty="0"/>
              <a:t>O usuário redefine o nome da biblioteca para usar os pacotes internos desta.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numpy</a:t>
            </a:r>
            <a:r>
              <a:rPr lang="pt-BR" sz="1800" dirty="0"/>
              <a:t> as </a:t>
            </a:r>
            <a:r>
              <a:rPr lang="pt-BR" sz="1800" dirty="0" err="1"/>
              <a:t>np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print(</a:t>
            </a:r>
            <a:r>
              <a:rPr lang="pt-BR" sz="1800" dirty="0" err="1"/>
              <a:t>np.array</a:t>
            </a:r>
            <a:r>
              <a:rPr lang="pt-BR" sz="1800" dirty="0"/>
              <a:t>[1,2,3])  # Chama o pacote </a:t>
            </a:r>
            <a:r>
              <a:rPr lang="pt-BR" sz="1800" dirty="0" err="1"/>
              <a:t>array</a:t>
            </a:r>
            <a:r>
              <a:rPr lang="pt-BR" sz="1800" dirty="0"/>
              <a:t> da biblioteca </a:t>
            </a:r>
            <a:r>
              <a:rPr lang="pt-BR" sz="1800" dirty="0" err="1"/>
              <a:t>numpy</a:t>
            </a:r>
            <a:r>
              <a:rPr lang="pt-BR" sz="1800" dirty="0"/>
              <a:t> utilizando o alias criado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04D9479A-45D5-E78B-BF2F-6694F70411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1D1CA109-EF27-7ECD-3972-60EE94E7D928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20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FEC4-B798-54CD-8B7A-77F42AB2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56CD91A-4F99-6773-EB77-7A95380D990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D107352-D61C-72A1-0FB1-01C07F4B2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A3E2633-5624-3086-7993-A5E0BDAAE372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336F9B6-175B-6BF1-7B0E-6D1A5BF322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837D7E2-ED9A-19B3-1DA6-57719036C8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7A19C64-0BEE-1BC5-871A-F647810D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8E3470E-DEDE-5EFC-71B1-8B31D67E4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800" dirty="0"/>
              <a:t>Python tem muitas bibliotecas (módulos e pacotes) que ajudam a resolver problemas sem precisar escrever tudo do zero.</a:t>
            </a:r>
          </a:p>
          <a:p>
            <a:pPr>
              <a:buNone/>
            </a:pPr>
            <a:r>
              <a:rPr lang="pt-BR" sz="1800" b="1" dirty="0"/>
              <a:t>1. Bibliotecas Padrão (já vêm com o 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math</a:t>
            </a:r>
            <a:r>
              <a:rPr lang="pt-BR" sz="1800" dirty="0"/>
              <a:t> – funções matemáticas (raiz quadrada, logaritmos, trigonometria).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random</a:t>
            </a:r>
            <a:r>
              <a:rPr lang="pt-BR" sz="1800" dirty="0"/>
              <a:t> – sorteio e geração de números aleatórios.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datetime</a:t>
            </a:r>
            <a:r>
              <a:rPr lang="pt-BR" sz="1800" dirty="0"/>
              <a:t> – trabalhar com datas e horários.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/>
              <a:t>os</a:t>
            </a:r>
            <a:r>
              <a:rPr lang="pt-BR" sz="1800" dirty="0"/>
              <a:t> – acessar e manipular arquivos e pastas.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/>
              <a:t>sys</a:t>
            </a:r>
            <a:r>
              <a:rPr lang="pt-BR" sz="1800" dirty="0"/>
              <a:t> – interagir com o sistema e parâmetros do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json</a:t>
            </a:r>
            <a:r>
              <a:rPr lang="pt-BR" sz="1800" dirty="0"/>
              <a:t> – ler e salvar dados no formato JSON.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csv</a:t>
            </a:r>
            <a:r>
              <a:rPr lang="pt-BR" sz="1800" dirty="0"/>
              <a:t> – trabalhar com planilhas CSV.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 err="1"/>
              <a:t>re</a:t>
            </a:r>
            <a:r>
              <a:rPr lang="pt-BR" sz="1800" dirty="0"/>
              <a:t> – expressões regulares (buscas em textos).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05A6DD2F-24F5-2159-F7F9-093661B7E16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8CA10F8C-553B-6C2A-3B18-254DD2D0A06D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04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299C-1CCE-0E55-8015-A10CAB5B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FAFAFCA-F8C9-CE12-2C97-9461A947B3C6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925F79F-6122-C545-6AD4-2DF95BD7D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E0AC450-A71B-331D-E403-CC6AC887649D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7408C16-42AE-0621-F788-EA76992ACD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FF7A69-222D-28AC-7BF2-E74D86E714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CF213F1F-BA49-4735-6495-8516866B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33222064-3105-9343-1654-D4BBC081F29F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0B3ED82C-0953-1957-D1C5-7F4C84403F73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377A9260-9104-B082-810A-412D16197325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Outras Bibliotecas  (instaladas com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Ciência de Dados e Matemática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cálculos numéricos, matrizes, álgebra linear.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manipulação e análise de dados (planilhas, tabelas).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gráficos e visualizações.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gráficos mais bonitos e estatísticos.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cálculos científicos e estatísticos.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aprendizado de máquina (Machine Learning).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Inteligência Artificial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redes neurais e 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redes neurais e 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visão computacional (reconhecimento de imagem, vídeo).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e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criar sites e APIs de forma simples.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framework completo para sites grandes.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acessar APIs e fazer requisições HTTP.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Automação e Outros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raspagem de dados na web (web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automação de navegadores.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Pillow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(PIL)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tratamento de imagens.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criação de jogos 2D.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42477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4284-9B50-DE61-1EB2-769BF45D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CF2B189A-EE41-E5FD-7EB0-4F1480E30F1D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7F1BCEC-F091-5551-90B2-0BFD21065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6D96756-BE97-A85E-DFFC-D1DA1E3D129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2C6B492-8B2B-D58B-3C99-82465E70D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40277D-6B8F-22E0-8A02-CB810CBC6F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1666DBCF-21B1-E0C0-A679-2D63A1FA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7B1FB62-ABDC-071F-B299-DFB6D5A902D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27911911-419B-5F07-9FF8-51828B502B8B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FB1AD849-FA6F-E741-B3A9-158838779A59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Criando o módulo (arquivo com funções)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800" dirty="0">
                <a:latin typeface="Arial" panose="020B0604020202020204" pitchFamily="34" charset="0"/>
              </a:rPr>
              <a:t>É possível criar bibliotecas próprias usando </a:t>
            </a:r>
            <a:r>
              <a:rPr lang="pt-BR" altLang="pt-BR" sz="1800" dirty="0" err="1">
                <a:latin typeface="Arial" panose="020B0604020202020204" pitchFamily="34" charset="0"/>
              </a:rPr>
              <a:t>python</a:t>
            </a:r>
            <a:r>
              <a:rPr lang="pt-BR" altLang="pt-BR" sz="1800" dirty="0">
                <a:latin typeface="Arial" panose="020B0604020202020204" pitchFamily="34" charset="0"/>
              </a:rPr>
              <a:t>. Para isto é necessário criar uma arquivo </a:t>
            </a:r>
            <a:r>
              <a:rPr lang="pt-BR" altLang="pt-BR" sz="1800" dirty="0" err="1">
                <a:latin typeface="Arial" panose="020B0604020202020204" pitchFamily="34" charset="0"/>
              </a:rPr>
              <a:t>python</a:t>
            </a:r>
            <a:r>
              <a:rPr lang="pt-BR" altLang="pt-BR" sz="1800" dirty="0">
                <a:latin typeface="Arial" panose="020B0604020202020204" pitchFamily="34" charset="0"/>
              </a:rPr>
              <a:t> com as funções desejadas, e sempre que precisar importar nos demais arquivos (necessário que faça parte do projeto, esteja na mesma pasta ou tenha um caminho acessível ao arquivo).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arquivo chamado meu_modulo.py com este conteúdo: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meu_modulo.py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saudacao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(nome):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f"Olá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{nome}! Bem-vindo ao Python.“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soma(a, b):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+ b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4037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D7F6-1F36-621A-7852-B0798EB0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58368F6-D169-17E1-2515-720B8FB7D6CA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002BF64-AA82-087B-9DCF-D84C8C16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B62AC82-CC6A-A7B7-DC08-B723E9B43DF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35B5C27-027A-A072-22EB-F775AFB825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41AFCD2-94F2-B0C1-658A-C07501F48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75D7B278-6C6E-487D-886A-CAE4AD12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66A17F1A-1795-82E4-3146-3BF16EC5521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A990003B-CF36-E088-15AF-CF20917BE22F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1415E418-E78A-5D70-03E0-8413CADE123F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Usando o módulo no programa principal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outro arquivo chamado programa.py no mesmo diretório: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programa.py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</a:t>
            </a: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meu_modulo</a:t>
            </a: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# Importa o módulo que criamos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Usando as funções do módulo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</a:t>
            </a:r>
            <a:r>
              <a:rPr kumimoji="0" lang="pt-BR" altLang="pt-BR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meu_modulo.saudacao</a:t>
            </a: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("Marcos"))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print("A soma é:", </a:t>
            </a:r>
            <a:r>
              <a:rPr kumimoji="0" lang="pt-BR" altLang="pt-BR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meu_modulo.soma</a:t>
            </a:r>
            <a:r>
              <a:rPr kumimoji="0" lang="pt-BR" altLang="pt-BR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(5, 7))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94875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44303-A946-EB5F-3DFE-7EACAF8B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E04DFDC-D47F-2888-8978-743AFD8043C6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C6C30CB-5CE6-BADB-FE4B-83A5934CC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A285F18-6526-D124-8629-529DB61D8D0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6966FBE8-9A4C-607C-FEA1-F77A62E5B2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44ED4DF-4BD8-CA71-E4AA-63A7DD4AF8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3A61B2D9-37D7-83BC-578D-5A6AC043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807A5DD6-0577-988F-E9B1-38E9D49E24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16806400-B802-3AB6-2FE0-FE19C1F77334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84003145-0472-B042-1232-7FF323A41211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a biblioteca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biblioteca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um módulo padrão do Python usado para gerar números aleatórios ou escolher elementos de forma aleatória. Ela é muito útil para jogos, simulações, sorteios, testes e qualquer situação em que você precise de comportamento imprevisível controlado.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/>
              <a:t>Funções mais usadas do Random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pt-BR" sz="1800" dirty="0" err="1"/>
              <a:t>random.randint</a:t>
            </a:r>
            <a:r>
              <a:rPr lang="pt-BR" sz="1800" dirty="0"/>
              <a:t>(a,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/>
              <a:t>Retorna um número inteiro aleatório entre a e b, inclusive.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/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 err="1"/>
              <a:t>import</a:t>
            </a:r>
            <a:r>
              <a:rPr lang="pt-BR" sz="1800" dirty="0"/>
              <a:t> Random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/>
              <a:t>numero = </a:t>
            </a:r>
            <a:r>
              <a:rPr lang="pt-BR" sz="1800" dirty="0" err="1"/>
              <a:t>random.randint</a:t>
            </a:r>
            <a:r>
              <a:rPr lang="pt-BR" sz="1800" dirty="0"/>
              <a:t>(1, 60)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/>
              <a:t>print(numero)  # Pode ser qualquer número de 1 a 60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37DC44-FD30-413E-ADE8-68A51166975C}"/>
              </a:ext>
            </a:extLst>
          </p:cNvPr>
          <p:cNvSpPr txBox="1"/>
          <p:nvPr/>
        </p:nvSpPr>
        <p:spPr>
          <a:xfrm>
            <a:off x="6575612" y="86195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9689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D28B-A5B4-DDCC-BBF8-847B0FF9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1E6BF99-6300-7898-A498-1F3B22DC077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EE67DEE-2664-8161-9D32-9885C1A6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2FB5B7-C054-F051-CA2A-18961BC4938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0341CC3A-250F-97EC-D453-BDAA19AF8D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88848B8-DA6A-F126-F59B-130AB90FC1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E676310C-C2BC-DC84-33AF-42CA2E30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87AFC3B7-5F5E-13D6-9AA4-A68EF4CDC1E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2E50CE10-6569-DCE1-3C1D-8366A52802E2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CCE6C502-4FBC-2766-A75A-E395366EB62D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a biblioteca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random.random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um número decimal aleatório entre 0.0 e 1.0.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Random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decimal =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random.random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print(decimal)  #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0.724895234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5922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CDD0-5D45-B9B6-7E07-A46B1764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5B282C9-A33D-B627-8EFC-D8C034F5FC3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7FB1EEF-A077-7F9D-EE6D-D0C70E5C0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AD153B8-6B46-9440-89E0-449D188B3B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63AF2552-2E58-3588-CD60-C2F2EC66C2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D4EB8E-EB06-21E9-C7C7-2AE10777CD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6BF996EB-2AFC-5572-325E-5634C211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812E110-B695-6A0F-5D07-16A811593D87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0A7CE6B5-2825-2BF4-241C-672FFF5148C2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CC1B8B7E-2327-7EC6-7B16-DC023ADB6406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a biblioteca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random.choice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Escolhe aleatoriamente um elemento de uma lista, tupla ou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Random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cores = ['vermelho', 'azul', 'verde’]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 =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random.choice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print(cor)  # Pode ser 'vermelho', 'azul' ou 'verde'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88681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204A-4AFB-1C3A-161F-89CED8C8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8F1E180-CFE3-E783-542F-3B75AAAFADD7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75E5169-91D9-1F3A-67F4-8CCAA5E24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BEDBF87B-A752-5E8B-9465-8452C4C19AD5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53BB4D5C-C1C7-301A-2E0E-6048052AF0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2EF5BC-AB95-57A5-80BB-50FDA6D2E5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35409561-4D48-6575-0C7F-2DE012DA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142728CE-E70D-89ED-DBF2-8E7C03EB1CE3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10AE64A8-87A1-B778-6282-0D7A507DB7A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B8645624-E08C-3F6B-1E8D-54E3D5BE1115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a biblioteca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random.sample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uma lista com k elementos únicos escolhidos aleatoriamente da sequência seq.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Muito usado para sorteios sem repetição.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Random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numeros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(range(1, 61))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sorteio =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random.sample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numeros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print(sorteio)  #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[5, 12, 34, 56, 8, 29]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35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30A1-8C90-1644-DFCB-B66415E8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534F2B7-F4F6-0C16-0FC7-94C197BA6DF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30B3D4C-A159-550F-96AD-8C41D1B6C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05FA29C-88AD-85C5-ECB7-64FBAC73A8E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F9D328E-B205-209C-342E-549C45DC90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65FFC2E-D10A-078D-2E4E-03078112E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47AA1310-3BAE-D01E-69BC-A026CD9E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A3B0F8B-EE6C-11E8-57A9-3880965061D4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83B7E8C6-3EB2-9CB3-F7FC-2F01936685D1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CE8156DF-0708-3E0E-5FAE-79190CF4EA4E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a biblioteca </a:t>
            </a:r>
            <a:r>
              <a:rPr kumimoji="0" lang="pt-BR" altLang="pt-B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random.shuffle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Embaralha a sequência (lista)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in-place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 seja, altera a lista original.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Random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cartas = ['A', '2', '3', '4', '5’]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random.shuffle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(cartas)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print(cartas)  #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['3', '5', 'A', '2', '4']</a:t>
            </a: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72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F663-F658-8B1A-1558-5B43AF0B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AA59D2A-1FDE-0F91-DFE2-E3AE1F187F6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6D1D6B0-C224-F838-BA3A-78C7AC1FF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CFC5AE0-0B2C-627A-CFC3-88702AA55BA4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9139075F-362C-5A0A-D178-093835F21D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7E6467E-AFF8-BC27-79AF-BAB5A3608E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68A38200-4199-D7FB-B032-7ECE60D5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endParaRPr lang="pt-BR" sz="5400" b="1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22571B62-FF34-3252-DB39-FAF10ABA37EA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D9247DA1-E35C-B12A-06B6-26D925B6CFAB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´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2F54B185-D34B-D5D2-901F-DC2DD9DDAF9B}"/>
              </a:ext>
            </a:extLst>
          </p:cNvPr>
          <p:cNvSpPr txBox="1">
            <a:spLocks/>
          </p:cNvSpPr>
          <p:nvPr/>
        </p:nvSpPr>
        <p:spPr>
          <a:xfrm>
            <a:off x="420130" y="882713"/>
            <a:ext cx="11254499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sistema onde o usuário escolhe 6 números diferentes entre 1 e 60. </a:t>
            </a:r>
            <a:r>
              <a:rPr lang="pt-BR" altLang="pt-BR" sz="1400" dirty="0">
                <a:latin typeface="Arial" panose="020B0604020202020204" pitchFamily="34" charset="0"/>
              </a:rPr>
              <a:t>Os valores vão ser atribuídos a uma lista e assim que os seis valores forem digitados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sistema deve realizar um sorteio aleatório de 6 números no mesmo intervalo também guardando os sorteados em outra lista.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400" dirty="0">
                <a:latin typeface="Arial" panose="020B0604020202020204" pitchFamily="34" charset="0"/>
              </a:rPr>
              <a:t>Use a função </a:t>
            </a:r>
            <a:r>
              <a:rPr lang="pt-BR" altLang="pt-BR" sz="1400" dirty="0" err="1">
                <a:latin typeface="Arial" panose="020B0604020202020204" pitchFamily="34" charset="0"/>
              </a:rPr>
              <a:t>sorted</a:t>
            </a:r>
            <a:r>
              <a:rPr lang="pt-BR" altLang="pt-BR" sz="1400" dirty="0">
                <a:latin typeface="Arial" panose="020B0604020202020204" pitchFamily="34" charset="0"/>
              </a:rPr>
              <a:t>() do </a:t>
            </a:r>
            <a:r>
              <a:rPr lang="pt-BR" altLang="pt-BR" sz="1400" dirty="0" err="1">
                <a:latin typeface="Arial" panose="020B0604020202020204" pitchFamily="34" charset="0"/>
              </a:rPr>
              <a:t>python</a:t>
            </a:r>
            <a:r>
              <a:rPr lang="pt-BR" altLang="pt-BR" sz="1400" dirty="0">
                <a:latin typeface="Arial" panose="020B0604020202020204" pitchFamily="34" charset="0"/>
              </a:rPr>
              <a:t> para exibir os números na ordem crescente.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400" dirty="0"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400" dirty="0">
                <a:latin typeface="Arial" panose="020B0604020202020204" pitchFamily="34" charset="0"/>
              </a:rPr>
              <a:t>valores=[8,12,5,3,71,9,101]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400" dirty="0">
                <a:latin typeface="Arial" panose="020B0604020202020204" pitchFamily="34" charset="0"/>
              </a:rPr>
              <a:t>Print(</a:t>
            </a:r>
            <a:r>
              <a:rPr lang="pt-BR" altLang="pt-BR" sz="1400" dirty="0" err="1">
                <a:latin typeface="Arial" panose="020B0604020202020204" pitchFamily="34" charset="0"/>
              </a:rPr>
              <a:t>sorted</a:t>
            </a:r>
            <a:r>
              <a:rPr lang="pt-BR" altLang="pt-BR" sz="1400" dirty="0">
                <a:latin typeface="Arial" panose="020B0604020202020204" pitchFamily="34" charset="0"/>
              </a:rPr>
              <a:t>(valores)	#[3,5,8,9,12,71,101]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1400" dirty="0">
                <a:latin typeface="Arial" panose="020B0604020202020204" pitchFamily="34" charset="0"/>
              </a:rPr>
              <a:t>Use o método </a:t>
            </a:r>
            <a:r>
              <a:rPr lang="pt-BR" altLang="pt-BR" sz="1400" dirty="0" err="1">
                <a:latin typeface="Arial" panose="020B0604020202020204" pitchFamily="34" charset="0"/>
              </a:rPr>
              <a:t>list</a:t>
            </a:r>
            <a:r>
              <a:rPr lang="pt-BR" altLang="pt-BR" sz="1400" dirty="0">
                <a:latin typeface="Arial" panose="020B0604020202020204" pitchFamily="34" charset="0"/>
              </a:rPr>
              <a:t> abaixo para comparar as listas:</a:t>
            </a:r>
          </a:p>
          <a:p>
            <a:pPr>
              <a:lnSpc>
                <a:spcPts val="1425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lista1 = [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lista2 = [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comuns = </a:t>
            </a:r>
            <a:r>
              <a:rPr lang="pt-BR" sz="1400" b="0" dirty="0" err="1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400" b="0" dirty="0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(lista1) &amp; </a:t>
            </a:r>
            <a:r>
              <a:rPr lang="pt-BR" sz="1400" b="0" dirty="0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(lista2))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pt-BR" sz="1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(comuns)  </a:t>
            </a:r>
            <a:r>
              <a:rPr lang="pt-BR" sz="1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[4, 5]</a:t>
            </a:r>
          </a:p>
          <a:p>
            <a:pPr marL="0" indent="0">
              <a:lnSpc>
                <a:spcPts val="1425"/>
              </a:lnSpc>
              <a:buNone/>
            </a:pPr>
            <a:endParaRPr lang="pt-BR" sz="1800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Usar a função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pt-BR" sz="1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 Ela vai retornar a quantidade de elementos da lista. Se esta quantidade for igual a 6 exibir a mensagem “Parabéns!!! Você é um milionário”, caso contrário “Tente outra vez (mané)”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254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14503</TotalTime>
  <Words>1335</Words>
  <Application>Microsoft Office PowerPoint</Application>
  <PresentationFormat>Widescreen</PresentationFormat>
  <Paragraphs>232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Arial Unicode MS</vt:lpstr>
      <vt:lpstr>Agency FB</vt:lpstr>
      <vt:lpstr>Arial</vt:lpstr>
      <vt:lpstr>Arial Nova</vt:lpstr>
      <vt:lpstr>Calibri</vt:lpstr>
      <vt:lpstr>Calibri Light</vt:lpstr>
      <vt:lpstr>Times New Roman</vt:lpstr>
      <vt:lpstr>Tema do Office</vt:lpstr>
      <vt:lpstr>Apresentação do PowerPoint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  <vt:lpstr>IMPORT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186</cp:revision>
  <dcterms:created xsi:type="dcterms:W3CDTF">2017-07-19T17:45:31Z</dcterms:created>
  <dcterms:modified xsi:type="dcterms:W3CDTF">2025-10-16T21:11:11Z</dcterms:modified>
</cp:coreProperties>
</file>