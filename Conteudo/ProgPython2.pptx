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325" r:id="rId4"/>
    <p:sldId id="324" r:id="rId5"/>
    <p:sldId id="326" r:id="rId6"/>
    <p:sldId id="327" r:id="rId7"/>
    <p:sldId id="32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325"/>
            <p14:sldId id="324"/>
            <p14:sldId id="326"/>
            <p14:sldId id="327"/>
            <p14:sldId id="328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66CC"/>
    <a:srgbClr val="CC0000"/>
    <a:srgbClr val="CC3300"/>
    <a:srgbClr val="FF66FF"/>
    <a:srgbClr val="00B0F0"/>
    <a:srgbClr val="FF0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domlibertadiparola.blogspot.com/2018/03/circondati-e-soffocati-dagli-algoritmi.html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iki.sj.ifsc.edu.br/wiki/index.php/PRG-2011-2-tiago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s/problema-an%C3%A1lisis-soluci%C3%B3n-mano-67054/" TargetMode="External"/><Relationship Id="rId13" Type="http://schemas.openxmlformats.org/officeDocument/2006/relationships/image" Target="../media/image13.svg"/><Relationship Id="rId3" Type="http://schemas.openxmlformats.org/officeDocument/2006/relationships/image" Target="../media/image5.png"/><Relationship Id="rId7" Type="http://schemas.openxmlformats.org/officeDocument/2006/relationships/image" Target="../media/image10.jp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ixabay.com/pt/ponto-de-interroga%C3%A7%C3%A3o-pergunta-1019983/" TargetMode="External"/><Relationship Id="rId11" Type="http://schemas.openxmlformats.org/officeDocument/2006/relationships/hyperlink" Target="https://creativecommons.org/licenses/by-nc-sa/3.0/" TargetMode="External"/><Relationship Id="rId5" Type="http://schemas.openxmlformats.org/officeDocument/2006/relationships/image" Target="../media/image9.jpg"/><Relationship Id="rId10" Type="http://schemas.openxmlformats.org/officeDocument/2006/relationships/hyperlink" Target="https://webquestaprende.blogspot.com/2018/03/planteamiento-del-problema.html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hyperlink" Target="https://svgsilh.com/es/image/171299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 dirty="0"/>
              <a:t>Aula 2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ALGORITMOS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796344" cy="5215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3600" dirty="0"/>
              <a:t>O que é um Algoritmo?</a:t>
            </a:r>
          </a:p>
          <a:p>
            <a:pPr marL="0" indent="0">
              <a:buNone/>
            </a:pPr>
            <a:r>
              <a:rPr lang="pt-BR" sz="1600" dirty="0"/>
              <a:t>Um </a:t>
            </a:r>
            <a:r>
              <a:rPr lang="pt-BR" sz="1600" b="1" dirty="0"/>
              <a:t>algoritmo</a:t>
            </a:r>
            <a:r>
              <a:rPr lang="pt-BR" sz="1600" dirty="0"/>
              <a:t> é um conjunto de </a:t>
            </a:r>
            <a:r>
              <a:rPr lang="pt-BR" sz="1600" b="1" dirty="0"/>
              <a:t>instruções ou passos sequenciais</a:t>
            </a:r>
            <a:r>
              <a:rPr lang="pt-BR" sz="1600" dirty="0"/>
              <a:t> que descrevem como resolver um problema ou realizar uma tarefa específica. Ele pode ser representado em linguagem natural, fluxogramas, pseudocódigo ou, mais comumente, em linguagens de programação.</a:t>
            </a:r>
          </a:p>
          <a:p>
            <a:pPr>
              <a:buNone/>
            </a:pPr>
            <a:r>
              <a:rPr lang="pt-BR" sz="1400" b="1" dirty="0"/>
              <a:t>Exemplo simples de algoritmo (em linguagem natural):</a:t>
            </a:r>
          </a:p>
          <a:p>
            <a:pPr>
              <a:buNone/>
            </a:pPr>
            <a:r>
              <a:rPr lang="pt-BR" sz="1400" b="1" dirty="0"/>
              <a:t>Problema</a:t>
            </a:r>
            <a:r>
              <a:rPr lang="pt-BR" sz="1400" dirty="0"/>
              <a:t>: Fazer um café</a:t>
            </a:r>
            <a:br>
              <a:rPr lang="pt-BR" sz="1400" dirty="0"/>
            </a:br>
            <a:r>
              <a:rPr lang="pt-BR" sz="1400" b="1" dirty="0"/>
              <a:t>Algoritmo</a:t>
            </a:r>
            <a:r>
              <a:rPr lang="pt-BR" sz="1400" dirty="0"/>
              <a:t>:</a:t>
            </a:r>
          </a:p>
          <a:p>
            <a:pPr>
              <a:buFont typeface="+mj-lt"/>
              <a:buAutoNum type="arabicPeriod"/>
            </a:pPr>
            <a:r>
              <a:rPr lang="pt-BR" sz="1400" dirty="0"/>
              <a:t>Colocar água na chaleira</a:t>
            </a:r>
          </a:p>
          <a:p>
            <a:pPr>
              <a:buFont typeface="+mj-lt"/>
              <a:buAutoNum type="arabicPeriod"/>
            </a:pPr>
            <a:r>
              <a:rPr lang="pt-BR" sz="1400" dirty="0"/>
              <a:t>Ligar o fogão e aquecer a água</a:t>
            </a:r>
          </a:p>
          <a:p>
            <a:pPr>
              <a:buFont typeface="+mj-lt"/>
              <a:buAutoNum type="arabicPeriod"/>
            </a:pPr>
            <a:r>
              <a:rPr lang="pt-BR" sz="1400" dirty="0"/>
              <a:t>Colocar o pó de café no filtro</a:t>
            </a:r>
          </a:p>
          <a:p>
            <a:pPr>
              <a:buFont typeface="+mj-lt"/>
              <a:buAutoNum type="arabicPeriod"/>
            </a:pPr>
            <a:r>
              <a:rPr lang="pt-BR" sz="1400" dirty="0"/>
              <a:t>Despejar a água quente sobre o pó</a:t>
            </a:r>
          </a:p>
          <a:p>
            <a:pPr>
              <a:buFont typeface="+mj-lt"/>
              <a:buAutoNum type="arabicPeriod"/>
            </a:pPr>
            <a:r>
              <a:rPr lang="pt-BR" sz="1400" dirty="0"/>
              <a:t>Esperar o café passar</a:t>
            </a:r>
          </a:p>
          <a:p>
            <a:pPr>
              <a:buFont typeface="+mj-lt"/>
              <a:buAutoNum type="arabicPeriod"/>
            </a:pPr>
            <a:r>
              <a:rPr lang="pt-BR" sz="1400" dirty="0"/>
              <a:t>Servir na xícara</a:t>
            </a:r>
          </a:p>
          <a:p>
            <a:pPr marL="0" indent="0"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AC2374C-6A33-D99D-441E-159D234E9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395357" y="2121169"/>
            <a:ext cx="57150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ALGORITMOS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221783" cy="521543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pt-BR" sz="2400" b="1" dirty="0"/>
              <a:t>Importância do Algoritmo na Aprendizagem de Programação: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Base do raciocínio lógico</a:t>
            </a:r>
            <a:br>
              <a:rPr lang="pt-BR" sz="2400" dirty="0"/>
            </a:br>
            <a:r>
              <a:rPr lang="pt-BR" sz="2400" dirty="0"/>
              <a:t>Aprender a criar algoritmos desenvolve o pensamento lógico e estruturado, essencial para resolver problemas com clareza.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Independência da linguagem de programação</a:t>
            </a:r>
            <a:br>
              <a:rPr lang="pt-BR" sz="2400" dirty="0"/>
            </a:br>
            <a:r>
              <a:rPr lang="pt-BR" sz="2400" dirty="0"/>
              <a:t>Antes de se preocupar com a sintaxe de uma linguagem como Python, Java ou C++, o aluno precisa entender </a:t>
            </a:r>
            <a:r>
              <a:rPr lang="pt-BR" sz="2400" b="1" dirty="0"/>
              <a:t>como</a:t>
            </a:r>
            <a:r>
              <a:rPr lang="pt-BR" sz="2400" dirty="0"/>
              <a:t> resolver o problema — ou seja, o algoritmo vem primeiro.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Facilita o entendimento do código</a:t>
            </a:r>
            <a:br>
              <a:rPr lang="pt-BR" sz="2400" dirty="0"/>
            </a:br>
            <a:r>
              <a:rPr lang="pt-BR" sz="2400" dirty="0"/>
              <a:t>Um bom algoritmo serve como um plano antes da codificação. Isso ajuda o programador a evitar erros e a escrever códigos mais organizados.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Permite a resolução de problemas complexos</a:t>
            </a:r>
            <a:br>
              <a:rPr lang="pt-BR" sz="2400" dirty="0"/>
            </a:br>
            <a:r>
              <a:rPr lang="pt-BR" sz="2400" dirty="0"/>
              <a:t>Dividir grandes problemas em passos menores (sub algoritmos) facilita o desenvolvimento de soluções escaláveis e eficientes.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Melhora a capacidade de depuração (debug)</a:t>
            </a:r>
            <a:br>
              <a:rPr lang="pt-BR" sz="2400" dirty="0"/>
            </a:br>
            <a:r>
              <a:rPr lang="pt-BR" sz="2400" dirty="0"/>
              <a:t>Entender a lógica por trás do algoritmo ajuda a identificar onde estão os erros no programa.</a:t>
            </a:r>
          </a:p>
          <a:p>
            <a:pPr>
              <a:buNone/>
            </a:pPr>
            <a:r>
              <a:rPr lang="pt-BR" sz="2400" b="1" dirty="0"/>
              <a:t>Algoritmo é o coração da programação.</a:t>
            </a:r>
          </a:p>
          <a:p>
            <a:pPr>
              <a:buNone/>
            </a:pPr>
            <a:br>
              <a:rPr lang="pt-BR" sz="2400" dirty="0"/>
            </a:br>
            <a:r>
              <a:rPr lang="pt-BR" sz="2400" dirty="0"/>
              <a:t>Sem ele, o código é apenas uma sequência confusa de comandos. Com ele, temos organização, clareza e eficiência.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34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85B5B-FBB5-D378-F5BF-5ECF8B60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D9C5AE28-1766-3E5D-8EFD-BC44AC2678FB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18558A5-E1CE-DCD2-82D9-D1ACCFE5A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09198C5-2816-6177-B16C-CF06EAF9AC50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630B5FEA-09F6-B520-915D-5C31C8E5D9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2D6C0BA-D1A3-CDCA-A3F9-6809461EB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03F4EB6-18B5-8700-033C-C12ED9AF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FLUXOGRAMAS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792440E-489E-48A7-A36C-B1202D3A4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387937" cy="5215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b="1" dirty="0"/>
              <a:t>Uso de Fluxogramas em Lógica de Programação</a:t>
            </a:r>
            <a:endParaRPr lang="pt-BR" dirty="0"/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O que é um Fluxograma?</a:t>
            </a:r>
          </a:p>
          <a:p>
            <a:r>
              <a:rPr lang="pt-BR" sz="1800" dirty="0"/>
              <a:t>Representação gráfica de um processo ou algoritmo.</a:t>
            </a:r>
          </a:p>
          <a:p>
            <a:r>
              <a:rPr lang="pt-BR" sz="1800" dirty="0"/>
              <a:t>Usa símbolos padronizados para mostrar o fluxo de execução.</a:t>
            </a:r>
          </a:p>
          <a:p>
            <a:r>
              <a:rPr lang="pt-BR" sz="1800" dirty="0"/>
              <a:t>Facilita a visualização da lógica antes da programação.</a:t>
            </a:r>
          </a:p>
          <a:p>
            <a:endParaRPr lang="pt-BR" sz="1800" dirty="0"/>
          </a:p>
          <a:p>
            <a:pPr marL="0" indent="0">
              <a:buNone/>
            </a:pPr>
            <a:r>
              <a:rPr lang="pt-BR" dirty="0"/>
              <a:t>Por que usar Fluxogramas?</a:t>
            </a:r>
            <a:endParaRPr lang="pt-BR" sz="1600" dirty="0"/>
          </a:p>
          <a:p>
            <a:r>
              <a:rPr lang="pt-BR" sz="1800" dirty="0"/>
              <a:t>Clareza na lógica.</a:t>
            </a:r>
          </a:p>
          <a:p>
            <a:r>
              <a:rPr lang="pt-BR" sz="1800" dirty="0"/>
              <a:t>Facilidade para detectar erros.</a:t>
            </a:r>
          </a:p>
          <a:p>
            <a:r>
              <a:rPr lang="pt-BR" sz="1800" dirty="0"/>
              <a:t>Ajuda na comunicação entre programadores e não programadores.</a:t>
            </a:r>
          </a:p>
          <a:p>
            <a:r>
              <a:rPr lang="pt-BR" sz="1800" dirty="0"/>
              <a:t>Boa prática para planejamento antes da codificação.</a:t>
            </a:r>
          </a:p>
          <a:p>
            <a:pPr marL="0" indent="0">
              <a:lnSpc>
                <a:spcPct val="150000"/>
              </a:lnSpc>
              <a:buNone/>
            </a:pP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DF99E2B0-0C54-F5D7-44C7-284E053750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142647" y="1819834"/>
            <a:ext cx="4762660" cy="32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9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3893D-4101-AE49-F30F-118E6582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8E0E136D-42E7-8285-D358-E31064A04571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853445E-4243-1F3F-5DC6-C02680587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6D1921D-3A07-5801-5A5F-AF659C86ADEE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A15BA8E2-228E-2B5F-A123-2D80CA3B1A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F6C3936-E081-DA05-7265-CEE783B20C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13DF65A-40FB-FA3F-F6DC-461B152D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FLUXOGRAMAS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6F2E510-0A25-4E74-94F5-1F2C138D9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387937" cy="5215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b="1" dirty="0"/>
              <a:t>Como podemos criar Fluxogramas</a:t>
            </a:r>
            <a:endParaRPr lang="pt-BR" dirty="0"/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Existem diversas ferramentas gratuitas para criar fluxogramas para os seus projetos de softwares de banco de dados ou fluxo de trabalhos.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Pode ser criado em ferramentas como </a:t>
            </a:r>
            <a:r>
              <a:rPr lang="pt-BR" dirty="0" err="1"/>
              <a:t>Lucidchart</a:t>
            </a:r>
            <a:r>
              <a:rPr lang="pt-BR" dirty="0"/>
              <a:t>, Draw.io ou com formas no PowerPoint. </a:t>
            </a:r>
            <a:endParaRPr lang="pt-BR" sz="1800" dirty="0"/>
          </a:p>
          <a:p>
            <a:pPr marL="0" indent="0">
              <a:lnSpc>
                <a:spcPct val="150000"/>
              </a:lnSpc>
              <a:buNone/>
            </a:pP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94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F6CD-939C-58BF-2304-B59BC8CD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3C8BF2C-46FC-8FC0-E02F-8D681A2980AA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9940B86-5B15-B7A3-0307-7C04595E2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D5FC738-C5D0-0E9F-05A5-6E5A1E5B3BF4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274D79E-9304-66C7-A2AD-9DEF8350DE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F0A7547-8E56-0A0A-40CC-FE7BED76B9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8A9B5F66-2068-DAE6-8E78-759BE04D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FLUXOGRAMAS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960B37E3-52A8-552A-DF86-240A4E66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7977840" cy="5215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/>
              <a:t>Principais fluxogramas:</a:t>
            </a:r>
            <a:endParaRPr lang="pt-B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pt-BR" sz="2000" b="1" dirty="0"/>
              <a:t>Cilindro: </a:t>
            </a:r>
            <a:r>
              <a:rPr lang="pt-BR" sz="2000" dirty="0"/>
              <a:t>determina o começo e o fim de um projeto;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1" dirty="0"/>
              <a:t>Seta: </a:t>
            </a:r>
            <a:r>
              <a:rPr lang="pt-BR" sz="2000" dirty="0"/>
              <a:t>indica o fluxo do processo lógico. Geralmente de cima para baixo;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1" dirty="0"/>
              <a:t>Polígono: </a:t>
            </a:r>
            <a:r>
              <a:rPr lang="pt-BR" sz="2000" dirty="0"/>
              <a:t>Indica o armazenamento da valores;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1" dirty="0"/>
              <a:t>Retângulo: </a:t>
            </a:r>
            <a:r>
              <a:rPr lang="pt-BR" sz="2000" dirty="0"/>
              <a:t>Representa processos de cálculos ou métodos matemáticos;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1" dirty="0"/>
              <a:t>Impressão: </a:t>
            </a:r>
            <a:r>
              <a:rPr lang="pt-BR" sz="2000" dirty="0"/>
              <a:t>Exibe ou imprime valores na tela;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1" dirty="0"/>
              <a:t>Losango (diamante): </a:t>
            </a:r>
            <a:r>
              <a:rPr lang="pt-BR" sz="2000" dirty="0"/>
              <a:t>Usado para tomadas de decisão;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1" dirty="0"/>
              <a:t>Elipse: </a:t>
            </a:r>
            <a:r>
              <a:rPr lang="pt-BR" sz="2000" dirty="0"/>
              <a:t>ponto de ligação. Usado para indicar o fim de um processo ou conectar um bloco lógico em outro.</a:t>
            </a:r>
          </a:p>
          <a:p>
            <a:pPr marL="0" indent="0">
              <a:lnSpc>
                <a:spcPct val="150000"/>
              </a:lnSpc>
              <a:buNone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4D8D8F8-5E9F-D9D6-298B-71C8AE32D6AF}"/>
              </a:ext>
            </a:extLst>
          </p:cNvPr>
          <p:cNvSpPr/>
          <p:nvPr/>
        </p:nvSpPr>
        <p:spPr>
          <a:xfrm>
            <a:off x="9557656" y="5175502"/>
            <a:ext cx="670560" cy="67056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7F7D1D1-C0B8-1CC7-F373-6C9AF7C72B76}"/>
              </a:ext>
            </a:extLst>
          </p:cNvPr>
          <p:cNvCxnSpPr>
            <a:cxnSpLocks/>
          </p:cNvCxnSpPr>
          <p:nvPr/>
        </p:nvCxnSpPr>
        <p:spPr>
          <a:xfrm>
            <a:off x="9892936" y="2019941"/>
            <a:ext cx="1" cy="4694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uxograma: Entrada Manual 10">
            <a:extLst>
              <a:ext uri="{FF2B5EF4-FFF2-40B4-BE49-F238E27FC236}">
                <a16:creationId xmlns:a16="http://schemas.microsoft.com/office/drawing/2014/main" id="{10730C97-0C2C-D80E-4ECF-D022B165277A}"/>
              </a:ext>
            </a:extLst>
          </p:cNvPr>
          <p:cNvSpPr/>
          <p:nvPr/>
        </p:nvSpPr>
        <p:spPr>
          <a:xfrm>
            <a:off x="9085216" y="2644984"/>
            <a:ext cx="1615440" cy="469429"/>
          </a:xfrm>
          <a:prstGeom prst="flowChartManualInpu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luxograma: Terminação 11">
            <a:extLst>
              <a:ext uri="{FF2B5EF4-FFF2-40B4-BE49-F238E27FC236}">
                <a16:creationId xmlns:a16="http://schemas.microsoft.com/office/drawing/2014/main" id="{2814D7DC-5C0A-165A-BD23-E2E554FE08B2}"/>
              </a:ext>
            </a:extLst>
          </p:cNvPr>
          <p:cNvSpPr/>
          <p:nvPr/>
        </p:nvSpPr>
        <p:spPr>
          <a:xfrm>
            <a:off x="9001396" y="1455883"/>
            <a:ext cx="1783081" cy="447406"/>
          </a:xfrm>
          <a:prstGeom prst="flowChartTerminator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Fluxograma: Processo 12">
            <a:extLst>
              <a:ext uri="{FF2B5EF4-FFF2-40B4-BE49-F238E27FC236}">
                <a16:creationId xmlns:a16="http://schemas.microsoft.com/office/drawing/2014/main" id="{9EE4BBBC-4A16-8F55-B578-46EFC2F5B5D9}"/>
              </a:ext>
            </a:extLst>
          </p:cNvPr>
          <p:cNvSpPr/>
          <p:nvPr/>
        </p:nvSpPr>
        <p:spPr>
          <a:xfrm>
            <a:off x="9085216" y="3378884"/>
            <a:ext cx="1615440" cy="407406"/>
          </a:xfrm>
          <a:prstGeom prst="flowChartProcess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Fluxograma: Dados Armazenados 15">
            <a:extLst>
              <a:ext uri="{FF2B5EF4-FFF2-40B4-BE49-F238E27FC236}">
                <a16:creationId xmlns:a16="http://schemas.microsoft.com/office/drawing/2014/main" id="{3EE06C03-FB2A-1B2F-179F-1DBAE3306ADE}"/>
              </a:ext>
            </a:extLst>
          </p:cNvPr>
          <p:cNvSpPr/>
          <p:nvPr/>
        </p:nvSpPr>
        <p:spPr>
          <a:xfrm>
            <a:off x="9085216" y="3938710"/>
            <a:ext cx="1615440" cy="407406"/>
          </a:xfrm>
          <a:prstGeom prst="flowChartOnlineStorag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Fluxograma: Decisão 16">
            <a:extLst>
              <a:ext uri="{FF2B5EF4-FFF2-40B4-BE49-F238E27FC236}">
                <a16:creationId xmlns:a16="http://schemas.microsoft.com/office/drawing/2014/main" id="{72E81BAB-11F3-4409-52D1-63F2C3A19F5F}"/>
              </a:ext>
            </a:extLst>
          </p:cNvPr>
          <p:cNvSpPr/>
          <p:nvPr/>
        </p:nvSpPr>
        <p:spPr>
          <a:xfrm>
            <a:off x="9085216" y="4498536"/>
            <a:ext cx="1615440" cy="524546"/>
          </a:xfrm>
          <a:prstGeom prst="flowChartDecision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611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BE8FD-91D6-259F-7295-E543A4E6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480F13E-3D08-F18B-A2EB-3255F353FFF8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96FADA3-42F2-83B8-A5A0-55E534ABA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D317EA2-83DD-7571-C714-6E82650458D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F746B4E3-39B1-DFC6-3869-58670B2D3E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3BFFD00-D7D2-A88A-C086-2B7137B17C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4DF058C-77E9-7DFF-FA9A-383BACF9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FLUXOGRAMAS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B522436-500B-3909-3CD5-EFF3869E6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7977840" cy="5215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b="1" dirty="0"/>
              <a:t>Como criar bons fluxogramas ?</a:t>
            </a:r>
            <a:endParaRPr lang="pt-BR" dirty="0"/>
          </a:p>
          <a:p>
            <a:pPr marL="0" indent="0">
              <a:buNone/>
            </a:pPr>
            <a:r>
              <a:rPr lang="pt-BR" sz="2400" dirty="0"/>
              <a:t>1. Identifique o problema.</a:t>
            </a:r>
          </a:p>
          <a:p>
            <a:pPr marL="0" indent="0">
              <a:buNone/>
            </a:pPr>
            <a:r>
              <a:rPr lang="pt-BR" sz="2400" dirty="0"/>
              <a:t>2. Liste os passos principais.</a:t>
            </a:r>
          </a:p>
          <a:p>
            <a:pPr marL="0" indent="0">
              <a:buNone/>
            </a:pPr>
            <a:r>
              <a:rPr lang="pt-BR" sz="2400" dirty="0"/>
              <a:t>3. Escolha os símbolos corretos.</a:t>
            </a:r>
          </a:p>
          <a:p>
            <a:pPr marL="0" indent="0">
              <a:buNone/>
            </a:pPr>
            <a:r>
              <a:rPr lang="pt-BR" sz="2400" dirty="0"/>
              <a:t>4. Organize em ordem lógica.</a:t>
            </a:r>
          </a:p>
          <a:p>
            <a:pPr marL="0" indent="0">
              <a:buNone/>
            </a:pPr>
            <a:r>
              <a:rPr lang="pt-BR" sz="2400" dirty="0"/>
              <a:t>5. Revise e teste a lógica.</a:t>
            </a:r>
          </a:p>
          <a:p>
            <a:pPr marL="0" indent="0">
              <a:lnSpc>
                <a:spcPct val="150000"/>
              </a:lnSpc>
              <a:buNone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0" name="Imagem 9" descr="Ícone">
            <a:extLst>
              <a:ext uri="{FF2B5EF4-FFF2-40B4-BE49-F238E27FC236}">
                <a16:creationId xmlns:a16="http://schemas.microsoft.com/office/drawing/2014/main" id="{B48A36B5-A066-856A-CE7C-DFBEC66052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674788" y="3555378"/>
            <a:ext cx="2596709" cy="2596709"/>
          </a:xfrm>
          <a:prstGeom prst="rect">
            <a:avLst/>
          </a:prstGeom>
        </p:spPr>
      </p:pic>
      <p:pic>
        <p:nvPicPr>
          <p:cNvPr id="19" name="Imagem 18" descr="Interface gráfica do usuário">
            <a:extLst>
              <a:ext uri="{FF2B5EF4-FFF2-40B4-BE49-F238E27FC236}">
                <a16:creationId xmlns:a16="http://schemas.microsoft.com/office/drawing/2014/main" id="{CE05CBFD-7807-7F45-3504-528EA3E818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675219" y="695218"/>
            <a:ext cx="4224655" cy="2607405"/>
          </a:xfrm>
          <a:prstGeom prst="rect">
            <a:avLst/>
          </a:prstGeom>
        </p:spPr>
      </p:pic>
      <p:pic>
        <p:nvPicPr>
          <p:cNvPr id="21" name="Imagem 20" descr="Ícone">
            <a:extLst>
              <a:ext uri="{FF2B5EF4-FFF2-40B4-BE49-F238E27FC236}">
                <a16:creationId xmlns:a16="http://schemas.microsoft.com/office/drawing/2014/main" id="{C3C37CD2-A412-BFC6-DE6D-93949AC9C8C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73427" y="3736650"/>
            <a:ext cx="2246023" cy="2246023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69790B44-03D2-91D5-5511-A165E729B2DE}"/>
              </a:ext>
            </a:extLst>
          </p:cNvPr>
          <p:cNvSpPr txBox="1"/>
          <p:nvPr/>
        </p:nvSpPr>
        <p:spPr>
          <a:xfrm>
            <a:off x="2967000" y="71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10" tooltip="https://webquestaprende.blogspot.com/2018/03/planteamiento-del-problema.html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11" tooltip="https://creativecommons.org/licenses/by-nc-sa/3.0/"/>
              </a:rPr>
              <a:t>CC BY-SA-NC</a:t>
            </a:r>
            <a:endParaRPr lang="pt-BR" sz="900"/>
          </a:p>
        </p:txBody>
      </p:sp>
      <p:pic>
        <p:nvPicPr>
          <p:cNvPr id="24" name="Gráfico 23">
            <a:extLst>
              <a:ext uri="{FF2B5EF4-FFF2-40B4-BE49-F238E27FC236}">
                <a16:creationId xmlns:a16="http://schemas.microsoft.com/office/drawing/2014/main" id="{3552779D-737F-BBA2-D42D-74E48C356C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3781789" y="3615380"/>
            <a:ext cx="4005758" cy="280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678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13864</TotalTime>
  <Words>566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Agency FB</vt:lpstr>
      <vt:lpstr>Arial</vt:lpstr>
      <vt:lpstr>Calibri</vt:lpstr>
      <vt:lpstr>Calibri Light</vt:lpstr>
      <vt:lpstr>Tema do Office</vt:lpstr>
      <vt:lpstr>Apresentação do PowerPoint</vt:lpstr>
      <vt:lpstr>ALGORITMOS</vt:lpstr>
      <vt:lpstr>ALGORITMOS</vt:lpstr>
      <vt:lpstr>FLUXOGRAMAS</vt:lpstr>
      <vt:lpstr>FLUXOGRAMAS</vt:lpstr>
      <vt:lpstr>FLUXOGRAMAS</vt:lpstr>
      <vt:lpstr>FLUXOGRAMAS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165</cp:revision>
  <dcterms:created xsi:type="dcterms:W3CDTF">2017-07-19T17:45:31Z</dcterms:created>
  <dcterms:modified xsi:type="dcterms:W3CDTF">2025-09-18T20:01:56Z</dcterms:modified>
</cp:coreProperties>
</file>