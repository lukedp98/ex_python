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3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81" r:id="rId1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761E820B-E4B9-4326-9E0A-32245E96C64A}">
          <p14:sldIdLst>
            <p14:sldId id="256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</p14:sldIdLst>
        </p14:section>
        <p14:section name="Seção sem Título" id="{5D3938C1-01F9-431A-A6F1-E3F345A874E4}">
          <p14:sldIdLst>
            <p14:sldId id="28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FF"/>
    <a:srgbClr val="00B0F0"/>
    <a:srgbClr val="5B9BD5"/>
    <a:srgbClr val="FF5050"/>
    <a:srgbClr val="0066CC"/>
    <a:srgbClr val="CC0000"/>
    <a:srgbClr val="CC33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DBED569-4797-4DF1-A0F4-6AAB3CD982D8}" styleName="Estilo Claro 3 - Ênfase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Estilo Claro 2 - Ênfase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34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28/10/2025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6568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28/10/2025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4059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28/10/2025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6679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28/10/2025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2696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28/10/2025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5157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28/10/2025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4840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28/10/2025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68552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28/10/2025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2693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28/10/2025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7405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28/10/2025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3490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28/10/2025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9333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AE46FC-05F1-4E56-8287-A94ECB08D438}" type="datetimeFigureOut">
              <a:rPr lang="pt-BR" smtClean="0"/>
              <a:t>28/10/2025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452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tif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81445"/>
          </a:xfrm>
          <a:prstGeom prst="rect">
            <a:avLst/>
          </a:prstGeom>
        </p:spPr>
      </p:pic>
      <p:sp>
        <p:nvSpPr>
          <p:cNvPr id="4" name="CaixaDeTexto 3"/>
          <p:cNvSpPr txBox="1"/>
          <p:nvPr/>
        </p:nvSpPr>
        <p:spPr>
          <a:xfrm>
            <a:off x="242229" y="979663"/>
            <a:ext cx="864640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>
                <a:solidFill>
                  <a:srgbClr val="FF0000"/>
                </a:solidFill>
              </a:rPr>
              <a:t>Curso de Formação Inicial e Continuada</a:t>
            </a:r>
          </a:p>
          <a:p>
            <a:pPr algn="ctr"/>
            <a:r>
              <a:rPr lang="pt-BR" sz="3600" b="1" dirty="0"/>
              <a:t>Programação em Python</a:t>
            </a:r>
          </a:p>
          <a:p>
            <a:pPr algn="ctr"/>
            <a:r>
              <a:rPr lang="pt-BR" sz="3600"/>
              <a:t>Aula 13 </a:t>
            </a:r>
            <a:endParaRPr lang="pt-BR" sz="3600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0986" y="4575360"/>
            <a:ext cx="2571113" cy="1644139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-4911" y="6488668"/>
            <a:ext cx="12196911" cy="36933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solidFill>
                  <a:schemeClr val="bg1"/>
                </a:solidFill>
                <a:latin typeface="+mn-lt"/>
              </a:rPr>
              <a:t>Rua Santo André, 680 – Boa Vista – São Caetano do Sul</a:t>
            </a:r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936" y="3868032"/>
            <a:ext cx="2272376" cy="947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531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/>
          <p:cNvGrpSpPr/>
          <p:nvPr/>
        </p:nvGrpSpPr>
        <p:grpSpPr>
          <a:xfrm>
            <a:off x="0" y="0"/>
            <a:ext cx="12192000" cy="6870358"/>
            <a:chOff x="0" y="0"/>
            <a:chExt cx="12192000" cy="6870358"/>
          </a:xfrm>
        </p:grpSpPr>
        <p:pic>
          <p:nvPicPr>
            <p:cNvPr id="5" name="Imagem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70358"/>
            </a:xfrm>
            <a:prstGeom prst="rect">
              <a:avLst/>
            </a:prstGeom>
          </p:spPr>
        </p:pic>
        <p:sp>
          <p:nvSpPr>
            <p:cNvPr id="4" name="Retângulo 3"/>
            <p:cNvSpPr/>
            <p:nvPr/>
          </p:nvSpPr>
          <p:spPr>
            <a:xfrm>
              <a:off x="9995561" y="5567881"/>
              <a:ext cx="1909746" cy="4074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6" name="Imagem 5"/>
          <p:cNvPicPr>
            <a:picLocks noChangeAspect="1"/>
          </p:cNvPicPr>
          <p:nvPr/>
        </p:nvPicPr>
        <p:blipFill rotWithShape="1">
          <a:blip r:embed="rId3"/>
          <a:srcRect b="38508"/>
          <a:stretch/>
        </p:blipFill>
        <p:spPr>
          <a:xfrm>
            <a:off x="9995561" y="206091"/>
            <a:ext cx="1812506" cy="463145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130" y="47980"/>
            <a:ext cx="938710" cy="600273"/>
          </a:xfrm>
          <a:prstGeom prst="rect">
            <a:avLst/>
          </a:prstGeom>
        </p:spPr>
      </p:pic>
      <p:sp>
        <p:nvSpPr>
          <p:cNvPr id="15" name="Título 14"/>
          <p:cNvSpPr>
            <a:spLocks noGrp="1"/>
          </p:cNvSpPr>
          <p:nvPr>
            <p:ph type="title"/>
          </p:nvPr>
        </p:nvSpPr>
        <p:spPr>
          <a:xfrm>
            <a:off x="1568388" y="13498"/>
            <a:ext cx="9055224" cy="669236"/>
          </a:xfrm>
        </p:spPr>
        <p:txBody>
          <a:bodyPr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3000" b="1" dirty="0"/>
              <a:t>Manipulação de Arquivos em Python</a:t>
            </a:r>
          </a:p>
        </p:txBody>
      </p:sp>
      <p:sp>
        <p:nvSpPr>
          <p:cNvPr id="14" name="Espaço Reservado para Conteúdo 13"/>
          <p:cNvSpPr>
            <a:spLocks noGrp="1"/>
          </p:cNvSpPr>
          <p:nvPr>
            <p:ph idx="1"/>
          </p:nvPr>
        </p:nvSpPr>
        <p:spPr>
          <a:xfrm>
            <a:off x="517371" y="875327"/>
            <a:ext cx="5714403" cy="5215431"/>
          </a:xfrm>
        </p:spPr>
        <p:txBody>
          <a:bodyPr>
            <a:norm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1800" dirty="0"/>
              <a:t>A manipulação de arquivos em Python serve para que um programa consiga guardar, acessar, alterar e organizar informações de forma permanente (fora da memória do computador).</a:t>
            </a:r>
          </a:p>
          <a:p>
            <a:pPr marL="0" indent="0">
              <a:buNone/>
            </a:pPr>
            <a:r>
              <a:rPr lang="pt-BR" sz="1800" b="1" dirty="0"/>
              <a:t>Por que manipular arquivos?</a:t>
            </a:r>
          </a:p>
          <a:p>
            <a:pPr marL="0" indent="0">
              <a:buNone/>
            </a:pPr>
            <a:r>
              <a:rPr lang="pt-BR" sz="1800" dirty="0"/>
              <a:t>Quando rodamos um programa, tudo que ele faz (variáveis, cálculos, listas, etc.) fica só na memória RAM.</a:t>
            </a:r>
            <a:br>
              <a:rPr lang="pt-BR" sz="1800" dirty="0"/>
            </a:br>
            <a:r>
              <a:rPr lang="pt-BR" sz="1800" dirty="0"/>
              <a:t>Se fecharmos o programa, tudo se perde.</a:t>
            </a:r>
          </a:p>
          <a:p>
            <a:pPr marL="0" indent="0">
              <a:buNone/>
            </a:pPr>
            <a:r>
              <a:rPr lang="pt-BR" sz="1800" dirty="0"/>
              <a:t>Com arquivos, conseguimos salvar e recuperar informações sempre que precisarmos.</a:t>
            </a:r>
          </a:p>
          <a:p>
            <a:pPr marL="0" indent="0">
              <a:buNone/>
            </a:pPr>
            <a:endParaRPr lang="pt-BR" sz="18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Salvar dados de usuários</a:t>
            </a:r>
            <a:endParaRPr lang="pt-BR" altLang="pt-BR" sz="18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Exemplo: guardar nome, idade, pontuação de um jogo, preferências de um app etc.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Arquivos 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</a:t>
            </a:r>
            <a:r>
              <a:rPr kumimoji="0" lang="pt-BR" altLang="pt-B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txt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ou 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</a:t>
            </a:r>
            <a:r>
              <a:rPr kumimoji="0" lang="pt-BR" altLang="pt-B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csv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podem ser usados para registrar informações.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1800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1800" dirty="0"/>
          </a:p>
        </p:txBody>
      </p:sp>
      <p:sp>
        <p:nvSpPr>
          <p:cNvPr id="9" name="Espaço Reservado para Conteúdo 13">
            <a:extLst>
              <a:ext uri="{FF2B5EF4-FFF2-40B4-BE49-F238E27FC236}">
                <a16:creationId xmlns:a16="http://schemas.microsoft.com/office/drawing/2014/main" id="{C1F12C75-56A4-DDE5-E503-C3F7738E9390}"/>
              </a:ext>
            </a:extLst>
          </p:cNvPr>
          <p:cNvSpPr txBox="1">
            <a:spLocks/>
          </p:cNvSpPr>
          <p:nvPr/>
        </p:nvSpPr>
        <p:spPr>
          <a:xfrm>
            <a:off x="6313715" y="767242"/>
            <a:ext cx="5796344" cy="521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pt-BR" b="1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38" name="Espaço Reservado para Conteúdo 13">
            <a:extLst>
              <a:ext uri="{FF2B5EF4-FFF2-40B4-BE49-F238E27FC236}">
                <a16:creationId xmlns:a16="http://schemas.microsoft.com/office/drawing/2014/main" id="{622A14B8-3B82-1846-4517-0EEAA4F09E45}"/>
              </a:ext>
            </a:extLst>
          </p:cNvPr>
          <p:cNvSpPr txBox="1">
            <a:spLocks/>
          </p:cNvSpPr>
          <p:nvPr/>
        </p:nvSpPr>
        <p:spPr>
          <a:xfrm>
            <a:off x="6231774" y="865248"/>
            <a:ext cx="5796344" cy="521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Exemplo: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altLang="pt-BR" sz="1800" dirty="0">
              <a:latin typeface="Arial Unicode MS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pt-BR" altLang="pt-B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with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open("usuarios.txt", "a") as f: </a:t>
            </a:r>
            <a:r>
              <a:rPr kumimoji="0" lang="pt-BR" altLang="pt-B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f.write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("João - 25 anos\n")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altLang="pt-BR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manipulação de arquivos em Python serve para: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Persistir dados (não perder quando o programa fecha).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Organizar e compartilhar informações.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Automatizar tarefas que envolvem leitura e escrita de arquivos.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Integrar sistemas diferentes através de formatos como </a:t>
            </a: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</a:t>
            </a:r>
            <a:r>
              <a:rPr kumimoji="0" lang="pt-BR" altLang="pt-B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txt</a:t>
            </a: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</a:t>
            </a:r>
            <a:r>
              <a:rPr kumimoji="0" lang="pt-BR" altLang="pt-B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csv</a:t>
            </a: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</a:t>
            </a:r>
            <a:r>
              <a:rPr kumimoji="0" lang="pt-BR" altLang="pt-B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json</a:t>
            </a: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</a:t>
            </a:r>
            <a:r>
              <a:rPr kumimoji="0" lang="pt-BR" altLang="pt-B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xml</a:t>
            </a: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pt-BR" altLang="pt-BR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20956E-7626-3400-9AB7-F102C65183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20442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F6517-3F42-F8D7-4640-EE3C4D51D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479F00DA-BCDE-6605-5821-36A4AE1C3C02}"/>
              </a:ext>
            </a:extLst>
          </p:cNvPr>
          <p:cNvGrpSpPr/>
          <p:nvPr/>
        </p:nvGrpSpPr>
        <p:grpSpPr>
          <a:xfrm>
            <a:off x="0" y="0"/>
            <a:ext cx="12192000" cy="6870358"/>
            <a:chOff x="0" y="0"/>
            <a:chExt cx="12192000" cy="6870358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CDF9D6C6-FEB1-2F9A-DDCE-1534EC5A7DB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70358"/>
            </a:xfrm>
            <a:prstGeom prst="rect">
              <a:avLst/>
            </a:prstGeom>
          </p:spPr>
        </p:pic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C8BADFB3-EDBE-8994-8FEB-1648C499861B}"/>
                </a:ext>
              </a:extLst>
            </p:cNvPr>
            <p:cNvSpPr/>
            <p:nvPr/>
          </p:nvSpPr>
          <p:spPr>
            <a:xfrm>
              <a:off x="9995561" y="5567881"/>
              <a:ext cx="1909746" cy="4074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6" name="Imagem 5">
            <a:extLst>
              <a:ext uri="{FF2B5EF4-FFF2-40B4-BE49-F238E27FC236}">
                <a16:creationId xmlns:a16="http://schemas.microsoft.com/office/drawing/2014/main" id="{BFB4ED52-136E-22A1-8DCC-A50705E4898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8508"/>
          <a:stretch/>
        </p:blipFill>
        <p:spPr>
          <a:xfrm>
            <a:off x="9995561" y="206091"/>
            <a:ext cx="1812506" cy="46314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8D2CD894-AE25-D21B-9BE1-392FA80441D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130" y="47980"/>
            <a:ext cx="938710" cy="600273"/>
          </a:xfrm>
          <a:prstGeom prst="rect">
            <a:avLst/>
          </a:prstGeom>
        </p:spPr>
      </p:pic>
      <p:sp>
        <p:nvSpPr>
          <p:cNvPr id="15" name="Título 14">
            <a:extLst>
              <a:ext uri="{FF2B5EF4-FFF2-40B4-BE49-F238E27FC236}">
                <a16:creationId xmlns:a16="http://schemas.microsoft.com/office/drawing/2014/main" id="{07785CAA-6A26-A2ED-9FC0-BD6851757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8388" y="13498"/>
            <a:ext cx="9055224" cy="669236"/>
          </a:xfrm>
        </p:spPr>
        <p:txBody>
          <a:bodyPr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3000" b="1" dirty="0"/>
              <a:t>Manipulação de Arquivos em Python</a:t>
            </a:r>
          </a:p>
        </p:txBody>
      </p:sp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BDDF0A69-D047-23B1-555C-8719FEF217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371" y="875327"/>
            <a:ext cx="5714403" cy="5215431"/>
          </a:xfrm>
        </p:spPr>
        <p:txBody>
          <a:bodyPr>
            <a:norm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1800" dirty="0"/>
              <a:t>MODOS DE ABERTURA DE ARQUIVOS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sz="1800" dirty="0"/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Criando com 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"w"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pt-BR" altLang="pt-B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write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– sobrescreve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pt-BR" altLang="pt-BR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# Criando e escrevendo (modo w) - sobrescreve tudo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altLang="pt-BR" sz="1800" dirty="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with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open("teste.txt", "w") as f: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	</a:t>
            </a:r>
            <a:r>
              <a:rPr kumimoji="0" lang="pt-BR" altLang="pt-B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f.write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("Linha 1 criada com modo w\n")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	</a:t>
            </a:r>
            <a:r>
              <a:rPr kumimoji="0" lang="pt-BR" altLang="pt-B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f.write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("Linha 2 criada com modo w\n")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altLang="pt-BR" sz="1800" dirty="0">
                <a:latin typeface="Arial Unicode MS"/>
              </a:rPr>
              <a:t>	# /n cria uma quebra na linha após sua chamada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altLang="pt-BR" sz="1800" dirty="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# Lendo para verificar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altLang="pt-BR" sz="1800" dirty="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with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open("teste.txt", "r") as f: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altLang="pt-BR" sz="1800" dirty="0">
                <a:latin typeface="Arial Unicode MS"/>
              </a:rPr>
              <a:t>	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print("Conteúdo após modo w:\n", </a:t>
            </a:r>
            <a:r>
              <a:rPr kumimoji="0" lang="pt-BR" altLang="pt-B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f.read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())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sz="1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1800" dirty="0"/>
          </a:p>
        </p:txBody>
      </p:sp>
      <p:sp>
        <p:nvSpPr>
          <p:cNvPr id="9" name="Espaço Reservado para Conteúdo 13">
            <a:extLst>
              <a:ext uri="{FF2B5EF4-FFF2-40B4-BE49-F238E27FC236}">
                <a16:creationId xmlns:a16="http://schemas.microsoft.com/office/drawing/2014/main" id="{FE0D4199-C3AD-055C-455C-702E1F2DB7DA}"/>
              </a:ext>
            </a:extLst>
          </p:cNvPr>
          <p:cNvSpPr txBox="1">
            <a:spLocks/>
          </p:cNvSpPr>
          <p:nvPr/>
        </p:nvSpPr>
        <p:spPr>
          <a:xfrm>
            <a:off x="6313715" y="767242"/>
            <a:ext cx="5796344" cy="521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pt-BR" b="1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38" name="Espaço Reservado para Conteúdo 13">
            <a:extLst>
              <a:ext uri="{FF2B5EF4-FFF2-40B4-BE49-F238E27FC236}">
                <a16:creationId xmlns:a16="http://schemas.microsoft.com/office/drawing/2014/main" id="{F5D608A2-60F3-375B-84E5-CDB9B81CC75B}"/>
              </a:ext>
            </a:extLst>
          </p:cNvPr>
          <p:cNvSpPr txBox="1">
            <a:spLocks/>
          </p:cNvSpPr>
          <p:nvPr/>
        </p:nvSpPr>
        <p:spPr>
          <a:xfrm>
            <a:off x="6231774" y="865248"/>
            <a:ext cx="5796344" cy="521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Conteúdo exibido pelo modo 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rgbClr val="FF66FF"/>
                </a:solidFill>
                <a:effectLst/>
                <a:latin typeface="Arial" panose="020B0604020202020204" pitchFamily="34" charset="0"/>
              </a:rPr>
              <a:t>w</a:t>
            </a: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altLang="pt-BR" sz="18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Conteúdo após modo w:\</a:t>
            </a:r>
            <a:endParaRPr kumimoji="0" lang="pt-BR" altLang="pt-BR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Linha 1 criada com modo w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Linha 2 criada com modo 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3D7D571-9792-7653-AB91-B39FA5D13B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85404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85991-43D2-9F2F-2A4F-408F8F66F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5ED1CBA2-1EE0-1BF5-BCF3-4BF2A21B0E77}"/>
              </a:ext>
            </a:extLst>
          </p:cNvPr>
          <p:cNvGrpSpPr/>
          <p:nvPr/>
        </p:nvGrpSpPr>
        <p:grpSpPr>
          <a:xfrm>
            <a:off x="0" y="0"/>
            <a:ext cx="12192000" cy="6870358"/>
            <a:chOff x="0" y="0"/>
            <a:chExt cx="12192000" cy="6870358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D63687D5-FCBE-9B3B-286C-48CBAE4FE12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70358"/>
            </a:xfrm>
            <a:prstGeom prst="rect">
              <a:avLst/>
            </a:prstGeom>
          </p:spPr>
        </p:pic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FC1AD90F-14F4-6320-7395-44C2A95C068C}"/>
                </a:ext>
              </a:extLst>
            </p:cNvPr>
            <p:cNvSpPr/>
            <p:nvPr/>
          </p:nvSpPr>
          <p:spPr>
            <a:xfrm>
              <a:off x="9995561" y="5567881"/>
              <a:ext cx="1909746" cy="4074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6" name="Imagem 5">
            <a:extLst>
              <a:ext uri="{FF2B5EF4-FFF2-40B4-BE49-F238E27FC236}">
                <a16:creationId xmlns:a16="http://schemas.microsoft.com/office/drawing/2014/main" id="{E16DE0C6-C92A-451D-D7CE-441439DF783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8508"/>
          <a:stretch/>
        </p:blipFill>
        <p:spPr>
          <a:xfrm>
            <a:off x="9995561" y="206091"/>
            <a:ext cx="1812506" cy="46314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1F92839F-B5B8-B170-FFC4-669ABE93D58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130" y="47980"/>
            <a:ext cx="938710" cy="600273"/>
          </a:xfrm>
          <a:prstGeom prst="rect">
            <a:avLst/>
          </a:prstGeom>
        </p:spPr>
      </p:pic>
      <p:sp>
        <p:nvSpPr>
          <p:cNvPr id="15" name="Título 14">
            <a:extLst>
              <a:ext uri="{FF2B5EF4-FFF2-40B4-BE49-F238E27FC236}">
                <a16:creationId xmlns:a16="http://schemas.microsoft.com/office/drawing/2014/main" id="{B30B8FC1-314A-08C6-522A-13610A3E3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8388" y="13498"/>
            <a:ext cx="9055224" cy="669236"/>
          </a:xfrm>
        </p:spPr>
        <p:txBody>
          <a:bodyPr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3000" b="1" dirty="0"/>
              <a:t>Manipulação de Arquivos em Python</a:t>
            </a:r>
          </a:p>
        </p:txBody>
      </p:sp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2D67AA4F-26B0-9538-34CC-873D33DB94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371" y="875327"/>
            <a:ext cx="5714403" cy="5215431"/>
          </a:xfrm>
        </p:spPr>
        <p:txBody>
          <a:bodyPr>
            <a:norm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1800" dirty="0"/>
              <a:t>MODOS DE ABERTURA DE ARQUIVOS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sz="1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Acrescentando com 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"a"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pt-BR" altLang="pt-B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append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– adiciona no final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# Adicionando mais conteúdo (modo a)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altLang="pt-BR" sz="1800" dirty="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with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open("teste.txt", "a") as f: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altLang="pt-BR" sz="1800" dirty="0">
                <a:latin typeface="Arial Unicode MS"/>
              </a:rPr>
              <a:t>	</a:t>
            </a:r>
            <a:r>
              <a:rPr kumimoji="0" lang="pt-BR" altLang="pt-B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f.write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("Linha 3 adicionada com modo a\n") 	</a:t>
            </a:r>
            <a:r>
              <a:rPr kumimoji="0" lang="pt-BR" altLang="pt-B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f.write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("Linha 4 adicionada com modo a\n")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altLang="pt-BR" sz="1800" dirty="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# Lendo novamente para verificar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altLang="pt-BR" sz="1800" dirty="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with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open("teste.txt", "r") as f: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altLang="pt-BR" sz="1800" dirty="0">
                <a:latin typeface="Arial Unicode MS"/>
              </a:rPr>
              <a:t>	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print("Conteúdo após modo a:\n", </a:t>
            </a:r>
            <a:r>
              <a:rPr kumimoji="0" lang="pt-BR" altLang="pt-B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f.read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())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sz="1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1800" dirty="0"/>
          </a:p>
        </p:txBody>
      </p:sp>
      <p:sp>
        <p:nvSpPr>
          <p:cNvPr id="9" name="Espaço Reservado para Conteúdo 13">
            <a:extLst>
              <a:ext uri="{FF2B5EF4-FFF2-40B4-BE49-F238E27FC236}">
                <a16:creationId xmlns:a16="http://schemas.microsoft.com/office/drawing/2014/main" id="{2F9512F8-1336-F2AC-B295-233AE937C2A4}"/>
              </a:ext>
            </a:extLst>
          </p:cNvPr>
          <p:cNvSpPr txBox="1">
            <a:spLocks/>
          </p:cNvSpPr>
          <p:nvPr/>
        </p:nvSpPr>
        <p:spPr>
          <a:xfrm>
            <a:off x="6313715" y="767242"/>
            <a:ext cx="5796344" cy="521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pt-BR" b="1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38" name="Espaço Reservado para Conteúdo 13">
            <a:extLst>
              <a:ext uri="{FF2B5EF4-FFF2-40B4-BE49-F238E27FC236}">
                <a16:creationId xmlns:a16="http://schemas.microsoft.com/office/drawing/2014/main" id="{4F1C6580-7BB7-8433-4679-4E44E00A12A6}"/>
              </a:ext>
            </a:extLst>
          </p:cNvPr>
          <p:cNvSpPr txBox="1">
            <a:spLocks/>
          </p:cNvSpPr>
          <p:nvPr/>
        </p:nvSpPr>
        <p:spPr>
          <a:xfrm>
            <a:off x="6231774" y="865248"/>
            <a:ext cx="5796344" cy="521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Conteúdo exibido pelo modo 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rgbClr val="FF66FF"/>
                </a:solidFill>
                <a:effectLst/>
                <a:latin typeface="Arial" panose="020B0604020202020204" pitchFamily="34" charset="0"/>
              </a:rPr>
              <a:t>a</a:t>
            </a: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altLang="pt-BR" sz="18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Conteúdo após modo a:</a:t>
            </a:r>
            <a:endParaRPr kumimoji="0" lang="pt-BR" altLang="pt-BR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Linha 1 criada com modo w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Linha 2 criada com modo w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Linha 3 adicionada com modo a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Linha 4 adicionada com modo 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1487B97-B967-24A6-76A4-EFA94BDC4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558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76E1E-5257-557B-5F34-5D1776B1B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2FFB871B-F34A-EA48-10F6-F676B620BB98}"/>
              </a:ext>
            </a:extLst>
          </p:cNvPr>
          <p:cNvGrpSpPr/>
          <p:nvPr/>
        </p:nvGrpSpPr>
        <p:grpSpPr>
          <a:xfrm>
            <a:off x="0" y="0"/>
            <a:ext cx="12192000" cy="6870358"/>
            <a:chOff x="0" y="0"/>
            <a:chExt cx="12192000" cy="6870358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AC2E7EC0-A6B6-6638-B8C2-DDDBB90EF27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70358"/>
            </a:xfrm>
            <a:prstGeom prst="rect">
              <a:avLst/>
            </a:prstGeom>
          </p:spPr>
        </p:pic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94CDE8FC-6029-B47F-F146-A5C566B7A170}"/>
                </a:ext>
              </a:extLst>
            </p:cNvPr>
            <p:cNvSpPr/>
            <p:nvPr/>
          </p:nvSpPr>
          <p:spPr>
            <a:xfrm>
              <a:off x="9995561" y="5567881"/>
              <a:ext cx="1909746" cy="4074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6" name="Imagem 5">
            <a:extLst>
              <a:ext uri="{FF2B5EF4-FFF2-40B4-BE49-F238E27FC236}">
                <a16:creationId xmlns:a16="http://schemas.microsoft.com/office/drawing/2014/main" id="{4C0AB6D0-FDD2-B7DA-13EB-F5D9B492E23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8508"/>
          <a:stretch/>
        </p:blipFill>
        <p:spPr>
          <a:xfrm>
            <a:off x="9995561" y="206091"/>
            <a:ext cx="1812506" cy="46314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62D4FC5D-DE70-053F-8E80-9434037CE4F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130" y="47980"/>
            <a:ext cx="938710" cy="600273"/>
          </a:xfrm>
          <a:prstGeom prst="rect">
            <a:avLst/>
          </a:prstGeom>
        </p:spPr>
      </p:pic>
      <p:sp>
        <p:nvSpPr>
          <p:cNvPr id="15" name="Título 14">
            <a:extLst>
              <a:ext uri="{FF2B5EF4-FFF2-40B4-BE49-F238E27FC236}">
                <a16:creationId xmlns:a16="http://schemas.microsoft.com/office/drawing/2014/main" id="{DF32199F-8F03-F21E-C5B0-19FE02693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8388" y="13498"/>
            <a:ext cx="9055224" cy="669236"/>
          </a:xfrm>
        </p:spPr>
        <p:txBody>
          <a:bodyPr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3000" b="1" dirty="0"/>
              <a:t>Manipulação de Arquivos em Python</a:t>
            </a:r>
          </a:p>
        </p:txBody>
      </p:sp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67BC4108-BA98-A0FE-2F08-866B3DBDD9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371" y="875327"/>
            <a:ext cx="5714403" cy="5215431"/>
          </a:xfrm>
        </p:spPr>
        <p:txBody>
          <a:bodyPr>
            <a:norm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1800" dirty="0"/>
              <a:t>MODOS DE ABERTURA DE ARQUIVOS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sz="1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Lendo com 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"r"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pt-BR" altLang="pt-B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read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– apenas leitura </a:t>
            </a:r>
            <a:endParaRPr kumimoji="0" lang="pt-BR" altLang="pt-BR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# Apenas leitura (modo r)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with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open("teste.txt", "r") as f: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   </a:t>
            </a:r>
            <a:r>
              <a:rPr kumimoji="0" lang="pt-BR" altLang="pt-B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conteudo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= </a:t>
            </a:r>
            <a:r>
              <a:rPr kumimoji="0" lang="pt-BR" altLang="pt-B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f.readlines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# lê cada linha e coloca em uma lista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print("Conteúdo do arquivo lido com modo r:")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for linha in </a:t>
            </a:r>
            <a:r>
              <a:rPr kumimoji="0" lang="pt-BR" altLang="pt-B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conteudo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   print("-", </a:t>
            </a:r>
            <a:r>
              <a:rPr kumimoji="0" lang="pt-BR" altLang="pt-B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linha.strip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())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altLang="pt-BR" sz="1800" dirty="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# strip remove a quebra de linha visual</a:t>
            </a:r>
            <a:endParaRPr lang="pt-BR" sz="1800" dirty="0"/>
          </a:p>
        </p:txBody>
      </p:sp>
      <p:sp>
        <p:nvSpPr>
          <p:cNvPr id="9" name="Espaço Reservado para Conteúdo 13">
            <a:extLst>
              <a:ext uri="{FF2B5EF4-FFF2-40B4-BE49-F238E27FC236}">
                <a16:creationId xmlns:a16="http://schemas.microsoft.com/office/drawing/2014/main" id="{09DC8851-42D3-FF7F-AA98-EA266F5BC5DB}"/>
              </a:ext>
            </a:extLst>
          </p:cNvPr>
          <p:cNvSpPr txBox="1">
            <a:spLocks/>
          </p:cNvSpPr>
          <p:nvPr/>
        </p:nvSpPr>
        <p:spPr>
          <a:xfrm>
            <a:off x="6313715" y="767242"/>
            <a:ext cx="5796344" cy="521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pt-BR" b="1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38" name="Espaço Reservado para Conteúdo 13">
            <a:extLst>
              <a:ext uri="{FF2B5EF4-FFF2-40B4-BE49-F238E27FC236}">
                <a16:creationId xmlns:a16="http://schemas.microsoft.com/office/drawing/2014/main" id="{C337D370-DBE1-FEFD-8314-F8F888686B7D}"/>
              </a:ext>
            </a:extLst>
          </p:cNvPr>
          <p:cNvSpPr txBox="1">
            <a:spLocks/>
          </p:cNvSpPr>
          <p:nvPr/>
        </p:nvSpPr>
        <p:spPr>
          <a:xfrm>
            <a:off x="6231774" y="865248"/>
            <a:ext cx="5796344" cy="521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Conteúdo exibido pelo modo 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rgbClr val="FF66FF"/>
                </a:solidFill>
                <a:effectLst/>
                <a:latin typeface="Arial" panose="020B0604020202020204" pitchFamily="34" charset="0"/>
              </a:rPr>
              <a:t>r</a:t>
            </a: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altLang="pt-BR" sz="18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Conteúdo do arquivo lido com modo r:</a:t>
            </a:r>
            <a:endParaRPr kumimoji="0" lang="pt-BR" altLang="pt-BR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Linha 1 criada com modo w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Linha 2 criada com modo w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Linha 3 adicionada com modo a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Linha 4 adicionada com modo a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-"/>
            </a:pPr>
            <a:endParaRPr lang="pt-BR" altLang="pt-BR" sz="1800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-"/>
            </a:pPr>
            <a:endParaRPr kumimoji="0" lang="pt-BR" altLang="pt-BR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"w"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começa um arquivo </a:t>
            </a: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 zero 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(apagando o que tinha antes).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"a"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acrescenta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coisas ao final.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"r"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apenas </a:t>
            </a: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lê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 que já está no arquivo.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pt-BR" altLang="pt-BR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42F9D6C-6C0B-38B4-68FD-CD4B4D6B38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94341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FA141-9D26-CA70-DEE0-477A5A314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991708F0-59F2-DA40-9BC9-E5A75EC5480C}"/>
              </a:ext>
            </a:extLst>
          </p:cNvPr>
          <p:cNvGrpSpPr/>
          <p:nvPr/>
        </p:nvGrpSpPr>
        <p:grpSpPr>
          <a:xfrm>
            <a:off x="0" y="0"/>
            <a:ext cx="12192000" cy="6870358"/>
            <a:chOff x="0" y="0"/>
            <a:chExt cx="12192000" cy="6870358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80BA73E6-8C7F-0CFE-AE01-8AF5B178F37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70358"/>
            </a:xfrm>
            <a:prstGeom prst="rect">
              <a:avLst/>
            </a:prstGeom>
          </p:spPr>
        </p:pic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1D09FC3F-4B15-4038-2F24-5A2E7E07C120}"/>
                </a:ext>
              </a:extLst>
            </p:cNvPr>
            <p:cNvSpPr/>
            <p:nvPr/>
          </p:nvSpPr>
          <p:spPr>
            <a:xfrm>
              <a:off x="9995561" y="5567881"/>
              <a:ext cx="1909746" cy="4074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6" name="Imagem 5">
            <a:extLst>
              <a:ext uri="{FF2B5EF4-FFF2-40B4-BE49-F238E27FC236}">
                <a16:creationId xmlns:a16="http://schemas.microsoft.com/office/drawing/2014/main" id="{AAFCC882-B120-3349-A798-45BC1B5BD48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8508"/>
          <a:stretch/>
        </p:blipFill>
        <p:spPr>
          <a:xfrm>
            <a:off x="9995561" y="206091"/>
            <a:ext cx="1812506" cy="46314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BCCF5D24-5435-F0B7-6E6E-77E2831FDA9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130" y="47980"/>
            <a:ext cx="938710" cy="600273"/>
          </a:xfrm>
          <a:prstGeom prst="rect">
            <a:avLst/>
          </a:prstGeom>
        </p:spPr>
      </p:pic>
      <p:sp>
        <p:nvSpPr>
          <p:cNvPr id="15" name="Título 14">
            <a:extLst>
              <a:ext uri="{FF2B5EF4-FFF2-40B4-BE49-F238E27FC236}">
                <a16:creationId xmlns:a16="http://schemas.microsoft.com/office/drawing/2014/main" id="{DF85301C-C486-E689-86EA-54F0C7788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8388" y="13498"/>
            <a:ext cx="9055224" cy="669236"/>
          </a:xfrm>
        </p:spPr>
        <p:txBody>
          <a:bodyPr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3000" b="1" dirty="0"/>
              <a:t>Manipulação de Arquivos em Python</a:t>
            </a:r>
          </a:p>
        </p:txBody>
      </p:sp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827E96EF-7493-BFB3-7FAC-F47344BEA5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371" y="875327"/>
            <a:ext cx="5714403" cy="5215431"/>
          </a:xfrm>
        </p:spPr>
        <p:txBody>
          <a:bodyPr>
            <a:norm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1800" dirty="0"/>
              <a:t>MODOS DE ABERTURA DE ARQUIVOS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sz="1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"w+"</a:t>
            </a: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ler e escrever (apaga o conteúdo anterior)</a:t>
            </a:r>
            <a:endParaRPr kumimoji="0" lang="pt-BR" altLang="pt-BR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Cria o arquivo se não existir.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 já existir, </a:t>
            </a: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apaga tudo antes de escrever.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Permite depois ler o que foi escrito.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pt-BR" altLang="pt-BR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# Modo w+ - leitura e escrita (mas apaga antes)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with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open("teste.txt", "w+") as f: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   </a:t>
            </a:r>
            <a:r>
              <a:rPr kumimoji="0" lang="pt-BR" altLang="pt-B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f.write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("Texto criado com w+\n")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   </a:t>
            </a:r>
            <a:r>
              <a:rPr kumimoji="0" lang="pt-BR" altLang="pt-B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f.write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("Outra linha com w+\n")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   # voltando para o início do arquivo para poder ler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   </a:t>
            </a:r>
            <a:r>
              <a:rPr kumimoji="0" lang="pt-BR" altLang="pt-B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f.seek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(0)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   print("Conteúdo no modo w+:")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   print(</a:t>
            </a:r>
            <a:r>
              <a:rPr kumimoji="0" lang="pt-BR" altLang="pt-B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f.read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())</a:t>
            </a:r>
          </a:p>
        </p:txBody>
      </p:sp>
      <p:sp>
        <p:nvSpPr>
          <p:cNvPr id="9" name="Espaço Reservado para Conteúdo 13">
            <a:extLst>
              <a:ext uri="{FF2B5EF4-FFF2-40B4-BE49-F238E27FC236}">
                <a16:creationId xmlns:a16="http://schemas.microsoft.com/office/drawing/2014/main" id="{05986D61-DBFC-2307-942F-5BBE16B7C6DA}"/>
              </a:ext>
            </a:extLst>
          </p:cNvPr>
          <p:cNvSpPr txBox="1">
            <a:spLocks/>
          </p:cNvSpPr>
          <p:nvPr/>
        </p:nvSpPr>
        <p:spPr>
          <a:xfrm>
            <a:off x="6313715" y="767242"/>
            <a:ext cx="5796344" cy="521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pt-BR" b="1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38" name="Espaço Reservado para Conteúdo 13">
            <a:extLst>
              <a:ext uri="{FF2B5EF4-FFF2-40B4-BE49-F238E27FC236}">
                <a16:creationId xmlns:a16="http://schemas.microsoft.com/office/drawing/2014/main" id="{45D8D206-6DF0-9D71-9582-23DFC62843F8}"/>
              </a:ext>
            </a:extLst>
          </p:cNvPr>
          <p:cNvSpPr txBox="1">
            <a:spLocks/>
          </p:cNvSpPr>
          <p:nvPr/>
        </p:nvSpPr>
        <p:spPr>
          <a:xfrm>
            <a:off x="6231774" y="865248"/>
            <a:ext cx="5796344" cy="521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Conteúdo exibido pelo modo 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rgbClr val="FF66FF"/>
                </a:solidFill>
                <a:effectLst/>
                <a:latin typeface="Arial" panose="020B0604020202020204" pitchFamily="34" charset="0"/>
              </a:rPr>
              <a:t>w+</a:t>
            </a: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altLang="pt-BR" sz="18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pt-BR" altLang="pt-BR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Conteúdo no modo w+: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Texto criado com w+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Outra linha com w+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BAA639-83C7-753D-9ED6-D42B29BDA1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00096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A1F76-E618-A7D5-03DD-1233CD957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9729790D-5576-2397-E6D8-5EBFBBC6771D}"/>
              </a:ext>
            </a:extLst>
          </p:cNvPr>
          <p:cNvGrpSpPr/>
          <p:nvPr/>
        </p:nvGrpSpPr>
        <p:grpSpPr>
          <a:xfrm>
            <a:off x="0" y="0"/>
            <a:ext cx="12192000" cy="6870358"/>
            <a:chOff x="0" y="0"/>
            <a:chExt cx="12192000" cy="6870358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9E20DA45-9BE9-84F7-930D-BE62838B54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70358"/>
            </a:xfrm>
            <a:prstGeom prst="rect">
              <a:avLst/>
            </a:prstGeom>
          </p:spPr>
        </p:pic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E41C2757-9D0F-61D6-FD51-E6F3251D59F7}"/>
                </a:ext>
              </a:extLst>
            </p:cNvPr>
            <p:cNvSpPr/>
            <p:nvPr/>
          </p:nvSpPr>
          <p:spPr>
            <a:xfrm>
              <a:off x="9995561" y="5567881"/>
              <a:ext cx="1909746" cy="4074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6" name="Imagem 5">
            <a:extLst>
              <a:ext uri="{FF2B5EF4-FFF2-40B4-BE49-F238E27FC236}">
                <a16:creationId xmlns:a16="http://schemas.microsoft.com/office/drawing/2014/main" id="{9BC1D4C8-0DEB-F0E0-0027-DDA7F988D78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8508"/>
          <a:stretch/>
        </p:blipFill>
        <p:spPr>
          <a:xfrm>
            <a:off x="9995561" y="206091"/>
            <a:ext cx="1812506" cy="46314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A571A8EA-C9AC-1B66-C331-5F1560D29E0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130" y="47980"/>
            <a:ext cx="938710" cy="600273"/>
          </a:xfrm>
          <a:prstGeom prst="rect">
            <a:avLst/>
          </a:prstGeom>
        </p:spPr>
      </p:pic>
      <p:sp>
        <p:nvSpPr>
          <p:cNvPr id="15" name="Título 14">
            <a:extLst>
              <a:ext uri="{FF2B5EF4-FFF2-40B4-BE49-F238E27FC236}">
                <a16:creationId xmlns:a16="http://schemas.microsoft.com/office/drawing/2014/main" id="{02035F99-56CC-4A4C-8756-2457BC984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8388" y="13498"/>
            <a:ext cx="9055224" cy="669236"/>
          </a:xfrm>
        </p:spPr>
        <p:txBody>
          <a:bodyPr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3000" b="1" dirty="0"/>
              <a:t>Manipulação de Arquivos em Python</a:t>
            </a:r>
          </a:p>
        </p:txBody>
      </p:sp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4D6071D7-98A0-003C-6FC3-921603EE33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371" y="875327"/>
            <a:ext cx="5714403" cy="5215431"/>
          </a:xfrm>
        </p:spPr>
        <p:txBody>
          <a:bodyPr>
            <a:norm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1800" dirty="0"/>
              <a:t>MODOS DE ABERTURA DE ARQUIVOS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sz="1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"a+"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ler e escrever (mantém conteúdo, escreve no final)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Cria o arquivo se não existir. Se já existir, mantém o conteúdo e acrescenta no fim. Permite ler, mas normalmente precisa usar </a:t>
            </a:r>
            <a:r>
              <a:rPr kumimoji="0" lang="pt-BR" altLang="pt-B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seek</a:t>
            </a: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(0) para voltar ao início.</a:t>
            </a:r>
            <a:endParaRPr kumimoji="0" lang="pt-BR" altLang="pt-BR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pt-BR" altLang="pt-BR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# Modo a+ - leitura e escrita (adiciona no fim)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BR" altLang="pt-B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</a:t>
            </a: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open("teste.txt", "a+") as f: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</a:t>
            </a:r>
            <a:r>
              <a:rPr kumimoji="0" lang="pt-BR" altLang="pt-B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f.write</a:t>
            </a: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("Linha adicionada com a+\n")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# voltar para o início para conseguir ler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</a:t>
            </a:r>
            <a:r>
              <a:rPr kumimoji="0" lang="pt-BR" altLang="pt-B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f.seek</a:t>
            </a: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(0)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print("Conteúdo no modo a+:")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print(</a:t>
            </a:r>
            <a:r>
              <a:rPr kumimoji="0" lang="pt-BR" altLang="pt-B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f.read</a:t>
            </a: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())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pt-BR" altLang="pt-BR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Espaço Reservado para Conteúdo 13">
            <a:extLst>
              <a:ext uri="{FF2B5EF4-FFF2-40B4-BE49-F238E27FC236}">
                <a16:creationId xmlns:a16="http://schemas.microsoft.com/office/drawing/2014/main" id="{BFEFA2EA-763E-8786-A3A6-CFB92C9BCC07}"/>
              </a:ext>
            </a:extLst>
          </p:cNvPr>
          <p:cNvSpPr txBox="1">
            <a:spLocks/>
          </p:cNvSpPr>
          <p:nvPr/>
        </p:nvSpPr>
        <p:spPr>
          <a:xfrm>
            <a:off x="6313715" y="767242"/>
            <a:ext cx="5796344" cy="521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pt-BR" b="1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38" name="Espaço Reservado para Conteúdo 13">
            <a:extLst>
              <a:ext uri="{FF2B5EF4-FFF2-40B4-BE49-F238E27FC236}">
                <a16:creationId xmlns:a16="http://schemas.microsoft.com/office/drawing/2014/main" id="{9F9FEB48-816F-0C00-E231-44CD13AF0D49}"/>
              </a:ext>
            </a:extLst>
          </p:cNvPr>
          <p:cNvSpPr txBox="1">
            <a:spLocks/>
          </p:cNvSpPr>
          <p:nvPr/>
        </p:nvSpPr>
        <p:spPr>
          <a:xfrm>
            <a:off x="6231774" y="865248"/>
            <a:ext cx="5796344" cy="521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Conteúdo exibido pelo modo 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rgbClr val="FF66FF"/>
                </a:solidFill>
                <a:effectLst/>
                <a:latin typeface="Arial" panose="020B0604020202020204" pitchFamily="34" charset="0"/>
              </a:rPr>
              <a:t>a+</a:t>
            </a: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altLang="pt-BR" sz="18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pt-BR" altLang="pt-BR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Conteúdo no modo a+: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Texto criado com w+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Outra linha com w+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Linha adicionada com a+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090A211-6224-45DA-AFA5-64A36F91CB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24046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B0BDC-2DF0-C521-31CE-4FA6ED1A9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1E6A39E9-F9F6-5DEB-7490-438D6AE417E5}"/>
              </a:ext>
            </a:extLst>
          </p:cNvPr>
          <p:cNvGrpSpPr/>
          <p:nvPr/>
        </p:nvGrpSpPr>
        <p:grpSpPr>
          <a:xfrm>
            <a:off x="0" y="0"/>
            <a:ext cx="12192000" cy="6870358"/>
            <a:chOff x="0" y="0"/>
            <a:chExt cx="12192000" cy="6870358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986B5D82-CB22-B8C7-A878-E34B9F98EB5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70358"/>
            </a:xfrm>
            <a:prstGeom prst="rect">
              <a:avLst/>
            </a:prstGeom>
          </p:spPr>
        </p:pic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ECDDDF8A-FF35-D66F-9F13-DCF09915A1A6}"/>
                </a:ext>
              </a:extLst>
            </p:cNvPr>
            <p:cNvSpPr/>
            <p:nvPr/>
          </p:nvSpPr>
          <p:spPr>
            <a:xfrm>
              <a:off x="9995561" y="5567881"/>
              <a:ext cx="1909746" cy="4074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6" name="Imagem 5">
            <a:extLst>
              <a:ext uri="{FF2B5EF4-FFF2-40B4-BE49-F238E27FC236}">
                <a16:creationId xmlns:a16="http://schemas.microsoft.com/office/drawing/2014/main" id="{B59CDAB0-F2F7-432D-30F9-87D680352DC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8508"/>
          <a:stretch/>
        </p:blipFill>
        <p:spPr>
          <a:xfrm>
            <a:off x="9995561" y="206091"/>
            <a:ext cx="1812506" cy="46314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E524A267-3C6F-F2AD-D536-C3CFF9A5F45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130" y="47980"/>
            <a:ext cx="938710" cy="600273"/>
          </a:xfrm>
          <a:prstGeom prst="rect">
            <a:avLst/>
          </a:prstGeom>
        </p:spPr>
      </p:pic>
      <p:sp>
        <p:nvSpPr>
          <p:cNvPr id="15" name="Título 14">
            <a:extLst>
              <a:ext uri="{FF2B5EF4-FFF2-40B4-BE49-F238E27FC236}">
                <a16:creationId xmlns:a16="http://schemas.microsoft.com/office/drawing/2014/main" id="{51A76D6C-2975-AF4B-FDBE-4F6F1BF8A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8388" y="13498"/>
            <a:ext cx="9055224" cy="669236"/>
          </a:xfrm>
        </p:spPr>
        <p:txBody>
          <a:bodyPr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3000" b="1" dirty="0"/>
              <a:t>Manipulação de Arquivos em Python</a:t>
            </a:r>
          </a:p>
        </p:txBody>
      </p:sp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27AB7DAC-87B9-8A27-A93E-A9FF25D7AA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371" y="875327"/>
            <a:ext cx="5714403" cy="5215431"/>
          </a:xfrm>
        </p:spPr>
        <p:txBody>
          <a:bodyPr>
            <a:normAutofit fontScale="92500" lnSpcReduction="20000"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1800" dirty="0"/>
              <a:t>MODOS DE ABERTURA DE ARQUIVOS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sz="1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"r+" 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ler e escrever (sem apagar, sobrescreve no lugar)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 arquivo deve existir (senão dá erro). Permite ler e escrever, mas não apaga o conteúdo anterior automaticamente. Quando escreve, sobrescreve a partir da posição atual do cursor.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# Modo r+ - leitura e escrita (sobrescreve sem apagar tudo)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BR" altLang="pt-B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</a:t>
            </a: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open("teste.txt", "r+") as f: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print("Antes de escrever com r+:")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print(</a:t>
            </a:r>
            <a:r>
              <a:rPr kumimoji="0" lang="pt-BR" altLang="pt-B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f.read</a:t>
            </a: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())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# voltar para o início e sobrescrever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</a:t>
            </a:r>
            <a:r>
              <a:rPr kumimoji="0" lang="pt-BR" altLang="pt-B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f.seek</a:t>
            </a: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(0)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</a:t>
            </a:r>
            <a:r>
              <a:rPr kumimoji="0" lang="pt-BR" altLang="pt-B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f.write</a:t>
            </a: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("ALTERADO COM r+\n")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# voltar de novo para ler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</a:t>
            </a:r>
            <a:r>
              <a:rPr kumimoji="0" lang="pt-BR" altLang="pt-B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f.seek</a:t>
            </a: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(0)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print("Depois de escrever com r+:")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print(</a:t>
            </a:r>
            <a:r>
              <a:rPr kumimoji="0" lang="pt-BR" altLang="pt-B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f.read</a:t>
            </a: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())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pt-BR" altLang="pt-BR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Espaço Reservado para Conteúdo 13">
            <a:extLst>
              <a:ext uri="{FF2B5EF4-FFF2-40B4-BE49-F238E27FC236}">
                <a16:creationId xmlns:a16="http://schemas.microsoft.com/office/drawing/2014/main" id="{003C0E44-E9B6-1CDB-D534-82CB987C65DC}"/>
              </a:ext>
            </a:extLst>
          </p:cNvPr>
          <p:cNvSpPr txBox="1">
            <a:spLocks/>
          </p:cNvSpPr>
          <p:nvPr/>
        </p:nvSpPr>
        <p:spPr>
          <a:xfrm>
            <a:off x="6313715" y="767242"/>
            <a:ext cx="5796344" cy="521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pt-BR" b="1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38" name="Espaço Reservado para Conteúdo 13">
            <a:extLst>
              <a:ext uri="{FF2B5EF4-FFF2-40B4-BE49-F238E27FC236}">
                <a16:creationId xmlns:a16="http://schemas.microsoft.com/office/drawing/2014/main" id="{7122AC16-05DB-F2B6-3EA5-985C97081948}"/>
              </a:ext>
            </a:extLst>
          </p:cNvPr>
          <p:cNvSpPr txBox="1">
            <a:spLocks/>
          </p:cNvSpPr>
          <p:nvPr/>
        </p:nvSpPr>
        <p:spPr>
          <a:xfrm>
            <a:off x="6231774" y="865248"/>
            <a:ext cx="5796344" cy="521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Conteúdo exibido pelo modo 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rgbClr val="FF66FF"/>
                </a:solidFill>
                <a:effectLst/>
                <a:latin typeface="Arial" panose="020B0604020202020204" pitchFamily="34" charset="0"/>
              </a:rPr>
              <a:t>r+</a:t>
            </a: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altLang="pt-BR" sz="18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pt-BR" altLang="pt-BR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Antes de escrever com r+: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Texto criado com w+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Outra linha com w+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Linha adicionada com a+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pt-BR" altLang="pt-BR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Depois de escrever com r+: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ALTERADO COM r+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Outra linha com w+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Linha adicionada com a+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D481D70-7EC8-43F2-E16D-51DA8EA10D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1850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49F71-989E-FA89-4E6D-43B33AB9E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AFA10FF5-2863-0A95-4494-ED12402B35DB}"/>
              </a:ext>
            </a:extLst>
          </p:cNvPr>
          <p:cNvGrpSpPr/>
          <p:nvPr/>
        </p:nvGrpSpPr>
        <p:grpSpPr>
          <a:xfrm>
            <a:off x="0" y="0"/>
            <a:ext cx="12192000" cy="6870358"/>
            <a:chOff x="0" y="0"/>
            <a:chExt cx="12192000" cy="6870358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14DE54D7-C7C7-BD18-4F58-51708284F1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70358"/>
            </a:xfrm>
            <a:prstGeom prst="rect">
              <a:avLst/>
            </a:prstGeom>
          </p:spPr>
        </p:pic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C210663B-2535-3E09-D764-23DDE6139A50}"/>
                </a:ext>
              </a:extLst>
            </p:cNvPr>
            <p:cNvSpPr/>
            <p:nvPr/>
          </p:nvSpPr>
          <p:spPr>
            <a:xfrm>
              <a:off x="9995561" y="5567881"/>
              <a:ext cx="1909746" cy="4074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6" name="Imagem 5">
            <a:extLst>
              <a:ext uri="{FF2B5EF4-FFF2-40B4-BE49-F238E27FC236}">
                <a16:creationId xmlns:a16="http://schemas.microsoft.com/office/drawing/2014/main" id="{E5CFDA30-CF5B-AD52-3C8E-CA414451A00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8508"/>
          <a:stretch/>
        </p:blipFill>
        <p:spPr>
          <a:xfrm>
            <a:off x="9995561" y="206091"/>
            <a:ext cx="1812506" cy="46314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AA0BF594-B967-8652-F5B3-BD68C01A2A1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130" y="47980"/>
            <a:ext cx="938710" cy="600273"/>
          </a:xfrm>
          <a:prstGeom prst="rect">
            <a:avLst/>
          </a:prstGeom>
        </p:spPr>
      </p:pic>
      <p:sp>
        <p:nvSpPr>
          <p:cNvPr id="15" name="Título 14">
            <a:extLst>
              <a:ext uri="{FF2B5EF4-FFF2-40B4-BE49-F238E27FC236}">
                <a16:creationId xmlns:a16="http://schemas.microsoft.com/office/drawing/2014/main" id="{F503C134-77D7-DB1D-419D-F33BACFF8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8388" y="13498"/>
            <a:ext cx="9055224" cy="669236"/>
          </a:xfrm>
        </p:spPr>
        <p:txBody>
          <a:bodyPr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3000" b="1" dirty="0"/>
              <a:t>Manipulação de Arquivos em Python</a:t>
            </a:r>
          </a:p>
        </p:txBody>
      </p:sp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4CE57046-F702-7109-4928-8C2F05B6A1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371" y="875327"/>
            <a:ext cx="5714403" cy="5215431"/>
          </a:xfrm>
        </p:spPr>
        <p:txBody>
          <a:bodyPr>
            <a:norm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1800" dirty="0"/>
              <a:t>MODOS DE ABERTURA DE ARQUIVOS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sz="1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pt-BR" altLang="pt-BR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Espaço Reservado para Conteúdo 13">
            <a:extLst>
              <a:ext uri="{FF2B5EF4-FFF2-40B4-BE49-F238E27FC236}">
                <a16:creationId xmlns:a16="http://schemas.microsoft.com/office/drawing/2014/main" id="{F9D2EC76-7955-01A3-FA1B-5C4778C08D4D}"/>
              </a:ext>
            </a:extLst>
          </p:cNvPr>
          <p:cNvSpPr txBox="1">
            <a:spLocks/>
          </p:cNvSpPr>
          <p:nvPr/>
        </p:nvSpPr>
        <p:spPr>
          <a:xfrm>
            <a:off x="6313715" y="767242"/>
            <a:ext cx="5796344" cy="521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pt-BR" b="1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058ABE0-67BB-4122-425F-33297C24E3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29B1F78F-4E70-A000-E07A-AF16C931A7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0727801"/>
              </p:ext>
            </p:extLst>
          </p:nvPr>
        </p:nvGraphicFramePr>
        <p:xfrm>
          <a:off x="838200" y="1983353"/>
          <a:ext cx="10515600" cy="292608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1821024">
                  <a:extLst>
                    <a:ext uri="{9D8B030D-6E8A-4147-A177-3AD203B41FA5}">
                      <a16:colId xmlns:a16="http://schemas.microsoft.com/office/drawing/2014/main" val="2482050676"/>
                    </a:ext>
                  </a:extLst>
                </a:gridCol>
                <a:gridCol w="3436776">
                  <a:extLst>
                    <a:ext uri="{9D8B030D-6E8A-4147-A177-3AD203B41FA5}">
                      <a16:colId xmlns:a16="http://schemas.microsoft.com/office/drawing/2014/main" val="170370496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60617476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8948524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BR" b="1" dirty="0">
                          <a:solidFill>
                            <a:schemeClr val="bg1"/>
                          </a:solidFill>
                        </a:rPr>
                        <a:t>Modo</a:t>
                      </a:r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>
                          <a:solidFill>
                            <a:schemeClr val="bg1"/>
                          </a:solidFill>
                        </a:rPr>
                        <a:t>O que faz?</a:t>
                      </a:r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>
                          <a:solidFill>
                            <a:schemeClr val="bg1"/>
                          </a:solidFill>
                        </a:rPr>
                        <a:t>Se arquivo não existe</a:t>
                      </a:r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>
                          <a:solidFill>
                            <a:schemeClr val="bg1"/>
                          </a:solidFill>
                        </a:rPr>
                        <a:t>Se arquivo existe</a:t>
                      </a:r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31373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/>
                        <a:t>"r"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/>
                        <a:t>Ler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/>
                        <a:t>Erro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/>
                        <a:t>Lê conteúdo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28373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/>
                        <a:t>"w"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/>
                        <a:t>Escrever (apaga o que tinha antes)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/>
                        <a:t>Cria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/>
                        <a:t>Apaga e sobrescreve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34195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/>
                        <a:t>"a"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/>
                        <a:t>Escrever no final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/>
                        <a:t>Cria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/>
                        <a:t>Adiciona conteúdo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0594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/>
                        <a:t>"x"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/>
                        <a:t>Criar novo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/>
                        <a:t>Cria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/>
                        <a:t>Erro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069038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/>
                        <a:t>"r+"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/>
                        <a:t>Ler e escrever (sem apagar)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/>
                        <a:t>Erro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/>
                        <a:t>Lê e pode alterar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83552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/>
                        <a:t>"w+"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/>
                        <a:t>Ler e escrever (apaga antes)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/>
                        <a:t>Cria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/>
                        <a:t>Apaga e sobrescreve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145147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/>
                        <a:t>"a+"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/>
                        <a:t>Ler e escrever (adiciona no fim)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/>
                        <a:t>Cria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Adiciona conteúdo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25847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94614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D2175-E964-58E8-51E8-019442F1F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FAD27C02-883B-DC45-B2E7-411B2D5006C9}"/>
              </a:ext>
            </a:extLst>
          </p:cNvPr>
          <p:cNvGrpSpPr/>
          <p:nvPr/>
        </p:nvGrpSpPr>
        <p:grpSpPr>
          <a:xfrm>
            <a:off x="0" y="0"/>
            <a:ext cx="12192000" cy="6870358"/>
            <a:chOff x="0" y="0"/>
            <a:chExt cx="12192000" cy="6870358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5CE2B59F-53ED-3852-4B72-6AF8EC8BBE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70358"/>
            </a:xfrm>
            <a:prstGeom prst="rect">
              <a:avLst/>
            </a:prstGeom>
          </p:spPr>
        </p:pic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F422A409-85CF-25AF-19CD-0C7E9C25CE2B}"/>
                </a:ext>
              </a:extLst>
            </p:cNvPr>
            <p:cNvSpPr/>
            <p:nvPr/>
          </p:nvSpPr>
          <p:spPr>
            <a:xfrm>
              <a:off x="9995561" y="5567881"/>
              <a:ext cx="1909746" cy="4074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6" name="Imagem 5">
            <a:extLst>
              <a:ext uri="{FF2B5EF4-FFF2-40B4-BE49-F238E27FC236}">
                <a16:creationId xmlns:a16="http://schemas.microsoft.com/office/drawing/2014/main" id="{CEEF18F8-0633-D2D8-69BE-D6A85D5B610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8508"/>
          <a:stretch/>
        </p:blipFill>
        <p:spPr>
          <a:xfrm>
            <a:off x="9995561" y="206091"/>
            <a:ext cx="1812506" cy="46314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6BE7C34D-0A2F-16B2-317C-EFFD4CD8E26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130" y="47980"/>
            <a:ext cx="938710" cy="600273"/>
          </a:xfrm>
          <a:prstGeom prst="rect">
            <a:avLst/>
          </a:prstGeom>
        </p:spPr>
      </p:pic>
      <p:sp>
        <p:nvSpPr>
          <p:cNvPr id="15" name="Título 14">
            <a:extLst>
              <a:ext uri="{FF2B5EF4-FFF2-40B4-BE49-F238E27FC236}">
                <a16:creationId xmlns:a16="http://schemas.microsoft.com/office/drawing/2014/main" id="{05A6DB91-8393-D536-EC8B-9DD58D73E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8388" y="13498"/>
            <a:ext cx="9055224" cy="669236"/>
          </a:xfrm>
        </p:spPr>
        <p:txBody>
          <a:bodyPr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3000" b="1" dirty="0"/>
              <a:t>Manipulação de Arquivos em Python</a:t>
            </a:r>
          </a:p>
        </p:txBody>
      </p:sp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9DE7B062-05BA-70D8-9941-7908995E36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371" y="875327"/>
            <a:ext cx="5714403" cy="5215431"/>
          </a:xfrm>
        </p:spPr>
        <p:txBody>
          <a:bodyPr>
            <a:norm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1800" dirty="0"/>
              <a:t>COMPACTANDO ARQUIVOS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sz="1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Para realizar a compactação de arquivos é necessário importar a biblioteca “</a:t>
            </a:r>
            <a:r>
              <a:rPr kumimoji="0" lang="pt-BR" altLang="pt-B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zipfiles</a:t>
            </a: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”.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pt-BR" altLang="pt-BR" sz="18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Exemplo: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pt-BR" altLang="pt-BR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BR" altLang="pt-B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import</a:t>
            </a: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zipfile</a:t>
            </a:r>
            <a:endParaRPr kumimoji="0" lang="pt-BR" altLang="pt-BR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pt-BR" altLang="pt-BR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# Criando um arquivo zip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BR" altLang="pt-B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</a:t>
            </a: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zipfile.ZipFile</a:t>
            </a: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("meus_arquivos.zip", "w") as z: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</a:t>
            </a:r>
            <a:r>
              <a:rPr kumimoji="0" lang="pt-BR" altLang="pt-B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z.write</a:t>
            </a: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("exemplo.txt")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</a:t>
            </a:r>
            <a:r>
              <a:rPr kumimoji="0" lang="pt-BR" altLang="pt-B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z.write</a:t>
            </a: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("arquivo_0.txt")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</a:t>
            </a:r>
            <a:r>
              <a:rPr kumimoji="0" lang="pt-BR" altLang="pt-B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z.write</a:t>
            </a: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("arquivo_1.txt")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</a:t>
            </a:r>
            <a:r>
              <a:rPr kumimoji="0" lang="pt-BR" altLang="pt-B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z.write</a:t>
            </a: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("arquivo_2.txt")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pt-BR" altLang="pt-BR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print("Arquivos compactados em meus_arquivos.zip")</a:t>
            </a:r>
          </a:p>
        </p:txBody>
      </p:sp>
      <p:sp>
        <p:nvSpPr>
          <p:cNvPr id="9" name="Espaço Reservado para Conteúdo 13">
            <a:extLst>
              <a:ext uri="{FF2B5EF4-FFF2-40B4-BE49-F238E27FC236}">
                <a16:creationId xmlns:a16="http://schemas.microsoft.com/office/drawing/2014/main" id="{105FA9CB-5044-5226-5525-93FF62B175F3}"/>
              </a:ext>
            </a:extLst>
          </p:cNvPr>
          <p:cNvSpPr txBox="1">
            <a:spLocks/>
          </p:cNvSpPr>
          <p:nvPr/>
        </p:nvSpPr>
        <p:spPr>
          <a:xfrm>
            <a:off x="6313715" y="767242"/>
            <a:ext cx="5796344" cy="521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pt-BR" b="1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38" name="Espaço Reservado para Conteúdo 13">
            <a:extLst>
              <a:ext uri="{FF2B5EF4-FFF2-40B4-BE49-F238E27FC236}">
                <a16:creationId xmlns:a16="http://schemas.microsoft.com/office/drawing/2014/main" id="{BCDFDD1C-AABD-0090-BD5B-42669092E00D}"/>
              </a:ext>
            </a:extLst>
          </p:cNvPr>
          <p:cNvSpPr txBox="1">
            <a:spLocks/>
          </p:cNvSpPr>
          <p:nvPr/>
        </p:nvSpPr>
        <p:spPr>
          <a:xfrm>
            <a:off x="6231774" y="865248"/>
            <a:ext cx="5796344" cy="521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Baixando o zip: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altLang="pt-BR" sz="18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pt-BR" altLang="pt-B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files.download</a:t>
            </a: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("meus_arquivos.zip")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pt-BR" altLang="pt-BR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altLang="pt-BR" sz="18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Descompactando arquivos: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altLang="pt-BR" sz="18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pt-BR" altLang="pt-B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</a:t>
            </a: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zipfile.ZipFile</a:t>
            </a: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("meus_arquivos.zip", "r") as z:   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altLang="pt-BR" sz="18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pt-BR" altLang="pt-B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z.extractall</a:t>
            </a: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("descompactados")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altLang="pt-BR" sz="180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pt-BR" altLang="pt-BR" sz="1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print</a:t>
            </a: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("Arquivos descompactados na pasta 'descompactados'")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487F97E-4565-5D1E-D8E8-8213FB0405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684776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14040</TotalTime>
  <Words>1434</Words>
  <Application>Microsoft Office PowerPoint</Application>
  <PresentationFormat>Widescreen</PresentationFormat>
  <Paragraphs>235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6" baseType="lpstr">
      <vt:lpstr>Arial Unicode MS</vt:lpstr>
      <vt:lpstr>Agency FB</vt:lpstr>
      <vt:lpstr>Arial</vt:lpstr>
      <vt:lpstr>Calibri</vt:lpstr>
      <vt:lpstr>Calibri Light</vt:lpstr>
      <vt:lpstr>Tema do Office</vt:lpstr>
      <vt:lpstr>Apresentação do PowerPoint</vt:lpstr>
      <vt:lpstr>Manipulação de Arquivos em Python</vt:lpstr>
      <vt:lpstr>Manipulação de Arquivos em Python</vt:lpstr>
      <vt:lpstr>Manipulação de Arquivos em Python</vt:lpstr>
      <vt:lpstr>Manipulação de Arquivos em Python</vt:lpstr>
      <vt:lpstr>Manipulação de Arquivos em Python</vt:lpstr>
      <vt:lpstr>Manipulação de Arquivos em Python</vt:lpstr>
      <vt:lpstr>Manipulação de Arquivos em Python</vt:lpstr>
      <vt:lpstr>Manipulação de Arquivos em Python</vt:lpstr>
      <vt:lpstr>Manipulação de Arquivos em Python</vt:lpstr>
    </vt:vector>
  </TitlesOfParts>
  <Company>SESI_SENAI_SP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Marcos André da Silva</dc:creator>
  <cp:lastModifiedBy>MARCOS ANDRE DA SILVA</cp:lastModifiedBy>
  <cp:revision>185</cp:revision>
  <dcterms:created xsi:type="dcterms:W3CDTF">2017-07-19T17:45:31Z</dcterms:created>
  <dcterms:modified xsi:type="dcterms:W3CDTF">2025-10-28T19:09:29Z</dcterms:modified>
</cp:coreProperties>
</file>