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Seção sem Título" id="{5D3938C1-01F9-431A-A6F1-E3F345A874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5B9BD5"/>
    <a:srgbClr val="FF66FF"/>
    <a:srgbClr val="FF5050"/>
    <a:srgbClr val="0066CC"/>
    <a:srgbClr val="CC0000"/>
    <a:srgbClr val="CC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 dirty="0"/>
              <a:t>Aula 12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TKINTER 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Biblioteca de criação de aplicações TKINTER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Como vimos anteriormente, o TKINTER permite criar interfaces intuitivas para as aplicações em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Os atributos básicos para a criação da aplicação de um app são: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TK()		#cria a tela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Title</a:t>
            </a:r>
            <a:r>
              <a:rPr lang="pt-BR" sz="1800" dirty="0"/>
              <a:t>(“Texto”)	#define o texto do titulo da janela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Geometry</a:t>
            </a:r>
            <a:r>
              <a:rPr lang="pt-BR" sz="1800" dirty="0"/>
              <a:t>(“X </a:t>
            </a:r>
            <a:r>
              <a:rPr lang="pt-BR" sz="1800" dirty="0" err="1"/>
              <a:t>x</a:t>
            </a:r>
            <a:r>
              <a:rPr lang="pt-BR" sz="1800" dirty="0"/>
              <a:t> Y”)	#define o tamanho da janela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Mainloop</a:t>
            </a:r>
            <a:r>
              <a:rPr lang="pt-BR" sz="1800" dirty="0"/>
              <a:t>()	#mantem a janela </a:t>
            </a:r>
            <a:r>
              <a:rPr lang="pt-BR" sz="1800" dirty="0" err="1"/>
              <a:t>visivel</a:t>
            </a: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Estrutura básica de um programa com TKINTER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tkinter</a:t>
            </a:r>
            <a:r>
              <a:rPr lang="pt-BR" sz="1800" dirty="0"/>
              <a:t> as </a:t>
            </a:r>
            <a:r>
              <a:rPr lang="pt-BR" sz="1800" dirty="0" err="1"/>
              <a:t>tk</a:t>
            </a: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definindo a tela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app = </a:t>
            </a:r>
            <a:r>
              <a:rPr lang="pt-BR" sz="1800" dirty="0" err="1"/>
              <a:t>tk.Tk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app.title</a:t>
            </a:r>
            <a:r>
              <a:rPr lang="pt-BR" sz="1800" dirty="0"/>
              <a:t>(“Titulo da Janela”)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app.geometry</a:t>
            </a:r>
            <a:r>
              <a:rPr lang="pt-BR" sz="1800" dirty="0"/>
              <a:t>(“300x300”)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mantendo a janela sempre visível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app.mainloop</a:t>
            </a:r>
            <a:r>
              <a:rPr lang="pt-BR" sz="1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887D7-A6E7-3C4B-C45D-0E149C98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3107401F-2CF0-9E7F-ACA5-145575B01368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2A57BB8-119A-6C54-4DC1-827EC82AF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7E2ED42-56E6-0C92-D02D-E8DCD364E97A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53130FD4-2A76-F9D8-15CA-8DFE3A5209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915C6E6-6829-568F-F101-A092FE2719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8A8E26C2-51EF-1BF2-B4D3-E208FD59A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TKINTER 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FE2CD60-AB87-F75F-A3AA-79B795012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Biblioteca de criação de aplicações TKINTER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Os elementos (</a:t>
            </a:r>
            <a:r>
              <a:rPr lang="pt-BR" sz="1800" dirty="0" err="1"/>
              <a:t>widgtes</a:t>
            </a:r>
            <a:r>
              <a:rPr lang="pt-BR" sz="1800" dirty="0"/>
              <a:t>) básicos de visualização interna do TKINTER são: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LABEL (legenda)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Tk.label</a:t>
            </a:r>
            <a:r>
              <a:rPr lang="pt-BR" sz="1800" dirty="0"/>
              <a:t>(app, “TEXTO QUE APARECE”)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Label.pack</a:t>
            </a:r>
            <a:r>
              <a:rPr lang="pt-BR" sz="1800" dirty="0"/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ENTRY (input ou entrada pelo usuário)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Tk.Entry</a:t>
            </a:r>
            <a:r>
              <a:rPr lang="pt-BR" sz="1800" dirty="0"/>
              <a:t>(app)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Entry.pack</a:t>
            </a:r>
            <a:r>
              <a:rPr lang="pt-BR" sz="1800" dirty="0"/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BUTTON (botão onde são chamada as ações)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Tk.Button</a:t>
            </a:r>
            <a:r>
              <a:rPr lang="pt-BR" sz="1800" dirty="0"/>
              <a:t>(app, “CLIQUE EM MIM”, </a:t>
            </a:r>
            <a:r>
              <a:rPr lang="pt-BR" sz="1800" dirty="0" err="1"/>
              <a:t>comand</a:t>
            </a:r>
            <a:r>
              <a:rPr lang="pt-BR" sz="1800" dirty="0"/>
              <a:t>=cor)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Button.pack</a:t>
            </a:r>
            <a:r>
              <a:rPr lang="pt-BR" sz="1800" dirty="0"/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O atributo .pack() organiza os elementos verticalmente na tela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9C699EE1-3087-3A95-885C-C1982954A478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0771FA8-F557-938C-92A6-82C74732BD3F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Estrutura básica de um programa com TKINTER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tkinter</a:t>
            </a:r>
            <a:r>
              <a:rPr lang="pt-BR" sz="1800" dirty="0"/>
              <a:t> as </a:t>
            </a:r>
            <a:r>
              <a:rPr lang="pt-BR" sz="1800" dirty="0" err="1"/>
              <a:t>tk</a:t>
            </a: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Dados de exemplo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app = </a:t>
            </a:r>
            <a:r>
              <a:rPr lang="pt-BR" sz="1800" dirty="0" err="1"/>
              <a:t>tk.Tk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app.title</a:t>
            </a:r>
            <a:r>
              <a:rPr lang="pt-BR" sz="1800" dirty="0"/>
              <a:t>(“Titulo da Janela”)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app.geometry</a:t>
            </a:r>
            <a:r>
              <a:rPr lang="pt-BR" sz="1800" dirty="0"/>
              <a:t>(“300x300”)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Tk.Label</a:t>
            </a:r>
            <a:r>
              <a:rPr lang="pt-BR" sz="1800" dirty="0"/>
              <a:t>(app, “Digite o seu nome:”)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Label.pack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Nome=</a:t>
            </a:r>
            <a:r>
              <a:rPr lang="pt-BR" sz="1800" dirty="0" err="1"/>
              <a:t>tk.Entry</a:t>
            </a:r>
            <a:r>
              <a:rPr lang="pt-BR" sz="1800" dirty="0"/>
              <a:t>(app)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Nome.pack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btnENviar</a:t>
            </a:r>
            <a:r>
              <a:rPr lang="pt-BR" sz="1800" dirty="0"/>
              <a:t>=</a:t>
            </a:r>
            <a:r>
              <a:rPr lang="pt-BR" sz="1800" dirty="0" err="1"/>
              <a:t>Tk.Button</a:t>
            </a:r>
            <a:r>
              <a:rPr lang="pt-BR" sz="1800" dirty="0"/>
              <a:t>(app, “ENVIAR”)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btnEnviar.pack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mantendo a janela sempre visível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app.mainloop</a:t>
            </a:r>
            <a:r>
              <a:rPr lang="pt-BR" sz="1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8904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24054-E5CD-FE42-75E1-97C50881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32125F9-10BB-1906-3BDD-F0D694F70951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7CE8A4B-2B51-9604-2D8F-7900CF271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1EFCB58-BEBD-5FE5-2B36-16DC75373888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5BE39B61-82BB-80C3-FA25-26DFB2F34D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5421B04-489C-A5F2-CAC5-9C5FC99B67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4372349D-8BA2-7007-D24D-9C3C26CB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TKINTER 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CE2DFFBA-38DC-01B4-4C43-F8E4A69BA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Biblioteca de criação de aplicações TKINTER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O método pack() quanto o grid() são usados para organizar (gerenciar o layout) dos widgets (botões, </a:t>
            </a:r>
            <a:r>
              <a:rPr lang="pt-BR" sz="1800" dirty="0" err="1"/>
              <a:t>labels</a:t>
            </a:r>
            <a:r>
              <a:rPr lang="pt-BR" sz="1800" dirty="0"/>
              <a:t>, entradas etc.) dentro de uma janela.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O pack() organiza os widgets em blocos, empilhando-os dentro do container (geralmente a janela principal) um após o outro, em uma direção.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Características: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sz="1800" dirty="0"/>
              <a:t>Coloca os widgets um embaixo do outro (por padrão).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sz="1800" dirty="0"/>
              <a:t>Pode mudar a direção com </a:t>
            </a:r>
            <a:r>
              <a:rPr lang="pt-BR" sz="1800" dirty="0" err="1"/>
              <a:t>side</a:t>
            </a:r>
            <a:r>
              <a:rPr lang="pt-BR" sz="1800" dirty="0"/>
              <a:t> (TOP, BOTTOM, LEFT, RIGHT).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sz="1800" dirty="0"/>
              <a:t>É mais simples, ideal para layouts lineares ou verticais.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sz="1800" dirty="0"/>
              <a:t>Não usa coordenadas nem linhas/colunas.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707577ED-DDEE-73E2-7A39-B7085841D951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18AAC0C4-8EFD-F80D-33C3-47268F36991F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EXEMPLO pack():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tkinter</a:t>
            </a:r>
            <a:r>
              <a:rPr lang="pt-BR" sz="1800" dirty="0"/>
              <a:t> as </a:t>
            </a:r>
            <a:r>
              <a:rPr lang="pt-BR" sz="1800" dirty="0" err="1"/>
              <a:t>tk</a:t>
            </a: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janela = </a:t>
            </a:r>
            <a:r>
              <a:rPr lang="pt-BR" sz="1800" dirty="0" err="1"/>
              <a:t>tk.Tk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tk.Label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="Topo").pack(</a:t>
            </a:r>
            <a:r>
              <a:rPr lang="pt-BR" sz="1800" dirty="0" err="1"/>
              <a:t>side</a:t>
            </a:r>
            <a:r>
              <a:rPr lang="pt-BR" sz="1800" dirty="0"/>
              <a:t>="top")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tk.Button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="Botão Esquerda").pack(</a:t>
            </a:r>
            <a:r>
              <a:rPr lang="pt-BR" sz="1800" dirty="0" err="1"/>
              <a:t>side</a:t>
            </a:r>
            <a:r>
              <a:rPr lang="pt-BR" sz="1800" dirty="0"/>
              <a:t>="</a:t>
            </a:r>
            <a:r>
              <a:rPr lang="pt-BR" sz="1800" dirty="0" err="1"/>
              <a:t>left</a:t>
            </a:r>
            <a:r>
              <a:rPr lang="pt-BR" sz="1800" dirty="0"/>
              <a:t>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tk.Button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="Botão Direita").pack(</a:t>
            </a:r>
            <a:r>
              <a:rPr lang="pt-BR" sz="1800" dirty="0" err="1"/>
              <a:t>side</a:t>
            </a:r>
            <a:r>
              <a:rPr lang="pt-BR" sz="1800" dirty="0"/>
              <a:t>="</a:t>
            </a:r>
            <a:r>
              <a:rPr lang="pt-BR" sz="1800" dirty="0" err="1"/>
              <a:t>right</a:t>
            </a:r>
            <a:r>
              <a:rPr lang="pt-BR" sz="1800" dirty="0"/>
              <a:t>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tk.Label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="Rodapé").pack(</a:t>
            </a:r>
            <a:r>
              <a:rPr lang="pt-BR" sz="1800" dirty="0" err="1"/>
              <a:t>side</a:t>
            </a:r>
            <a:r>
              <a:rPr lang="pt-BR" sz="1800" dirty="0"/>
              <a:t>="</a:t>
            </a:r>
            <a:r>
              <a:rPr lang="pt-BR" sz="1800" dirty="0" err="1"/>
              <a:t>bottom</a:t>
            </a:r>
            <a:r>
              <a:rPr lang="pt-BR" sz="1800" dirty="0"/>
              <a:t>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janela.mainloop</a:t>
            </a:r>
            <a:r>
              <a:rPr lang="pt-BR" sz="1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3245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A03C-84A5-B4CF-AD3C-9AB155B3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4175B579-7D77-8C34-F52E-B68E4483244C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204A246-2AB0-B4EC-7F5F-F3E8CB160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1E963DF-3168-9236-220E-2AE37213D859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7ACE6A93-42FA-5201-3699-026884FF6B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DB83934-5E9F-3730-5DE3-A7329C4917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04ECA96E-A092-5147-7CA2-78F593FD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TKINTER 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1124D2F-35FF-718B-81F0-BD9607C5B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Biblioteca de criação de aplicações TKINTER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O grid() organiza os widgets em uma grade (tabela), definida por linhas (</a:t>
            </a:r>
            <a:r>
              <a:rPr lang="pt-BR" sz="1800" dirty="0" err="1"/>
              <a:t>row</a:t>
            </a:r>
            <a:r>
              <a:rPr lang="pt-BR" sz="1800" dirty="0"/>
              <a:t>) e colunas (</a:t>
            </a:r>
            <a:r>
              <a:rPr lang="pt-BR" sz="1800" dirty="0" err="1"/>
              <a:t>column</a:t>
            </a:r>
            <a:r>
              <a:rPr lang="pt-BR" sz="1800" dirty="0"/>
              <a:t>).É mais preciso e flexível que o pack().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Características: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Posiciona widgets em células de uma grade.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Usa coordenadas: </a:t>
            </a:r>
            <a:r>
              <a:rPr lang="pt-BR" sz="1800" dirty="0" err="1"/>
              <a:t>row</a:t>
            </a:r>
            <a:r>
              <a:rPr lang="pt-BR" sz="1800" dirty="0"/>
              <a:t> (linha) e </a:t>
            </a:r>
            <a:r>
              <a:rPr lang="pt-BR" sz="1800" dirty="0" err="1"/>
              <a:t>column</a:t>
            </a:r>
            <a:r>
              <a:rPr lang="pt-BR" sz="1800" dirty="0"/>
              <a:t> (coluna).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Permite mesclar células com </a:t>
            </a:r>
            <a:r>
              <a:rPr lang="pt-BR" sz="1800" dirty="0" err="1"/>
              <a:t>rowspan</a:t>
            </a:r>
            <a:r>
              <a:rPr lang="pt-BR" sz="1800" dirty="0"/>
              <a:t> e </a:t>
            </a:r>
            <a:r>
              <a:rPr lang="pt-BR" sz="1800" dirty="0" err="1"/>
              <a:t>columnspan</a:t>
            </a:r>
            <a:r>
              <a:rPr lang="pt-BR" sz="18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Ideal para formulários e interfaces mais organizadas.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Não pode ser usado junto com pack() no mesmo container.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8C3C3D19-7754-1845-3EFA-AE9912B4D0A1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77679BDF-96C2-083A-3369-08BE3B541B14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EXEMPLO grid():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tkinter</a:t>
            </a:r>
            <a:r>
              <a:rPr lang="pt-BR" sz="1800" dirty="0"/>
              <a:t> as </a:t>
            </a:r>
            <a:r>
              <a:rPr lang="pt-BR" sz="1800" dirty="0" err="1"/>
              <a:t>tk</a:t>
            </a: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janela = </a:t>
            </a:r>
            <a:r>
              <a:rPr lang="pt-BR" sz="1800" dirty="0" err="1"/>
              <a:t>tk.Tk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tk.Label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="Nome:").grid(</a:t>
            </a:r>
            <a:r>
              <a:rPr lang="pt-BR" sz="1800" dirty="0" err="1"/>
              <a:t>row</a:t>
            </a:r>
            <a:r>
              <a:rPr lang="pt-BR" sz="1800" dirty="0"/>
              <a:t>=0, </a:t>
            </a:r>
            <a:r>
              <a:rPr lang="pt-BR" sz="1800" dirty="0" err="1"/>
              <a:t>column</a:t>
            </a:r>
            <a:r>
              <a:rPr lang="pt-BR" sz="1800" dirty="0"/>
              <a:t>=0)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tk.Entry</a:t>
            </a:r>
            <a:r>
              <a:rPr lang="pt-BR" sz="1800" dirty="0"/>
              <a:t>(janela).grid(</a:t>
            </a:r>
            <a:r>
              <a:rPr lang="pt-BR" sz="1800" dirty="0" err="1"/>
              <a:t>row</a:t>
            </a:r>
            <a:r>
              <a:rPr lang="pt-BR" sz="1800" dirty="0"/>
              <a:t>=0, </a:t>
            </a:r>
            <a:r>
              <a:rPr lang="pt-BR" sz="1800" dirty="0" err="1"/>
              <a:t>column</a:t>
            </a:r>
            <a:r>
              <a:rPr lang="pt-BR" sz="1800" dirty="0"/>
              <a:t>=1)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tk.Label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="Email:").grid(</a:t>
            </a:r>
            <a:r>
              <a:rPr lang="pt-BR" sz="1800" dirty="0" err="1"/>
              <a:t>row</a:t>
            </a:r>
            <a:r>
              <a:rPr lang="pt-BR" sz="1800" dirty="0"/>
              <a:t>=1, </a:t>
            </a:r>
            <a:r>
              <a:rPr lang="pt-BR" sz="1800" dirty="0" err="1"/>
              <a:t>column</a:t>
            </a:r>
            <a:r>
              <a:rPr lang="pt-BR" sz="1800" dirty="0"/>
              <a:t>=0)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tk.Entry</a:t>
            </a:r>
            <a:r>
              <a:rPr lang="pt-BR" sz="1800" dirty="0"/>
              <a:t>(janela).grid(</a:t>
            </a:r>
            <a:r>
              <a:rPr lang="pt-BR" sz="1800" dirty="0" err="1"/>
              <a:t>row</a:t>
            </a:r>
            <a:r>
              <a:rPr lang="pt-BR" sz="1800" dirty="0"/>
              <a:t>=1, </a:t>
            </a:r>
            <a:r>
              <a:rPr lang="pt-BR" sz="1800" dirty="0" err="1"/>
              <a:t>column</a:t>
            </a:r>
            <a:r>
              <a:rPr lang="pt-BR" sz="1800" dirty="0"/>
              <a:t>=1)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tk.Button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="Enviar").grid(</a:t>
            </a:r>
            <a:r>
              <a:rPr lang="pt-BR" sz="1800" dirty="0" err="1"/>
              <a:t>row</a:t>
            </a:r>
            <a:r>
              <a:rPr lang="pt-BR" sz="1800" dirty="0"/>
              <a:t>=2, </a:t>
            </a:r>
            <a:r>
              <a:rPr lang="pt-BR" sz="1800" dirty="0" err="1"/>
              <a:t>column</a:t>
            </a:r>
            <a:r>
              <a:rPr lang="pt-BR" sz="1800" dirty="0"/>
              <a:t>=1)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janela.mainloop</a:t>
            </a:r>
            <a:r>
              <a:rPr lang="pt-BR" sz="1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05177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6DE4-7348-2401-B944-9AE588996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6F2A9A72-9958-3EAC-5EC2-04BA7CBD9C9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621D440-5544-B16B-FBD3-9F698A9C0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69AB033-7D43-51DE-0748-D22BF8FCE24F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8833F975-69C4-1546-E2C7-A0FE26BA4B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E9F88AD-C4E3-1956-B48D-D56A24B8D8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D6C26003-CF2B-B1E7-A229-7E7BAAB4A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TKINTER 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5CB450D-3AC1-DC96-DBA4-D2CD8A1B5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Biblioteca de criação de aplicações TKINTER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FRAMES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Um Frame é um container, ou seja, uma caixa dentro da janela principal (</a:t>
            </a:r>
            <a:r>
              <a:rPr lang="pt-BR" sz="1800" dirty="0" err="1"/>
              <a:t>Tk</a:t>
            </a:r>
            <a:r>
              <a:rPr lang="pt-BR" sz="1800" dirty="0"/>
              <a:t>), usada para agrupar e organizar widgets. Pense nele como uma "sub janela" ou seção dentro da interface. Você pode colocar outros widgets (legendas, botões, entradas, etc.) dentro dele, e até aplicar layouts diferentes (grid, pack) dentro de cada 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B08C703E-ABE6-9E20-645B-5B90556035C5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0D3C4234-36C5-9439-B6A8-1C994ABFC327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Para que serve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O Frame serve principalmente para: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Organizar melhor o layout da janela.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→ Você pode dividir a interface em partes (</a:t>
            </a:r>
            <a:r>
              <a:rPr lang="pt-BR" sz="1800" dirty="0" err="1"/>
              <a:t>ex</a:t>
            </a:r>
            <a:r>
              <a:rPr lang="pt-BR" sz="1800" dirty="0"/>
              <a:t>: topo, meio, rodapé).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Agrupar elementos relacionados.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→ Exemplo: um grupo de botões dentro de um mesmo painel.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Aplicar diferentes métodos de layout (pack / grid)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→ Você pode usar pack() na janela principal e grid() dentro de um Frame (sem conflito).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Facilitar a estilização (cor, borda, etc.).</a:t>
            </a:r>
          </a:p>
        </p:txBody>
      </p:sp>
    </p:spTree>
    <p:extLst>
      <p:ext uri="{BB962C8B-B14F-4D97-AF65-F5344CB8AC3E}">
        <p14:creationId xmlns:p14="http://schemas.microsoft.com/office/powerpoint/2010/main" val="394140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F81CD-2B1D-3DED-C5F7-5DBC862F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8746CDD-A2C9-15D7-EACC-015C19489D00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4BDF620-D5DB-4AFA-FA81-A72B6BD50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B96E50A-EC90-4C17-123E-F0EE95DC0790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C6A8DC87-8881-61C4-0B1D-52F22EA71F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0EDE4FB-1EA1-90A4-F5DD-7CE6C925CB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DDECEDCC-029C-7C70-0BBB-D447F72F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TKINTER 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06EFDA7-A257-1D05-953D-F95E0F24E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import</a:t>
            </a:r>
            <a:r>
              <a:rPr lang="pt-BR" sz="2000" dirty="0"/>
              <a:t> </a:t>
            </a:r>
            <a:r>
              <a:rPr lang="pt-BR" sz="2000" dirty="0" err="1"/>
              <a:t>tkinter</a:t>
            </a:r>
            <a:r>
              <a:rPr lang="pt-BR" sz="2000" dirty="0"/>
              <a:t> as </a:t>
            </a:r>
            <a:r>
              <a:rPr lang="pt-BR" sz="2000" dirty="0" err="1"/>
              <a:t>tk</a:t>
            </a: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janela = </a:t>
            </a:r>
            <a:r>
              <a:rPr lang="pt-BR" sz="2000" dirty="0" err="1"/>
              <a:t>tk.Tk</a:t>
            </a:r>
            <a:r>
              <a:rPr lang="pt-BR" sz="2000" dirty="0"/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janela.title</a:t>
            </a:r>
            <a:r>
              <a:rPr lang="pt-BR" sz="2000" dirty="0"/>
              <a:t>("Exemplo de Frame")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janela.geometry</a:t>
            </a:r>
            <a:r>
              <a:rPr lang="pt-BR" sz="2000" dirty="0"/>
              <a:t>("400x200")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# Criando um frame (painel)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topo = </a:t>
            </a:r>
            <a:r>
              <a:rPr lang="pt-BR" sz="2000" dirty="0" err="1"/>
              <a:t>tk.Frame</a:t>
            </a:r>
            <a:r>
              <a:rPr lang="pt-BR" sz="2000" dirty="0"/>
              <a:t>(janela, </a:t>
            </a:r>
            <a:r>
              <a:rPr lang="pt-BR" sz="2000" dirty="0" err="1"/>
              <a:t>bg</a:t>
            </a:r>
            <a:r>
              <a:rPr lang="pt-BR" sz="2000" dirty="0"/>
              <a:t>="</a:t>
            </a:r>
            <a:r>
              <a:rPr lang="pt-BR" sz="2000" dirty="0" err="1"/>
              <a:t>lightblue</a:t>
            </a:r>
            <a:r>
              <a:rPr lang="pt-BR" sz="2000" dirty="0"/>
              <a:t>", </a:t>
            </a:r>
            <a:r>
              <a:rPr lang="pt-BR" sz="2000" dirty="0" err="1"/>
              <a:t>pady</a:t>
            </a:r>
            <a:r>
              <a:rPr lang="pt-BR" sz="2000" dirty="0"/>
              <a:t>=10)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topo.pack</a:t>
            </a:r>
            <a:r>
              <a:rPr lang="pt-BR" sz="2000" dirty="0"/>
              <a:t>(</a:t>
            </a:r>
            <a:r>
              <a:rPr lang="pt-BR" sz="2000" dirty="0" err="1"/>
              <a:t>fill</a:t>
            </a:r>
            <a:r>
              <a:rPr lang="pt-BR" sz="2000" dirty="0"/>
              <a:t>="x")  # ocupa toda a largura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# Widgets dentro do frame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tk.Label</a:t>
            </a:r>
            <a:r>
              <a:rPr lang="pt-BR" sz="2000" dirty="0"/>
              <a:t>(topo, </a:t>
            </a:r>
            <a:r>
              <a:rPr lang="pt-BR" sz="2000" dirty="0" err="1"/>
              <a:t>text</a:t>
            </a:r>
            <a:r>
              <a:rPr lang="pt-BR" sz="2000" dirty="0"/>
              <a:t>="Painel Superior", </a:t>
            </a:r>
            <a:r>
              <a:rPr lang="pt-BR" sz="2000" dirty="0" err="1"/>
              <a:t>bg</a:t>
            </a:r>
            <a:r>
              <a:rPr lang="pt-BR" sz="2000" dirty="0"/>
              <a:t>="</a:t>
            </a:r>
            <a:r>
              <a:rPr lang="pt-BR" sz="2000" dirty="0" err="1"/>
              <a:t>lightblue</a:t>
            </a:r>
            <a:r>
              <a:rPr lang="pt-BR" sz="2000" dirty="0"/>
              <a:t>", </a:t>
            </a:r>
            <a:r>
              <a:rPr lang="pt-BR" sz="2000" dirty="0" err="1"/>
              <a:t>font</a:t>
            </a:r>
            <a:r>
              <a:rPr lang="pt-BR" sz="2000" dirty="0"/>
              <a:t>=("Arial", 12, "</a:t>
            </a:r>
            <a:r>
              <a:rPr lang="pt-BR" sz="2000" dirty="0" err="1"/>
              <a:t>bold</a:t>
            </a:r>
            <a:r>
              <a:rPr lang="pt-BR" sz="2000" dirty="0"/>
              <a:t>")).pack()</a:t>
            </a: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BCB19DF4-0B33-5B8C-8501-5CAE27F4D2DF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014B3B1D-3C22-93BD-5DA1-4E640D744D51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Outro frame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conteudo</a:t>
            </a:r>
            <a:r>
              <a:rPr lang="pt-BR" sz="1800" dirty="0"/>
              <a:t> = </a:t>
            </a:r>
            <a:r>
              <a:rPr lang="pt-BR" sz="1800" dirty="0" err="1"/>
              <a:t>tk.Frame</a:t>
            </a:r>
            <a:r>
              <a:rPr lang="pt-BR" sz="1800" dirty="0"/>
              <a:t>(janela, </a:t>
            </a:r>
            <a:r>
              <a:rPr lang="pt-BR" sz="1800" dirty="0" err="1"/>
              <a:t>bg</a:t>
            </a:r>
            <a:r>
              <a:rPr lang="pt-BR" sz="1800" dirty="0"/>
              <a:t>="</a:t>
            </a:r>
            <a:r>
              <a:rPr lang="pt-BR" sz="1800" dirty="0" err="1"/>
              <a:t>white</a:t>
            </a:r>
            <a:r>
              <a:rPr lang="pt-BR" sz="1800" dirty="0"/>
              <a:t>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conteudo.pack</a:t>
            </a:r>
            <a:r>
              <a:rPr lang="pt-BR" sz="1800" dirty="0"/>
              <a:t>(</a:t>
            </a:r>
            <a:r>
              <a:rPr lang="pt-BR" sz="1800" dirty="0" err="1"/>
              <a:t>fill</a:t>
            </a:r>
            <a:r>
              <a:rPr lang="pt-BR" sz="1800" dirty="0"/>
              <a:t>="</a:t>
            </a:r>
            <a:r>
              <a:rPr lang="pt-BR" sz="1800" dirty="0" err="1"/>
              <a:t>both</a:t>
            </a:r>
            <a:r>
              <a:rPr lang="pt-BR" sz="1800" dirty="0"/>
              <a:t>", </a:t>
            </a:r>
            <a:r>
              <a:rPr lang="pt-BR" sz="1800" dirty="0" err="1"/>
              <a:t>expand</a:t>
            </a:r>
            <a:r>
              <a:rPr lang="pt-BR" sz="1800" dirty="0"/>
              <a:t>=</a:t>
            </a:r>
            <a:r>
              <a:rPr lang="pt-BR" sz="1800" dirty="0" err="1"/>
              <a:t>True</a:t>
            </a:r>
            <a:r>
              <a:rPr lang="pt-BR" sz="1800" dirty="0"/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tk.Label</a:t>
            </a:r>
            <a:r>
              <a:rPr lang="pt-BR" sz="1800" dirty="0"/>
              <a:t>(</a:t>
            </a:r>
            <a:r>
              <a:rPr lang="pt-BR" sz="1800" dirty="0" err="1"/>
              <a:t>conteudo</a:t>
            </a:r>
            <a:r>
              <a:rPr lang="pt-BR" sz="1800" dirty="0"/>
              <a:t>, </a:t>
            </a:r>
            <a:r>
              <a:rPr lang="pt-BR" sz="1800" dirty="0" err="1"/>
              <a:t>text</a:t>
            </a:r>
            <a:r>
              <a:rPr lang="pt-BR" sz="1800" dirty="0"/>
              <a:t>="Nome:").grid(</a:t>
            </a:r>
            <a:r>
              <a:rPr lang="pt-BR" sz="1800" dirty="0" err="1"/>
              <a:t>row</a:t>
            </a:r>
            <a:r>
              <a:rPr lang="pt-BR" sz="1800" dirty="0"/>
              <a:t>=0, </a:t>
            </a:r>
            <a:r>
              <a:rPr lang="pt-BR" sz="1800" dirty="0" err="1"/>
              <a:t>column</a:t>
            </a:r>
            <a:r>
              <a:rPr lang="pt-BR" sz="1800" dirty="0"/>
              <a:t>=0,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tk.Entry</a:t>
            </a:r>
            <a:r>
              <a:rPr lang="pt-BR" sz="1800" dirty="0"/>
              <a:t>(</a:t>
            </a:r>
            <a:r>
              <a:rPr lang="pt-BR" sz="1800" dirty="0" err="1"/>
              <a:t>conteudo</a:t>
            </a:r>
            <a:r>
              <a:rPr lang="pt-BR" sz="1800" dirty="0"/>
              <a:t>).grid(</a:t>
            </a:r>
            <a:r>
              <a:rPr lang="pt-BR" sz="1800" dirty="0" err="1"/>
              <a:t>row</a:t>
            </a:r>
            <a:r>
              <a:rPr lang="pt-BR" sz="1800" dirty="0"/>
              <a:t>=0, </a:t>
            </a:r>
            <a:r>
              <a:rPr lang="pt-BR" sz="1800" dirty="0" err="1"/>
              <a:t>column</a:t>
            </a:r>
            <a:r>
              <a:rPr lang="pt-BR" sz="1800" dirty="0"/>
              <a:t>=1,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tk.Label</a:t>
            </a:r>
            <a:r>
              <a:rPr lang="pt-BR" sz="1800" dirty="0"/>
              <a:t>(</a:t>
            </a:r>
            <a:r>
              <a:rPr lang="pt-BR" sz="1800" dirty="0" err="1"/>
              <a:t>conteudo</a:t>
            </a:r>
            <a:r>
              <a:rPr lang="pt-BR" sz="1800" dirty="0"/>
              <a:t>, </a:t>
            </a:r>
            <a:r>
              <a:rPr lang="pt-BR" sz="1800" dirty="0" err="1"/>
              <a:t>text</a:t>
            </a:r>
            <a:r>
              <a:rPr lang="pt-BR" sz="1800" dirty="0"/>
              <a:t>="Email:").grid(</a:t>
            </a:r>
            <a:r>
              <a:rPr lang="pt-BR" sz="1800" dirty="0" err="1"/>
              <a:t>row</a:t>
            </a:r>
            <a:r>
              <a:rPr lang="pt-BR" sz="1800" dirty="0"/>
              <a:t>=1, </a:t>
            </a:r>
            <a:r>
              <a:rPr lang="pt-BR" sz="1800" dirty="0" err="1"/>
              <a:t>column</a:t>
            </a:r>
            <a:r>
              <a:rPr lang="pt-BR" sz="1800" dirty="0"/>
              <a:t>=0,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tk.Entry</a:t>
            </a:r>
            <a:r>
              <a:rPr lang="pt-BR" sz="1800" dirty="0"/>
              <a:t>(</a:t>
            </a:r>
            <a:r>
              <a:rPr lang="pt-BR" sz="1800" dirty="0" err="1"/>
              <a:t>conteudo</a:t>
            </a:r>
            <a:r>
              <a:rPr lang="pt-BR" sz="1800" dirty="0"/>
              <a:t>).grid(</a:t>
            </a:r>
            <a:r>
              <a:rPr lang="pt-BR" sz="1800" dirty="0" err="1"/>
              <a:t>row</a:t>
            </a:r>
            <a:r>
              <a:rPr lang="pt-BR" sz="1800" dirty="0"/>
              <a:t>=1, </a:t>
            </a:r>
            <a:r>
              <a:rPr lang="pt-BR" sz="1800" dirty="0" err="1"/>
              <a:t>column</a:t>
            </a:r>
            <a:r>
              <a:rPr lang="pt-BR" sz="1800" dirty="0"/>
              <a:t>=1,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Rodapé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rodape</a:t>
            </a:r>
            <a:r>
              <a:rPr lang="pt-BR" sz="1800" dirty="0"/>
              <a:t> = </a:t>
            </a:r>
            <a:r>
              <a:rPr lang="pt-BR" sz="1800" dirty="0" err="1"/>
              <a:t>tk.Frame</a:t>
            </a:r>
            <a:r>
              <a:rPr lang="pt-BR" sz="1800" dirty="0"/>
              <a:t>(janela, </a:t>
            </a:r>
            <a:r>
              <a:rPr lang="pt-BR" sz="1800" dirty="0" err="1"/>
              <a:t>bg</a:t>
            </a:r>
            <a:r>
              <a:rPr lang="pt-BR" sz="1800" dirty="0"/>
              <a:t>="</a:t>
            </a:r>
            <a:r>
              <a:rPr lang="pt-BR" sz="1800" dirty="0" err="1"/>
              <a:t>lightgray</a:t>
            </a:r>
            <a:r>
              <a:rPr lang="pt-BR" sz="1800" dirty="0"/>
              <a:t>", </a:t>
            </a:r>
            <a:r>
              <a:rPr lang="pt-BR" sz="1800" dirty="0" err="1"/>
              <a:t>pady</a:t>
            </a:r>
            <a:r>
              <a:rPr lang="pt-BR" sz="1800" dirty="0"/>
              <a:t>=10)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rodape.pack</a:t>
            </a:r>
            <a:r>
              <a:rPr lang="pt-BR" sz="1800" dirty="0"/>
              <a:t>(</a:t>
            </a:r>
            <a:r>
              <a:rPr lang="pt-BR" sz="1800" dirty="0" err="1"/>
              <a:t>fill</a:t>
            </a:r>
            <a:r>
              <a:rPr lang="pt-BR" sz="1800" dirty="0"/>
              <a:t>="x")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tk.Button</a:t>
            </a:r>
            <a:r>
              <a:rPr lang="pt-BR" sz="1800" dirty="0"/>
              <a:t>(</a:t>
            </a:r>
            <a:r>
              <a:rPr lang="pt-BR" sz="1800" dirty="0" err="1"/>
              <a:t>rodape</a:t>
            </a:r>
            <a:r>
              <a:rPr lang="pt-BR" sz="1800" dirty="0"/>
              <a:t>, </a:t>
            </a:r>
            <a:r>
              <a:rPr lang="pt-BR" sz="1800" dirty="0" err="1"/>
              <a:t>text</a:t>
            </a:r>
            <a:r>
              <a:rPr lang="pt-BR" sz="1800" dirty="0"/>
              <a:t>="Enviar").pack()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janela.mainloop</a:t>
            </a:r>
            <a:r>
              <a:rPr lang="pt-BR" sz="1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5212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A056-5504-1860-1C34-37875843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32AB9DC8-622F-C2CE-91F1-E142AD5B4FEA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D7A2BB5-2272-FB51-468A-88C49640C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66B7D65-0BDE-C1C2-8BAD-447F8C7482B9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1A63C6E3-8950-30F6-C9A8-39B6354788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56A509A-FEB0-FA19-72D3-3172D0B02E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50A565BE-0A1E-539E-B5D1-C1885444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TKINTER 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DB108385-9CF8-DC3A-35BA-51E6B8070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105010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O que acontece nesse 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Criamos três Frames: topo, </a:t>
            </a:r>
            <a:r>
              <a:rPr lang="pt-BR" sz="2000" dirty="0" err="1"/>
              <a:t>conteudo</a:t>
            </a:r>
            <a:r>
              <a:rPr lang="pt-BR" sz="2000" dirty="0"/>
              <a:t> e </a:t>
            </a:r>
            <a:r>
              <a:rPr lang="pt-BR" sz="2000" dirty="0" err="1"/>
              <a:t>rodape</a:t>
            </a:r>
            <a:r>
              <a:rPr lang="pt-BR" sz="20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No topo, usamos pack() para alinhar no topo (</a:t>
            </a:r>
            <a:r>
              <a:rPr lang="pt-BR" sz="2000" dirty="0" err="1"/>
              <a:t>fill</a:t>
            </a:r>
            <a:r>
              <a:rPr lang="pt-BR" sz="2000" dirty="0"/>
              <a:t>="x" preenche na horizontal).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No conteúdo, usamos grid() para criar uma grade de </a:t>
            </a:r>
            <a:r>
              <a:rPr lang="pt-BR" sz="2000" dirty="0" err="1"/>
              <a:t>labels</a:t>
            </a:r>
            <a:r>
              <a:rPr lang="pt-BR" sz="2000" dirty="0"/>
              <a:t> e entradas.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No rodapé, colocamos um botão centralizado.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/>
              <a:t> Observe: usamos pack() e grid() juntos, mas em containers diferentes — isso é o uso correto!</a:t>
            </a: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35A04A56-3030-8955-8D9D-56069A088EB1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6F20D28-FF7A-226B-35B4-64579E71312B}"/>
              </a:ext>
            </a:extLst>
          </p:cNvPr>
          <p:cNvSpPr txBox="1">
            <a:spLocks/>
          </p:cNvSpPr>
          <p:nvPr/>
        </p:nvSpPr>
        <p:spPr>
          <a:xfrm>
            <a:off x="5745192" y="865248"/>
            <a:ext cx="6282926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Frame(janela, </a:t>
            </a:r>
            <a:r>
              <a:rPr lang="pt-BR" sz="1800" dirty="0" err="1"/>
              <a:t>bg</a:t>
            </a:r>
            <a:r>
              <a:rPr lang="pt-BR" sz="1800" dirty="0"/>
              <a:t>="cor")	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Cria um frame com fundo colorido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frame.pack</a:t>
            </a:r>
            <a:r>
              <a:rPr lang="pt-BR" sz="1800" dirty="0"/>
              <a:t>(</a:t>
            </a:r>
            <a:r>
              <a:rPr lang="pt-BR" sz="1800" dirty="0" err="1"/>
              <a:t>side</a:t>
            </a:r>
            <a:r>
              <a:rPr lang="pt-BR" sz="1800" dirty="0"/>
              <a:t>="</a:t>
            </a:r>
            <a:r>
              <a:rPr lang="pt-BR" sz="1800" dirty="0" err="1"/>
              <a:t>left</a:t>
            </a:r>
            <a:r>
              <a:rPr lang="pt-BR" sz="1800" dirty="0"/>
              <a:t>")	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Posiciona o frame no lado esquerdo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frame.grid</a:t>
            </a:r>
            <a:r>
              <a:rPr lang="pt-BR" sz="1800" dirty="0"/>
              <a:t>(</a:t>
            </a:r>
            <a:r>
              <a:rPr lang="pt-BR" sz="1800" dirty="0" err="1"/>
              <a:t>row</a:t>
            </a:r>
            <a:r>
              <a:rPr lang="pt-BR" sz="1800" dirty="0"/>
              <a:t>=0, </a:t>
            </a:r>
            <a:r>
              <a:rPr lang="pt-BR" sz="1800" dirty="0" err="1"/>
              <a:t>column</a:t>
            </a:r>
            <a:r>
              <a:rPr lang="pt-BR" sz="1800" dirty="0"/>
              <a:t>=0)	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Posiciona o frame em uma célula específica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frame.config</a:t>
            </a:r>
            <a:r>
              <a:rPr lang="pt-BR" sz="1800" dirty="0"/>
              <a:t>(</a:t>
            </a:r>
            <a:r>
              <a:rPr lang="pt-BR" sz="1800" dirty="0" err="1"/>
              <a:t>borderwidth</a:t>
            </a:r>
            <a:r>
              <a:rPr lang="pt-BR" sz="1800" dirty="0"/>
              <a:t>=2, </a:t>
            </a:r>
            <a:r>
              <a:rPr lang="pt-BR" sz="1800" dirty="0" err="1"/>
              <a:t>relief</a:t>
            </a:r>
            <a:r>
              <a:rPr lang="pt-BR" sz="1800" dirty="0"/>
              <a:t>="</a:t>
            </a:r>
            <a:r>
              <a:rPr lang="pt-BR" sz="1800" dirty="0" err="1"/>
              <a:t>solid</a:t>
            </a:r>
            <a:r>
              <a:rPr lang="pt-BR" sz="1800" dirty="0"/>
              <a:t>")	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Adiciona uma borda visível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frame.pack</a:t>
            </a:r>
            <a:r>
              <a:rPr lang="pt-BR" sz="1800" dirty="0"/>
              <a:t>(</a:t>
            </a:r>
            <a:r>
              <a:rPr lang="pt-BR" sz="1800" dirty="0" err="1"/>
              <a:t>fill</a:t>
            </a:r>
            <a:r>
              <a:rPr lang="pt-BR" sz="1800" dirty="0"/>
              <a:t>="</a:t>
            </a:r>
            <a:r>
              <a:rPr lang="pt-BR" sz="1800" dirty="0" err="1"/>
              <a:t>both</a:t>
            </a:r>
            <a:r>
              <a:rPr lang="pt-BR" sz="1800" dirty="0"/>
              <a:t>", </a:t>
            </a:r>
            <a:r>
              <a:rPr lang="pt-BR" sz="1800" dirty="0" err="1"/>
              <a:t>expand</a:t>
            </a:r>
            <a:r>
              <a:rPr lang="pt-BR" sz="1800" dirty="0"/>
              <a:t>=</a:t>
            </a:r>
            <a:r>
              <a:rPr lang="pt-BR" sz="1800" dirty="0" err="1"/>
              <a:t>True</a:t>
            </a:r>
            <a:r>
              <a:rPr lang="pt-BR" sz="1800" dirty="0"/>
              <a:t>)	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Faz o frame crescer e preencher o espaço</a:t>
            </a:r>
          </a:p>
        </p:txBody>
      </p:sp>
    </p:spTree>
    <p:extLst>
      <p:ext uri="{BB962C8B-B14F-4D97-AF65-F5344CB8AC3E}">
        <p14:creationId xmlns:p14="http://schemas.microsoft.com/office/powerpoint/2010/main" val="2204371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A056-5504-1860-1C34-37875843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32AB9DC8-622F-C2CE-91F1-E142AD5B4FEA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D7A2BB5-2272-FB51-468A-88C49640C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66B7D65-0BDE-C1C2-8BAD-447F8C7482B9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1A63C6E3-8950-30F6-C9A8-39B6354788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56A509A-FEB0-FA19-72D3-3172D0B02E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50A565BE-0A1E-539E-B5D1-C1885444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Calibri" panose="020F0502020204030204" pitchFamily="34" charset="0"/>
                <a:cs typeface="Times New Roman" panose="02020603050405020304" pitchFamily="18" charset="0"/>
              </a:rPr>
              <a:t>TKINTER 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DB108385-9CF8-DC3A-35BA-51E6B8070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105010" cy="5215431"/>
          </a:xfrm>
        </p:spPr>
        <p:txBody>
          <a:bodyPr>
            <a:norm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Atributos Internos dos </a:t>
            </a:r>
            <a:r>
              <a:rPr lang="pt-BR" sz="2000" b="1" dirty="0" err="1"/>
              <a:t>Widgtes</a:t>
            </a:r>
            <a:endParaRPr lang="pt-BR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Bg</a:t>
            </a:r>
            <a:r>
              <a:rPr lang="pt-BR" sz="2000" dirty="0"/>
              <a:t>=“cor de fundo”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Font</a:t>
            </a:r>
            <a:r>
              <a:rPr lang="pt-BR" sz="2000" dirty="0"/>
              <a:t>=(“nome”, </a:t>
            </a:r>
            <a:r>
              <a:rPr lang="pt-BR" sz="2000" dirty="0" err="1"/>
              <a:t>tam</a:t>
            </a:r>
            <a:r>
              <a:rPr lang="pt-BR" sz="2000" dirty="0"/>
              <a:t>, “estilo”)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Fill</a:t>
            </a:r>
            <a:r>
              <a:rPr lang="pt-BR" sz="2000" dirty="0"/>
              <a:t>=“preenchimento completo em x ou y”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Column</a:t>
            </a:r>
            <a:r>
              <a:rPr lang="pt-BR" sz="2000" dirty="0"/>
              <a:t>=posição da coluna no grid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Row</a:t>
            </a:r>
            <a:r>
              <a:rPr lang="pt-BR" sz="2000" dirty="0"/>
              <a:t>=posição da linha no grid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Padx</a:t>
            </a:r>
            <a:r>
              <a:rPr lang="pt-BR" sz="2000" dirty="0"/>
              <a:t>= espaçamento interno horizontal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 err="1"/>
              <a:t>Pady</a:t>
            </a:r>
            <a:r>
              <a:rPr lang="pt-BR" sz="2000" dirty="0"/>
              <a:t>= espaçamento interno vertical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35A04A56-3030-8955-8D9D-56069A088EB1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6F20D28-FF7A-226B-35B4-64579E71312B}"/>
              </a:ext>
            </a:extLst>
          </p:cNvPr>
          <p:cNvSpPr txBox="1">
            <a:spLocks/>
          </p:cNvSpPr>
          <p:nvPr/>
        </p:nvSpPr>
        <p:spPr>
          <a:xfrm>
            <a:off x="5745192" y="865248"/>
            <a:ext cx="6282926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Side</a:t>
            </a:r>
            <a:r>
              <a:rPr lang="pt-BR" sz="1800" dirty="0"/>
              <a:t>= posição de alinhamento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Text</a:t>
            </a:r>
            <a:r>
              <a:rPr lang="pt-BR" sz="1800" dirty="0"/>
              <a:t>=“texto de um elemento”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Borderwidth</a:t>
            </a:r>
            <a:r>
              <a:rPr lang="pt-BR" sz="1800" dirty="0"/>
              <a:t>=borda ao redor do elemento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Comand</a:t>
            </a:r>
            <a:r>
              <a:rPr lang="pt-BR" sz="1800" dirty="0"/>
              <a:t>= Evento. Para chamar uma função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8229722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14407</TotalTime>
  <Words>1412</Words>
  <Application>Microsoft Office PowerPoint</Application>
  <PresentationFormat>Widescreen</PresentationFormat>
  <Paragraphs>215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Agency FB</vt:lpstr>
      <vt:lpstr>Arial</vt:lpstr>
      <vt:lpstr>Calibri</vt:lpstr>
      <vt:lpstr>Calibri Light</vt:lpstr>
      <vt:lpstr>Times New Roman</vt:lpstr>
      <vt:lpstr>Wingdings</vt:lpstr>
      <vt:lpstr>Tema do Office</vt:lpstr>
      <vt:lpstr>Apresentação do PowerPoint</vt:lpstr>
      <vt:lpstr>TKINTER </vt:lpstr>
      <vt:lpstr>TKINTER </vt:lpstr>
      <vt:lpstr>TKINTER </vt:lpstr>
      <vt:lpstr>TKINTER </vt:lpstr>
      <vt:lpstr>TKINTER </vt:lpstr>
      <vt:lpstr>TKINTER </vt:lpstr>
      <vt:lpstr>TKINTER </vt:lpstr>
      <vt:lpstr>TKINTER 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195</cp:revision>
  <dcterms:created xsi:type="dcterms:W3CDTF">2017-07-19T17:45:31Z</dcterms:created>
  <dcterms:modified xsi:type="dcterms:W3CDTF">2025-10-23T20:04:36Z</dcterms:modified>
</cp:coreProperties>
</file>