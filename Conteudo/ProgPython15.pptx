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74" r:id="rId4"/>
    <p:sldId id="275" r:id="rId5"/>
    <p:sldId id="276" r:id="rId6"/>
    <p:sldId id="277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761E820B-E4B9-4326-9E0A-32245E96C64A}">
          <p14:sldIdLst>
            <p14:sldId id="256"/>
            <p14:sldId id="273"/>
            <p14:sldId id="274"/>
            <p14:sldId id="275"/>
            <p14:sldId id="276"/>
            <p14:sldId id="277"/>
          </p14:sldIdLst>
        </p14:section>
        <p14:section name="Seção sem Título" id="{5D3938C1-01F9-431A-A6F1-E3F345A874E4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FF"/>
    <a:srgbClr val="00B0F0"/>
    <a:srgbClr val="5B9BD5"/>
    <a:srgbClr val="FF5050"/>
    <a:srgbClr val="0066CC"/>
    <a:srgbClr val="CC0000"/>
    <a:srgbClr val="CC33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Estilo Claro 3 - Ênfase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Estilo Claro 2 - Ênfase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4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29/08/2025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656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29/08/2025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4059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29/08/2025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6679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29/08/2025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2696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29/08/2025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5157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29/08/2025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4840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29/08/2025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6855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29/08/2025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2693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29/08/2025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7405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29/08/2025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3490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29/08/2025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333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AE46FC-05F1-4E56-8287-A94ECB08D438}" type="datetimeFigureOut">
              <a:rPr lang="pt-BR" smtClean="0"/>
              <a:t>29/08/2025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52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tif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about.gitlab.com/handbook/business-technology/data-team/experimentation-best-practices/" TargetMode="External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ramablog.org/2013/03/11/github-generation/" TargetMode="External"/><Relationship Id="rId5" Type="http://schemas.openxmlformats.org/officeDocument/2006/relationships/image" Target="../media/image7.png"/><Relationship Id="rId10" Type="http://schemas.openxmlformats.org/officeDocument/2006/relationships/hyperlink" Target="https://cessor.blogspot.com/2018/03/git-y-github-conceptos-basicos.html" TargetMode="External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81445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242229" y="979663"/>
            <a:ext cx="864640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rgbClr val="FF0000"/>
                </a:solidFill>
              </a:rPr>
              <a:t>Curso de Formação Inicial e Continuada</a:t>
            </a:r>
          </a:p>
          <a:p>
            <a:pPr algn="ctr"/>
            <a:r>
              <a:rPr lang="pt-BR" sz="3600" b="1" dirty="0"/>
              <a:t>Programação em Python</a:t>
            </a:r>
          </a:p>
          <a:p>
            <a:pPr algn="ctr"/>
            <a:r>
              <a:rPr lang="pt-BR" sz="3600" dirty="0"/>
              <a:t>Aula 15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0986" y="4575360"/>
            <a:ext cx="2571113" cy="1644139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-4911" y="6488668"/>
            <a:ext cx="12196911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  <a:latin typeface="+mn-lt"/>
              </a:rPr>
              <a:t>Rua Santo André, 680 – Boa Vista – São Caetano do Sul</a:t>
            </a: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36" y="3868032"/>
            <a:ext cx="2272376" cy="94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531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/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/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/>
          <p:cNvSpPr>
            <a:spLocks noGrp="1"/>
          </p:cNvSpPr>
          <p:nvPr>
            <p:ph type="title"/>
          </p:nvPr>
        </p:nvSpPr>
        <p:spPr>
          <a:xfrm>
            <a:off x="1568388" y="13498"/>
            <a:ext cx="9055224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000" b="1" dirty="0"/>
              <a:t>Versionamento e Documentação em Python</a:t>
            </a:r>
          </a:p>
        </p:txBody>
      </p:sp>
      <p:sp>
        <p:nvSpPr>
          <p:cNvPr id="14" name="Espaço Reservado para Conteúdo 13"/>
          <p:cNvSpPr>
            <a:spLocks noGrp="1"/>
          </p:cNvSpPr>
          <p:nvPr>
            <p:ph idx="1"/>
          </p:nvPr>
        </p:nvSpPr>
        <p:spPr>
          <a:xfrm>
            <a:off x="517371" y="875327"/>
            <a:ext cx="5714403" cy="5215431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b="1" dirty="0"/>
              <a:t>O que é Versionamento?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/>
              <a:t>Versionamento é o processo de controlar e registrar mudanças feitas em um código ao longo do tempo. Com ele, podemos: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18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1800" dirty="0"/>
              <a:t> Guardar diferentes versões do projeto.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1800" dirty="0"/>
              <a:t> Voltar a versões anteriores em caso de erro.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1800" dirty="0"/>
              <a:t> Trabalhar em equipe sem sobrescrever alterações.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1800" dirty="0"/>
              <a:t> Documentar quem fez cada modificação.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b="1" dirty="0"/>
              <a:t>Ferramenta mais usada: </a:t>
            </a:r>
            <a:r>
              <a:rPr lang="pt-BR" sz="1800" b="1" dirty="0" err="1"/>
              <a:t>Git</a:t>
            </a:r>
            <a:endParaRPr lang="pt-BR" sz="1800" b="1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1800" dirty="0"/>
              <a:t>Sistema de controle de versão distribuído.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1800" dirty="0"/>
              <a:t>Permite salvar "fotografias" (</a:t>
            </a:r>
            <a:r>
              <a:rPr lang="pt-BR" sz="1800" dirty="0" err="1"/>
              <a:t>commits</a:t>
            </a:r>
            <a:r>
              <a:rPr lang="pt-BR" sz="1800" dirty="0"/>
              <a:t>) do projeto.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1800" dirty="0"/>
              <a:t>Muito usado junto com o GitHub, </a:t>
            </a:r>
            <a:r>
              <a:rPr lang="pt-BR" sz="1800" dirty="0" err="1"/>
              <a:t>GitLab</a:t>
            </a:r>
            <a:r>
              <a:rPr lang="pt-BR" sz="1800" dirty="0"/>
              <a:t> ou </a:t>
            </a:r>
            <a:r>
              <a:rPr lang="pt-BR" sz="1800" dirty="0" err="1"/>
              <a:t>Bitbucket</a:t>
            </a:r>
            <a:r>
              <a:rPr lang="pt-BR" sz="1800" dirty="0"/>
              <a:t> para colaboração</a:t>
            </a:r>
            <a:r>
              <a:rPr lang="pt-BR" sz="1200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C1F12C75-56A4-DDE5-E503-C3F7738E9390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8" name="Espaço Reservado para Conteúdo 13">
            <a:extLst>
              <a:ext uri="{FF2B5EF4-FFF2-40B4-BE49-F238E27FC236}">
                <a16:creationId xmlns:a16="http://schemas.microsoft.com/office/drawing/2014/main" id="{622A14B8-3B82-1846-4517-0EEAA4F09E45}"/>
              </a:ext>
            </a:extLst>
          </p:cNvPr>
          <p:cNvSpPr txBox="1">
            <a:spLocks/>
          </p:cNvSpPr>
          <p:nvPr/>
        </p:nvSpPr>
        <p:spPr>
          <a:xfrm>
            <a:off x="6231774" y="865248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800" dirty="0">
              <a:latin typeface="Arial Unicode M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20956E-7626-3400-9AB7-F102C6518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Imagem 9" descr="Uma imagem contendo Texto">
            <a:extLst>
              <a:ext uri="{FF2B5EF4-FFF2-40B4-BE49-F238E27FC236}">
                <a16:creationId xmlns:a16="http://schemas.microsoft.com/office/drawing/2014/main" id="{4F2D1286-282B-EE51-AA4B-12B3E7DBEB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6892839" y="1246470"/>
            <a:ext cx="4638095" cy="1895238"/>
          </a:xfrm>
          <a:prstGeom prst="rect">
            <a:avLst/>
          </a:prstGeom>
        </p:spPr>
      </p:pic>
      <p:pic>
        <p:nvPicPr>
          <p:cNvPr id="13" name="Imagem 12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9C3BB728-5625-C24C-52BC-FA8F18A4E5F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6892839" y="3454183"/>
            <a:ext cx="2087102" cy="1459779"/>
          </a:xfrm>
          <a:prstGeom prst="rect">
            <a:avLst/>
          </a:prstGeom>
        </p:spPr>
      </p:pic>
      <p:pic>
        <p:nvPicPr>
          <p:cNvPr id="18" name="Imagem 17" descr="Logotipo&#10;&#10;O conteúdo gerado por IA pode estar incorreto.">
            <a:extLst>
              <a:ext uri="{FF2B5EF4-FFF2-40B4-BE49-F238E27FC236}">
                <a16:creationId xmlns:a16="http://schemas.microsoft.com/office/drawing/2014/main" id="{1975D75E-FB7E-07A0-6065-EC447199816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9254978" y="3540437"/>
            <a:ext cx="2498103" cy="113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044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5487F-077A-846B-4303-DD72B9BB6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0F5211BE-59FC-B35E-1D75-72EEC0562FEB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7D06950E-A7ED-ABB9-C394-80AFB0B3C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9620B92F-C5EC-BE1B-BE6B-3934079FDE86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B56A278F-8BD2-24CB-91C1-AA798D3B704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BD36163-E324-3665-92D4-79161B56278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5638094F-FF14-7B10-61CF-DCDE3DBCD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8388" y="13498"/>
            <a:ext cx="9055224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000" b="1" dirty="0"/>
              <a:t>Versionamento e Documentação em Python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A37DC3FD-4355-F4B1-8FFD-AE57993E0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5714403" cy="5215431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b="1" dirty="0"/>
              <a:t>Fluxo básico com </a:t>
            </a:r>
            <a:r>
              <a:rPr lang="pt-BR" sz="1800" b="1" dirty="0" err="1"/>
              <a:t>Git</a:t>
            </a:r>
            <a:endParaRPr lang="pt-BR" sz="1800" b="1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b="1" dirty="0"/>
              <a:t>Exemplo de comandos principais: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/>
              <a:t># Configuração inicial (uma única vez)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 err="1"/>
              <a:t>git</a:t>
            </a:r>
            <a:r>
              <a:rPr lang="pt-BR" sz="1800" dirty="0"/>
              <a:t> </a:t>
            </a:r>
            <a:r>
              <a:rPr lang="pt-BR" sz="1800" dirty="0" err="1"/>
              <a:t>config</a:t>
            </a:r>
            <a:r>
              <a:rPr lang="pt-BR" sz="1800" dirty="0"/>
              <a:t> --global user.name "Seu Nome"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 err="1"/>
              <a:t>git</a:t>
            </a:r>
            <a:r>
              <a:rPr lang="pt-BR" sz="1800" dirty="0"/>
              <a:t> </a:t>
            </a:r>
            <a:r>
              <a:rPr lang="pt-BR" sz="1800" dirty="0" err="1"/>
              <a:t>config</a:t>
            </a:r>
            <a:r>
              <a:rPr lang="pt-BR" sz="1800" dirty="0"/>
              <a:t> --global </a:t>
            </a:r>
            <a:r>
              <a:rPr lang="pt-BR" sz="1800" dirty="0" err="1"/>
              <a:t>user.email</a:t>
            </a:r>
            <a:r>
              <a:rPr lang="pt-BR" sz="1800" dirty="0"/>
              <a:t> "seuemail@email.com"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/>
              <a:t># Inicia um repositório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 err="1"/>
              <a:t>git</a:t>
            </a:r>
            <a:r>
              <a:rPr lang="pt-BR" sz="1800" dirty="0"/>
              <a:t> </a:t>
            </a:r>
            <a:r>
              <a:rPr lang="pt-BR" sz="1800" dirty="0" err="1"/>
              <a:t>init</a:t>
            </a: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/>
              <a:t># Adiciona arquivos para controle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 err="1"/>
              <a:t>git</a:t>
            </a:r>
            <a:r>
              <a:rPr lang="pt-BR" sz="1800" dirty="0"/>
              <a:t> </a:t>
            </a:r>
            <a:r>
              <a:rPr lang="pt-BR" sz="1800" dirty="0" err="1"/>
              <a:t>add</a:t>
            </a:r>
            <a:r>
              <a:rPr lang="pt-BR" sz="1800" dirty="0"/>
              <a:t> nome_arquivo.py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 err="1"/>
              <a:t>git</a:t>
            </a:r>
            <a:r>
              <a:rPr lang="pt-BR" sz="1800" dirty="0"/>
              <a:t> </a:t>
            </a:r>
            <a:r>
              <a:rPr lang="pt-BR" sz="1800" dirty="0" err="1"/>
              <a:t>add</a:t>
            </a:r>
            <a:r>
              <a:rPr lang="pt-BR" sz="1800" dirty="0"/>
              <a:t> .   # adiciona todos os arquivos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/>
              <a:t># Salva a versão com uma mensagem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 err="1"/>
              <a:t>git</a:t>
            </a:r>
            <a:r>
              <a:rPr lang="pt-BR" sz="1800" dirty="0"/>
              <a:t> </a:t>
            </a:r>
            <a:r>
              <a:rPr lang="pt-BR" sz="1800" dirty="0" err="1"/>
              <a:t>commit</a:t>
            </a:r>
            <a:r>
              <a:rPr lang="pt-BR" sz="1800" dirty="0"/>
              <a:t> -m "Primeira versão do código"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/>
              <a:t># Ver histórico de versões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 err="1"/>
              <a:t>git</a:t>
            </a:r>
            <a:r>
              <a:rPr lang="pt-BR" sz="1800" dirty="0"/>
              <a:t> log</a:t>
            </a:r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7A4AC300-B930-6296-9D85-34B0DF479872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8" name="Espaço Reservado para Conteúdo 13">
            <a:extLst>
              <a:ext uri="{FF2B5EF4-FFF2-40B4-BE49-F238E27FC236}">
                <a16:creationId xmlns:a16="http://schemas.microsoft.com/office/drawing/2014/main" id="{916C9046-60EB-C796-2514-CE516682CB97}"/>
              </a:ext>
            </a:extLst>
          </p:cNvPr>
          <p:cNvSpPr txBox="1">
            <a:spLocks/>
          </p:cNvSpPr>
          <p:nvPr/>
        </p:nvSpPr>
        <p:spPr>
          <a:xfrm>
            <a:off x="6231774" y="865248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Arial Unicode MS"/>
              </a:rPr>
              <a:t># Criar uma nova </a:t>
            </a:r>
            <a:r>
              <a:rPr lang="pt-BR" altLang="pt-BR" sz="1800" dirty="0" err="1">
                <a:latin typeface="Arial Unicode MS"/>
              </a:rPr>
              <a:t>branch</a:t>
            </a:r>
            <a:r>
              <a:rPr lang="pt-BR" altLang="pt-BR" sz="1800" dirty="0">
                <a:latin typeface="Arial Unicode MS"/>
              </a:rPr>
              <a:t> (linha de desenvolvimento)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 err="1">
                <a:latin typeface="Arial Unicode MS"/>
              </a:rPr>
              <a:t>git</a:t>
            </a:r>
            <a:r>
              <a:rPr lang="pt-BR" altLang="pt-BR" sz="1800" dirty="0">
                <a:latin typeface="Arial Unicode MS"/>
              </a:rPr>
              <a:t> checkout -b nova-feature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800" dirty="0">
              <a:latin typeface="Arial Unicode MS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Arial Unicode MS"/>
              </a:rPr>
              <a:t># Voltar para a </a:t>
            </a:r>
            <a:r>
              <a:rPr lang="pt-BR" altLang="pt-BR" sz="1800" dirty="0" err="1">
                <a:latin typeface="Arial Unicode MS"/>
              </a:rPr>
              <a:t>branch</a:t>
            </a:r>
            <a:r>
              <a:rPr lang="pt-BR" altLang="pt-BR" sz="1800" dirty="0">
                <a:latin typeface="Arial Unicode MS"/>
              </a:rPr>
              <a:t> principal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 err="1">
                <a:latin typeface="Arial Unicode MS"/>
              </a:rPr>
              <a:t>git</a:t>
            </a:r>
            <a:r>
              <a:rPr lang="pt-BR" altLang="pt-BR" sz="1800" dirty="0">
                <a:latin typeface="Arial Unicode MS"/>
              </a:rPr>
              <a:t> checkout </a:t>
            </a:r>
            <a:r>
              <a:rPr lang="pt-BR" altLang="pt-BR" sz="1800" dirty="0" err="1">
                <a:latin typeface="Arial Unicode MS"/>
              </a:rPr>
              <a:t>main</a:t>
            </a:r>
            <a:endParaRPr lang="pt-BR" altLang="pt-BR" sz="1800" dirty="0">
              <a:latin typeface="Arial Unicode MS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800" dirty="0">
              <a:latin typeface="Arial Unicode MS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Arial Unicode MS"/>
              </a:rPr>
              <a:t># Enviar alterações para o GitHub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 err="1">
                <a:latin typeface="Arial Unicode MS"/>
              </a:rPr>
              <a:t>git</a:t>
            </a:r>
            <a:r>
              <a:rPr lang="pt-BR" altLang="pt-BR" sz="1800" dirty="0">
                <a:latin typeface="Arial Unicode MS"/>
              </a:rPr>
              <a:t> </a:t>
            </a:r>
            <a:r>
              <a:rPr lang="pt-BR" altLang="pt-BR" sz="1800" dirty="0" err="1">
                <a:latin typeface="Arial Unicode MS"/>
              </a:rPr>
              <a:t>remote</a:t>
            </a:r>
            <a:r>
              <a:rPr lang="pt-BR" altLang="pt-BR" sz="1800" dirty="0">
                <a:latin typeface="Arial Unicode MS"/>
              </a:rPr>
              <a:t> </a:t>
            </a:r>
            <a:r>
              <a:rPr lang="pt-BR" altLang="pt-BR" sz="1800" dirty="0" err="1">
                <a:latin typeface="Arial Unicode MS"/>
              </a:rPr>
              <a:t>add</a:t>
            </a:r>
            <a:r>
              <a:rPr lang="pt-BR" altLang="pt-BR" sz="1800" dirty="0">
                <a:latin typeface="Arial Unicode MS"/>
              </a:rPr>
              <a:t> </a:t>
            </a:r>
            <a:r>
              <a:rPr lang="pt-BR" altLang="pt-BR" sz="1800" dirty="0" err="1">
                <a:latin typeface="Arial Unicode MS"/>
              </a:rPr>
              <a:t>origin</a:t>
            </a:r>
            <a:r>
              <a:rPr lang="pt-BR" altLang="pt-BR" sz="1800" dirty="0">
                <a:latin typeface="Arial Unicode MS"/>
              </a:rPr>
              <a:t> https://github.com/usuario/repositorio.git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 err="1">
                <a:latin typeface="Arial Unicode MS"/>
              </a:rPr>
              <a:t>git</a:t>
            </a:r>
            <a:r>
              <a:rPr lang="pt-BR" altLang="pt-BR" sz="1800" dirty="0">
                <a:latin typeface="Arial Unicode MS"/>
              </a:rPr>
              <a:t> </a:t>
            </a:r>
            <a:r>
              <a:rPr lang="pt-BR" altLang="pt-BR" sz="1800" dirty="0" err="1">
                <a:latin typeface="Arial Unicode MS"/>
              </a:rPr>
              <a:t>push</a:t>
            </a:r>
            <a:r>
              <a:rPr lang="pt-BR" altLang="pt-BR" sz="1800" dirty="0">
                <a:latin typeface="Arial Unicode MS"/>
              </a:rPr>
              <a:t> -u </a:t>
            </a:r>
            <a:r>
              <a:rPr lang="pt-BR" altLang="pt-BR" sz="1800" dirty="0" err="1">
                <a:latin typeface="Arial Unicode MS"/>
              </a:rPr>
              <a:t>origin</a:t>
            </a:r>
            <a:r>
              <a:rPr lang="pt-BR" altLang="pt-BR" sz="1800" dirty="0">
                <a:latin typeface="Arial Unicode MS"/>
              </a:rPr>
              <a:t> </a:t>
            </a:r>
            <a:r>
              <a:rPr lang="pt-BR" altLang="pt-BR" sz="1800" dirty="0" err="1">
                <a:latin typeface="Arial Unicode MS"/>
              </a:rPr>
              <a:t>main</a:t>
            </a:r>
            <a:endParaRPr lang="pt-BR" altLang="pt-BR" sz="1800" dirty="0">
              <a:latin typeface="Arial Unicode M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A4874D-9AB1-0271-3F59-17494A236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8610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E78A9-F579-999A-7A77-E2B90D531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B5366C39-6027-5101-22E9-FA304D961E6B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EF211EBC-BDF0-14E3-AA79-E748B5A8E2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E183D58D-957E-B6C2-ABA6-C9073055B22F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6DA58786-1817-A5C1-5F29-6B7AF341F5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30E1123-E4EC-4D47-2D56-B57E4FB3122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936D3CA2-6C78-4B30-89C2-C8A5464AF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8388" y="13498"/>
            <a:ext cx="9055224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000" b="1" dirty="0"/>
              <a:t>Versionamento e Documentação em Python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30AF4DC9-62BF-074D-0431-46C744A65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5714403" cy="5215431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b="1" dirty="0"/>
              <a:t>Documentação em Python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18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1800" dirty="0"/>
              <a:t>A documentação é tão importante quanto o código. É um registro oficial dos requisitos para o desenvolvimento da aplicação, com os objetivos gerais, motivos e definições do que precisa ser implantado.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  <a:p>
            <a:pPr>
              <a:buNone/>
            </a:pPr>
            <a:r>
              <a:rPr lang="pt-BR" sz="1800" dirty="0"/>
              <a:t>Ela ajuda: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Outros programadores a entenderem seu trabalho.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Você mesmo a lembrar da lógica no futuro.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800" dirty="0"/>
              <a:t>Criar bibliotecas e APIs fáceis de usar.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800" dirty="0"/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178F71B5-2843-3AAA-D788-799CBD8A03A9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8" name="Espaço Reservado para Conteúdo 13">
            <a:extLst>
              <a:ext uri="{FF2B5EF4-FFF2-40B4-BE49-F238E27FC236}">
                <a16:creationId xmlns:a16="http://schemas.microsoft.com/office/drawing/2014/main" id="{B22031A3-F81E-D6D6-344A-6B5458F4E236}"/>
              </a:ext>
            </a:extLst>
          </p:cNvPr>
          <p:cNvSpPr txBox="1">
            <a:spLocks/>
          </p:cNvSpPr>
          <p:nvPr/>
        </p:nvSpPr>
        <p:spPr>
          <a:xfrm>
            <a:off x="6231774" y="865248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Calibri" panose="020F0502020204030204" pitchFamily="34" charset="0"/>
                <a:cs typeface="Calibri" panose="020F0502020204030204" pitchFamily="34" charset="0"/>
              </a:rPr>
              <a:t>A pratica da Documentação é um dos requisitos obrigatórios no desenvolvimentos de sistemas ou aplicativos. Além de toda orientação que pode ser usada no desenvolvimento e criação, também pode ser uma referência para melhorias futuras e até mesmo de proteção de direitos de criação.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Calibri" panose="020F0502020204030204" pitchFamily="34" charset="0"/>
                <a:cs typeface="Calibri" panose="020F0502020204030204" pitchFamily="34" charset="0"/>
              </a:rPr>
              <a:t>Existem algumas formas de se criar a documentação em um projeto de software, é o que veremos a seguir.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415C7E-77B2-2E7E-6FBD-5834244BB0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9065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D0021-7942-6321-2210-B1B40EBD4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C09BDB03-075C-4246-8901-4EF611BCFC97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702189C6-0FBC-E48B-F71D-CBCDFB1C2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A4649EAB-514D-5706-77F5-A3CACE14DAF4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46BFAEC0-8D3B-EBB6-F412-ABE829BFEE4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1BB4A4E-5382-FCD5-C11B-D28E41CC380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4B7C0A29-3152-4DE9-4582-58335282E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8388" y="13498"/>
            <a:ext cx="9055224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000" b="1" dirty="0"/>
              <a:t>Versionamento e Documentação em Python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018FF782-D59A-F825-213E-C77747538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5714403" cy="5215431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b="1" dirty="0"/>
              <a:t>Comentários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1800" b="1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/>
              <a:t>Os comentários são um registro de documentação. Dentro do código pode ser usado de várias formas.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/>
              <a:t>Quando alguém esta começando a aprender uma linguagem de programação pode usar o comentário como uma espécie de lembrete para a pratica posterior. Também pode ser usado como uma marcação dentro do projeto, facilitando encontrar um determinado bloco lógico.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/>
              <a:t>Comentários são feitos com # e servem para explicar partes do código: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>
                <a:solidFill>
                  <a:srgbClr val="00B050"/>
                </a:solidFill>
              </a:rPr>
              <a:t># Calcula a área de um retângulo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/>
              <a:t>largura = 10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/>
              <a:t>altura = 5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 err="1"/>
              <a:t>area</a:t>
            </a:r>
            <a:r>
              <a:rPr lang="pt-BR" sz="1800" dirty="0"/>
              <a:t> = largura * altura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/>
              <a:t>print(</a:t>
            </a:r>
            <a:r>
              <a:rPr lang="pt-BR" sz="1800" dirty="0" err="1"/>
              <a:t>area</a:t>
            </a:r>
            <a:r>
              <a:rPr lang="pt-BR" sz="1800" dirty="0"/>
              <a:t>)</a:t>
            </a:r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37C654B4-8530-2D6D-4708-9B1F46C506C5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8" name="Espaço Reservado para Conteúdo 13">
            <a:extLst>
              <a:ext uri="{FF2B5EF4-FFF2-40B4-BE49-F238E27FC236}">
                <a16:creationId xmlns:a16="http://schemas.microsoft.com/office/drawing/2014/main" id="{8D5B73D8-70B3-22D5-ADB0-DF0931287D77}"/>
              </a:ext>
            </a:extLst>
          </p:cNvPr>
          <p:cNvSpPr txBox="1">
            <a:spLocks/>
          </p:cNvSpPr>
          <p:nvPr/>
        </p:nvSpPr>
        <p:spPr>
          <a:xfrm>
            <a:off x="6231774" y="865248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b="1" dirty="0" err="1"/>
              <a:t>Docstrings</a:t>
            </a:r>
            <a:endParaRPr lang="pt-BR" altLang="pt-BR" sz="1800" b="1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Calibri" panose="020F0502020204030204" pitchFamily="34" charset="0"/>
                <a:cs typeface="Calibri" panose="020F0502020204030204" pitchFamily="34" charset="0"/>
              </a:rPr>
              <a:t>São registros internos em um projeto com mais de uma linha de comentário. Pode ser usado para informar a versão, data de criação e o auto, como também congelar um trecho de instruções. Usa-se uma sequência de 3 aspas para iniciar e finaliza com um sequência de 3 aspas.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def</a:t>
            </a:r>
            <a:r>
              <a:rPr lang="pt-BR" altLang="pt-BR" sz="1800" dirty="0">
                <a:latin typeface="Calibri" panose="020F0502020204030204" pitchFamily="34" charset="0"/>
                <a:cs typeface="Calibri" panose="020F0502020204030204" pitchFamily="34" charset="0"/>
              </a:rPr>
              <a:t> soma(a: </a:t>
            </a:r>
            <a:r>
              <a:rPr lang="pt-BR" altLang="pt-BR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pt-BR" altLang="pt-BR" sz="1800" dirty="0">
                <a:latin typeface="Calibri" panose="020F0502020204030204" pitchFamily="34" charset="0"/>
                <a:cs typeface="Calibri" panose="020F0502020204030204" pitchFamily="34" charset="0"/>
              </a:rPr>
              <a:t>, b: </a:t>
            </a:r>
            <a:r>
              <a:rPr lang="pt-BR" altLang="pt-BR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pt-BR" altLang="pt-BR" sz="1800" dirty="0">
                <a:latin typeface="Calibri" panose="020F0502020204030204" pitchFamily="34" charset="0"/>
                <a:cs typeface="Calibri" panose="020F0502020204030204" pitchFamily="34" charset="0"/>
              </a:rPr>
              <a:t>) -&gt; </a:t>
            </a:r>
            <a:r>
              <a:rPr lang="pt-BR" altLang="pt-BR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pt-BR" altLang="pt-BR" sz="18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"""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Função que soma dois números.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8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pt-BR" altLang="pt-BR" sz="1800" dirty="0" err="1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Args</a:t>
            </a:r>
            <a:r>
              <a:rPr lang="pt-BR" altLang="pt-BR" sz="18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a (</a:t>
            </a:r>
            <a:r>
              <a:rPr lang="pt-BR" altLang="pt-BR" sz="1800" dirty="0" err="1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pt-BR" altLang="pt-BR" sz="18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): Primeiro número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b (</a:t>
            </a:r>
            <a:r>
              <a:rPr lang="pt-BR" altLang="pt-BR" sz="1800" dirty="0" err="1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pt-BR" altLang="pt-BR" sz="18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): Segundo número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8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pt-BR" altLang="pt-BR" sz="1800" dirty="0" err="1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Returns</a:t>
            </a:r>
            <a:r>
              <a:rPr lang="pt-BR" altLang="pt-BR" sz="18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pt-BR" altLang="pt-BR" sz="1800" dirty="0" err="1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pt-BR" altLang="pt-BR" sz="18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Resultado da soma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"""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pt-BR" altLang="pt-BR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return</a:t>
            </a:r>
            <a:r>
              <a:rPr lang="pt-BR" altLang="pt-BR" sz="1800" dirty="0">
                <a:latin typeface="Calibri" panose="020F0502020204030204" pitchFamily="34" charset="0"/>
                <a:cs typeface="Calibri" panose="020F0502020204030204" pitchFamily="34" charset="0"/>
              </a:rPr>
              <a:t> a + b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833085-22E9-570A-1313-FCEF67AF3D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6325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979BA-E716-6920-BC92-66E175384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E31FDA71-5F82-D12D-AD45-BCB8619590A7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E23FFA49-AA0D-D63F-7D15-EEA7D9EF4F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8A58CD39-1116-B392-45C7-A6018305F0D8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ACD22E4A-5728-1C60-60D9-049E93B3316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52CF1DA-5C63-69CE-BF2F-B23083332A5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E0AA6DA1-F0DB-460A-DA0F-12C0E2EAD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8388" y="13498"/>
            <a:ext cx="9055224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000" b="1" dirty="0"/>
              <a:t>Versionamento e Documentação em Python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C445AD0A-B109-3831-2373-BDD9A5088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5714403" cy="5215431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b="1" dirty="0"/>
              <a:t>PEP 257 – Padrões de </a:t>
            </a:r>
            <a:r>
              <a:rPr lang="pt-BR" sz="1800" b="1" dirty="0" err="1"/>
              <a:t>Docstring</a:t>
            </a:r>
            <a:endParaRPr lang="pt-BR" sz="1800" b="1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1800" b="1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/>
              <a:t>O PEP 257 é o documento oficial que define as convenções de escrita de </a:t>
            </a:r>
            <a:r>
              <a:rPr lang="pt-BR" sz="1800" dirty="0" err="1"/>
              <a:t>docstrings</a:t>
            </a:r>
            <a:r>
              <a:rPr lang="pt-BR" sz="1800" dirty="0"/>
              <a:t> em Python. Ele serve como um guia de estilo, assim como a PEP 8 é para a formatação de código.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b="1" dirty="0"/>
              <a:t>Regras principais da PEP 257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 err="1"/>
              <a:t>Docstring</a:t>
            </a:r>
            <a:r>
              <a:rPr lang="pt-BR" sz="1800" dirty="0"/>
              <a:t> de uma linha: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1800" dirty="0"/>
              <a:t>Usada para funções/métodos curtos e simples.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1800" dirty="0"/>
              <a:t>Deve ser uma frase curta, terminada com ponto final.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1800" dirty="0"/>
              <a:t>Não precisa de quebra de linha.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18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 err="1"/>
              <a:t>def</a:t>
            </a:r>
            <a:r>
              <a:rPr lang="pt-BR" sz="1800" dirty="0"/>
              <a:t> quadrado(n):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>
                <a:solidFill>
                  <a:srgbClr val="00B050"/>
                </a:solidFill>
              </a:rPr>
              <a:t>    """Retorna o quadrado de um número."""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/>
              <a:t>    </a:t>
            </a:r>
            <a:r>
              <a:rPr lang="pt-BR" sz="1800" dirty="0" err="1"/>
              <a:t>return</a:t>
            </a:r>
            <a:r>
              <a:rPr lang="pt-BR" sz="1800" dirty="0"/>
              <a:t> n * n</a:t>
            </a:r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558F8EEA-3A40-2A76-9D14-B9054BDBB0BF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b="1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8" name="Espaço Reservado para Conteúdo 13">
            <a:extLst>
              <a:ext uri="{FF2B5EF4-FFF2-40B4-BE49-F238E27FC236}">
                <a16:creationId xmlns:a16="http://schemas.microsoft.com/office/drawing/2014/main" id="{5323C871-12EC-927B-BD68-66799273EA30}"/>
              </a:ext>
            </a:extLst>
          </p:cNvPr>
          <p:cNvSpPr txBox="1">
            <a:spLocks/>
          </p:cNvSpPr>
          <p:nvPr/>
        </p:nvSpPr>
        <p:spPr>
          <a:xfrm>
            <a:off x="6231774" y="865248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b="1" dirty="0" err="1"/>
              <a:t>Docstring</a:t>
            </a:r>
            <a:r>
              <a:rPr lang="pt-BR" sz="1800" b="1" dirty="0"/>
              <a:t> de várias linhas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800" b="1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Calibri" panose="020F0502020204030204" pitchFamily="34" charset="0"/>
                <a:cs typeface="Calibri" panose="020F0502020204030204" pitchFamily="34" charset="0"/>
              </a:rPr>
              <a:t>Usada quando precisa passar mais detalhes sobre um bloco ou trecho de código.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Calibri" panose="020F0502020204030204" pitchFamily="34" charset="0"/>
                <a:cs typeface="Calibri" panose="020F0502020204030204" pitchFamily="34" charset="0"/>
              </a:rPr>
              <a:t>Estrutura recomendada: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1800" dirty="0">
                <a:latin typeface="Calibri" panose="020F0502020204030204" pitchFamily="34" charset="0"/>
                <a:cs typeface="Calibri" panose="020F0502020204030204" pitchFamily="34" charset="0"/>
              </a:rPr>
              <a:t>Primeira linha: descrição curta do propósito.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1800" dirty="0">
                <a:latin typeface="Calibri" panose="020F0502020204030204" pitchFamily="34" charset="0"/>
                <a:cs typeface="Calibri" panose="020F0502020204030204" pitchFamily="34" charset="0"/>
              </a:rPr>
              <a:t>Linha em branco.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1800" dirty="0">
                <a:latin typeface="Calibri" panose="020F0502020204030204" pitchFamily="34" charset="0"/>
                <a:cs typeface="Calibri" panose="020F0502020204030204" pitchFamily="34" charset="0"/>
              </a:rPr>
              <a:t>Explicação mais detalhada (</a:t>
            </a:r>
            <a:r>
              <a:rPr lang="pt-BR" altLang="pt-BR" sz="1800">
                <a:latin typeface="Calibri" panose="020F0502020204030204" pitchFamily="34" charset="0"/>
                <a:cs typeface="Calibri" panose="020F0502020204030204" pitchFamily="34" charset="0"/>
              </a:rPr>
              <a:t>opcional).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pt-BR" altLang="pt-BR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def</a:t>
            </a:r>
            <a:r>
              <a:rPr lang="pt-BR" altLang="pt-BR" sz="1800" dirty="0">
                <a:latin typeface="Calibri" panose="020F0502020204030204" pitchFamily="34" charset="0"/>
                <a:cs typeface="Calibri" panose="020F0502020204030204" pitchFamily="34" charset="0"/>
              </a:rPr>
              <a:t> soma(a, b):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"""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Retorna a soma de dois números.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8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Esta função recebe dois valores numéricos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e retorna a soma deles.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"""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pt-BR" altLang="pt-BR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return</a:t>
            </a:r>
            <a:r>
              <a:rPr lang="pt-BR" altLang="pt-BR" sz="1800" dirty="0">
                <a:latin typeface="Calibri" panose="020F0502020204030204" pitchFamily="34" charset="0"/>
                <a:cs typeface="Calibri" panose="020F0502020204030204" pitchFamily="34" charset="0"/>
              </a:rPr>
              <a:t> a + 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E8A0D3-1580-EE43-F237-7A31F1CA3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5273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14072</TotalTime>
  <Words>805</Words>
  <Application>Microsoft Office PowerPoint</Application>
  <PresentationFormat>Widescreen</PresentationFormat>
  <Paragraphs>118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2" baseType="lpstr">
      <vt:lpstr>Agency FB</vt:lpstr>
      <vt:lpstr>Arial</vt:lpstr>
      <vt:lpstr>Arial Unicode MS</vt:lpstr>
      <vt:lpstr>Calibri</vt:lpstr>
      <vt:lpstr>Calibri Light</vt:lpstr>
      <vt:lpstr>Tema do Office</vt:lpstr>
      <vt:lpstr>Apresentação do PowerPoint</vt:lpstr>
      <vt:lpstr>Versionamento e Documentação em Python</vt:lpstr>
      <vt:lpstr>Versionamento e Documentação em Python</vt:lpstr>
      <vt:lpstr>Versionamento e Documentação em Python</vt:lpstr>
      <vt:lpstr>Versionamento e Documentação em Python</vt:lpstr>
      <vt:lpstr>Versionamento e Documentação em Python</vt:lpstr>
    </vt:vector>
  </TitlesOfParts>
  <Company>SESI_SENAI_SP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André da Silva</dc:creator>
  <cp:lastModifiedBy>Marcos Andre da Silva</cp:lastModifiedBy>
  <cp:revision>187</cp:revision>
  <dcterms:created xsi:type="dcterms:W3CDTF">2017-07-19T17:45:31Z</dcterms:created>
  <dcterms:modified xsi:type="dcterms:W3CDTF">2025-08-29T12:16:37Z</dcterms:modified>
</cp:coreProperties>
</file>