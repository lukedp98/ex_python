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73" r:id="rId9"/>
    <p:sldId id="274" r:id="rId10"/>
    <p:sldId id="275" r:id="rId11"/>
    <p:sldId id="276" r:id="rId12"/>
    <p:sldId id="27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1E820B-E4B9-4326-9E0A-32245E96C64A}">
          <p14:sldIdLst>
            <p14:sldId id="256"/>
            <p14:sldId id="278"/>
            <p14:sldId id="279"/>
            <p14:sldId id="280"/>
            <p14:sldId id="281"/>
            <p14:sldId id="282"/>
            <p14:sldId id="283"/>
            <p14:sldId id="273"/>
            <p14:sldId id="274"/>
            <p14:sldId id="275"/>
            <p14:sldId id="276"/>
            <p14:sldId id="277"/>
          </p14:sldIdLst>
        </p14:section>
        <p14:section name="Seção sem Título" id="{5D3938C1-01F9-431A-A6F1-E3F345A874E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5B9BD5"/>
    <a:srgbClr val="FF66FF"/>
    <a:srgbClr val="FF5050"/>
    <a:srgbClr val="0066CC"/>
    <a:srgbClr val="CC0000"/>
    <a:srgbClr val="CC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Programação em Python</a:t>
            </a:r>
          </a:p>
          <a:p>
            <a:pPr algn="ctr"/>
            <a:r>
              <a:rPr lang="pt-BR" sz="3600" dirty="0"/>
              <a:t>Aula 14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568388" y="52170"/>
            <a:ext cx="9055224" cy="669236"/>
          </a:xfrm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Variáveis, Escopo e Tratamento de Exceções em Python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796344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Variáveis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Uma variável é um </a:t>
            </a:r>
            <a:r>
              <a:rPr lang="pt-BR" sz="1800" b="1" dirty="0"/>
              <a:t>espaço definido na programação</a:t>
            </a:r>
            <a:r>
              <a:rPr lang="pt-BR" sz="1800" dirty="0"/>
              <a:t> que armazena um valor na memória do dispositivo onde esta sendo executada a operação de forma temporária.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OBS: </a:t>
            </a:r>
            <a:r>
              <a:rPr lang="pt-BR" sz="1800" dirty="0"/>
              <a:t>quando a aplicação é fechada a variável limpa os valores ou volta para o valor que foi atribuído no momento da criação.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Regras básicas para criar nomes de variáveis: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Não pode começar com número.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Pode conter letras, números e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</a:t>
            </a: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Sensível a maiúsculas e minúsculas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800" dirty="0">
                <a:latin typeface="Arial" panose="020B0604020202020204" pitchFamily="34" charset="0"/>
              </a:rPr>
              <a:t>Não pode utilizar acentos ou caracteres especiais.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22A14B8-3B82-1846-4517-0EEAA4F09E45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Exemplo: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idade = 25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nome = "Maria"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altura = 1.68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print(nome, idade, altura)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#retorno: Maria, 25, 1.68</a:t>
            </a:r>
          </a:p>
        </p:txBody>
      </p:sp>
    </p:spTree>
    <p:extLst>
      <p:ext uri="{BB962C8B-B14F-4D97-AF65-F5344CB8AC3E}">
        <p14:creationId xmlns:p14="http://schemas.microsoft.com/office/powerpoint/2010/main" val="2253458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082E-0AE0-7AA4-3E33-6691CE4E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543DD5D4-4A04-E6EE-5024-AF9D69514E4F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B95B6CF-B37F-F596-AD9F-B5642EC30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E4C2020-44C6-F7D7-6798-BA76263E9407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1F6C8A5B-C735-97AC-8368-65902D9ECE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B7CE40D-447D-F3C0-5D7E-2E81D4BA84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B7E5331A-927D-DA51-ACA3-40A97CACD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52170"/>
            <a:ext cx="9055224" cy="669236"/>
          </a:xfrm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Variáveis, Escopo e Tratamento de Exceções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7035741-0895-0301-72C2-352B57C86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96344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Escopo de variáveis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escopo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define “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onde”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variável pode ser acessada.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Escopo 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Criada dentro de uma função ou bloco lógico. Somente pode ser usada dentro deste bloco.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def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minha_funcao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800" dirty="0">
                <a:latin typeface="Arial Unicode MS"/>
              </a:rPr>
              <a:t>   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mensagem = "Olá!" 	# escopo 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print(mensagem)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minha_funcao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print(mensagem)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Erro! Fora do escopo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FCDFF6E5-4193-75A0-9091-1FE1FA7D72C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CECDDB14-6AEC-3571-889A-43C90C1E75FE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Escopo global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Criada fora de funções ou blocos lógicos. Pode ser usada em todo o código.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mensagem = "Olá, mundo!"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escopo global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def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mostrar():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print(mensagem)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acessa a variável global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mostrar()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99F0B3-30BA-3A21-246D-EC4E7319B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D740037-881D-B8C6-A037-9A051F791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259"/>
            <a:ext cx="18473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20449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082E-0AE0-7AA4-3E33-6691CE4E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543DD5D4-4A04-E6EE-5024-AF9D69514E4F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B95B6CF-B37F-F596-AD9F-B5642EC30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E4C2020-44C6-F7D7-6798-BA76263E9407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1F6C8A5B-C735-97AC-8368-65902D9ECE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B7CE40D-447D-F3C0-5D7E-2E81D4BA84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B7E5331A-927D-DA51-ACA3-40A97CACD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52170"/>
            <a:ext cx="9055224" cy="669236"/>
          </a:xfrm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Variáveis, Escopo e Tratamento de Exceções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7035741-0895-0301-72C2-352B57C86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Escopo de variáveis</a:t>
            </a:r>
          </a:p>
          <a:p>
            <a:pPr marL="0" indent="0">
              <a:buNone/>
            </a:pPr>
            <a:r>
              <a:rPr lang="pt-BR" sz="2300" b="1" dirty="0"/>
              <a:t>Variáveis globais</a:t>
            </a:r>
            <a:endParaRPr lang="pt-BR" sz="23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300" dirty="0"/>
              <a:t>Como dito anteriormente, as variáveis GLOBAIS, são criadas fora dos blocos lógicos e podem ser usadas em qualquer parte do código. Se precisar </a:t>
            </a:r>
            <a:r>
              <a:rPr lang="pt-BR" sz="2300" b="1" dirty="0"/>
              <a:t>alterar</a:t>
            </a:r>
            <a:r>
              <a:rPr lang="pt-BR" sz="2300" dirty="0"/>
              <a:t> uma variável global dentro de uma função, use o denominador </a:t>
            </a:r>
            <a:r>
              <a:rPr lang="pt-BR" sz="2300" b="1" dirty="0"/>
              <a:t>“global”.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3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indent="0">
              <a:buNone/>
            </a:pPr>
            <a:r>
              <a:rPr lang="pt-BR" dirty="0"/>
              <a:t>contador = 0</a:t>
            </a:r>
          </a:p>
          <a:p>
            <a:pPr marL="0" indent="0">
              <a:buNone/>
            </a:pPr>
            <a:r>
              <a:rPr lang="pt-BR" dirty="0"/>
              <a:t> </a:t>
            </a:r>
          </a:p>
          <a:p>
            <a:pPr marL="0" indent="0">
              <a:buNone/>
            </a:pPr>
            <a:r>
              <a:rPr lang="pt-BR" dirty="0" err="1"/>
              <a:t>def</a:t>
            </a:r>
            <a:r>
              <a:rPr lang="pt-BR" dirty="0"/>
              <a:t> incrementar():</a:t>
            </a:r>
          </a:p>
          <a:p>
            <a:pPr marL="0" indent="0">
              <a:buNone/>
            </a:pPr>
            <a:r>
              <a:rPr lang="pt-BR" dirty="0"/>
              <a:t>    global contador</a:t>
            </a:r>
          </a:p>
          <a:p>
            <a:pPr marL="0" indent="0">
              <a:buNone/>
            </a:pPr>
            <a:r>
              <a:rPr lang="pt-BR" dirty="0"/>
              <a:t>    contador += 1</a:t>
            </a:r>
          </a:p>
          <a:p>
            <a:pPr marL="0" indent="0">
              <a:buNone/>
            </a:pPr>
            <a:r>
              <a:rPr lang="pt-BR" dirty="0"/>
              <a:t> </a:t>
            </a:r>
          </a:p>
          <a:p>
            <a:pPr marL="0" indent="0">
              <a:buNone/>
            </a:pPr>
            <a:r>
              <a:rPr lang="pt-BR" dirty="0"/>
              <a:t>incrementar()</a:t>
            </a:r>
          </a:p>
          <a:p>
            <a:pPr marL="0" indent="0">
              <a:buNone/>
            </a:pPr>
            <a:r>
              <a:rPr lang="pt-BR" dirty="0"/>
              <a:t>incrementar()</a:t>
            </a:r>
          </a:p>
          <a:p>
            <a:pPr marL="0" indent="0">
              <a:buNone/>
            </a:pPr>
            <a:r>
              <a:rPr lang="pt-BR" dirty="0"/>
              <a:t>print(contador)  #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FCDFF6E5-4193-75A0-9091-1FE1FA7D72C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CECDDB14-6AEC-3571-889A-43C90C1E75FE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99F0B3-30BA-3A21-246D-EC4E7319B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D740037-881D-B8C6-A037-9A051F791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259"/>
            <a:ext cx="18473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0140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082E-0AE0-7AA4-3E33-6691CE4E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543DD5D4-4A04-E6EE-5024-AF9D69514E4F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B95B6CF-B37F-F596-AD9F-B5642EC30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E4C2020-44C6-F7D7-6798-BA76263E9407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1F6C8A5B-C735-97AC-8368-65902D9ECE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B7CE40D-447D-F3C0-5D7E-2E81D4BA84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B7E5331A-927D-DA51-ACA3-40A97CACD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52170"/>
            <a:ext cx="9055224" cy="669236"/>
          </a:xfrm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Variáveis, Escopo e Tratamento de Exceções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7035741-0895-0301-72C2-352B57C86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Exceções</a:t>
            </a:r>
            <a:endParaRPr lang="pt-BR" dirty="0"/>
          </a:p>
          <a:p>
            <a:pPr marL="0" indent="0">
              <a:buNone/>
            </a:pPr>
            <a:r>
              <a:rPr lang="pt-BR" sz="1800" b="1" dirty="0"/>
              <a:t>Exceção</a:t>
            </a:r>
            <a:r>
              <a:rPr lang="pt-BR" sz="1800" dirty="0"/>
              <a:t> é a forma como são tratado alguns erros na execução do programa. O erro que acontece durante a execução do programa, se não for tratado, o programa para.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Exemplos:</a:t>
            </a:r>
          </a:p>
          <a:p>
            <a:pPr marL="0" indent="0">
              <a:buNone/>
            </a:pPr>
            <a:endParaRPr lang="pt-BR" sz="1800" dirty="0"/>
          </a:p>
          <a:p>
            <a:pPr marL="0" lvl="0" indent="0">
              <a:buNone/>
            </a:pPr>
            <a:r>
              <a:rPr lang="pt-BR" sz="1800" b="1" dirty="0"/>
              <a:t>Divisão por zero: </a:t>
            </a:r>
            <a:r>
              <a:rPr lang="pt-BR" sz="1800" dirty="0" err="1"/>
              <a:t>ZeroDivisionError</a:t>
            </a:r>
            <a:endParaRPr lang="pt-BR" sz="1800" dirty="0"/>
          </a:p>
          <a:p>
            <a:pPr marL="0" lvl="0" indent="0">
              <a:buNone/>
            </a:pPr>
            <a:r>
              <a:rPr lang="pt-BR" sz="1800" b="1" dirty="0"/>
              <a:t>Número inválido: </a:t>
            </a:r>
            <a:r>
              <a:rPr lang="pt-BR" sz="1800" dirty="0" err="1"/>
              <a:t>ValueError</a:t>
            </a:r>
            <a:endParaRPr lang="pt-BR" sz="1800" dirty="0"/>
          </a:p>
          <a:p>
            <a:pPr marL="0" lvl="0" indent="0">
              <a:buNone/>
            </a:pPr>
            <a:r>
              <a:rPr lang="pt-BR" sz="1800" b="1" dirty="0"/>
              <a:t>Arquivo inexistente: </a:t>
            </a:r>
            <a:r>
              <a:rPr lang="pt-BR" sz="1800" dirty="0" err="1"/>
              <a:t>FileNotFoundError</a:t>
            </a: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# Erro de divisão por zero</a:t>
            </a:r>
          </a:p>
          <a:p>
            <a:pPr marL="0" indent="0">
              <a:buNone/>
            </a:pPr>
            <a:r>
              <a:rPr lang="pt-BR" sz="1800" dirty="0"/>
              <a:t>print(10 / 0)  # Gera </a:t>
            </a:r>
            <a:r>
              <a:rPr lang="pt-BR" sz="1800" dirty="0" err="1"/>
              <a:t>ZeroDivisionError</a:t>
            </a: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FCDFF6E5-4193-75A0-9091-1FE1FA7D72C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CECDDB14-6AEC-3571-889A-43C90C1E75FE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99F0B3-30BA-3A21-246D-EC4E7319B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D740037-881D-B8C6-A037-9A051F791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259"/>
            <a:ext cx="18473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5613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082E-0AE0-7AA4-3E33-6691CE4E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543DD5D4-4A04-E6EE-5024-AF9D69514E4F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B95B6CF-B37F-F596-AD9F-B5642EC30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E4C2020-44C6-F7D7-6798-BA76263E9407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1F6C8A5B-C735-97AC-8368-65902D9ECE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B7CE40D-447D-F3C0-5D7E-2E81D4BA84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B7E5331A-927D-DA51-ACA3-40A97CACD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52170"/>
            <a:ext cx="9055224" cy="669236"/>
          </a:xfrm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Variáveis, Escopo e Tratamento de Exceções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7035741-0895-0301-72C2-352B57C86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Exceções</a:t>
            </a:r>
            <a:endParaRPr lang="pt-BR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Exceções mais comuns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600" b="1" dirty="0" err="1"/>
              <a:t>Error</a:t>
            </a:r>
            <a:r>
              <a:rPr lang="pt-BR" sz="1600" b="1" dirty="0"/>
              <a:t>:</a:t>
            </a:r>
            <a:r>
              <a:rPr lang="pt-BR" sz="1600" dirty="0"/>
              <a:t> erro de sintaxe no código.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600" dirty="0" err="1"/>
              <a:t>if</a:t>
            </a:r>
            <a:r>
              <a:rPr lang="pt-BR" sz="1600" dirty="0"/>
              <a:t> </a:t>
            </a:r>
            <a:r>
              <a:rPr lang="pt-BR" sz="1600" dirty="0" err="1"/>
              <a:t>True</a:t>
            </a:r>
            <a:r>
              <a:rPr lang="pt-BR" sz="1600" dirty="0"/>
              <a:t> print("Erro")  # falta dois pontos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600" b="1" dirty="0" err="1"/>
              <a:t>IndentationError</a:t>
            </a:r>
            <a:r>
              <a:rPr lang="pt-BR" sz="1600" b="1" dirty="0"/>
              <a:t>: </a:t>
            </a:r>
            <a:r>
              <a:rPr lang="pt-BR" sz="1600" dirty="0"/>
              <a:t>erro de </a:t>
            </a:r>
            <a:r>
              <a:rPr lang="pt-BR" sz="1600" dirty="0" err="1"/>
              <a:t>identação</a:t>
            </a:r>
            <a:r>
              <a:rPr lang="pt-BR" sz="1600" dirty="0"/>
              <a:t> (espaços/tabulação).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600" dirty="0" err="1"/>
              <a:t>if</a:t>
            </a:r>
            <a:r>
              <a:rPr lang="pt-BR" sz="1600" dirty="0"/>
              <a:t> </a:t>
            </a:r>
            <a:r>
              <a:rPr lang="pt-BR" sz="1600" dirty="0" err="1"/>
              <a:t>True:print</a:t>
            </a:r>
            <a:r>
              <a:rPr lang="pt-BR" sz="1600" dirty="0"/>
              <a:t>("Erro")  # sem recuo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600" b="1" dirty="0" err="1"/>
              <a:t>NameError</a:t>
            </a:r>
            <a:r>
              <a:rPr lang="pt-BR" sz="1600" b="1" dirty="0"/>
              <a:t>:</a:t>
            </a:r>
            <a:r>
              <a:rPr lang="pt-BR" sz="1600" dirty="0"/>
              <a:t> usar uma variável não definida.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600" dirty="0"/>
              <a:t>print(x)  # x não foi declarado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600" b="1" dirty="0" err="1"/>
              <a:t>TypeError</a:t>
            </a:r>
            <a:r>
              <a:rPr lang="pt-BR" sz="1600" b="1" dirty="0"/>
              <a:t>: </a:t>
            </a:r>
            <a:r>
              <a:rPr lang="pt-BR" sz="1600" dirty="0"/>
              <a:t>operação com tipos incompatíveis.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600" dirty="0"/>
              <a:t>print("texto" + 10)  # não pode somar </a:t>
            </a:r>
            <a:r>
              <a:rPr lang="pt-BR" sz="1600" dirty="0" err="1"/>
              <a:t>string</a:t>
            </a:r>
            <a:r>
              <a:rPr lang="pt-BR" sz="1600" dirty="0"/>
              <a:t> e </a:t>
            </a:r>
            <a:r>
              <a:rPr lang="pt-BR" sz="1600" dirty="0" err="1"/>
              <a:t>int</a:t>
            </a:r>
            <a:endParaRPr lang="pt-BR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600" b="1" dirty="0" err="1"/>
              <a:t>ValueError</a:t>
            </a:r>
            <a:r>
              <a:rPr lang="pt-BR" sz="1600" b="1" dirty="0"/>
              <a:t>:</a:t>
            </a:r>
            <a:r>
              <a:rPr lang="pt-BR" sz="1600" dirty="0"/>
              <a:t> valor inválido para o tipo esperado.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600" dirty="0" err="1"/>
              <a:t>int</a:t>
            </a:r>
            <a:r>
              <a:rPr lang="pt-BR" sz="1600" dirty="0"/>
              <a:t>("abc")  # não pode converter </a:t>
            </a:r>
            <a:r>
              <a:rPr lang="pt-BR" sz="1600" dirty="0" err="1"/>
              <a:t>string</a:t>
            </a:r>
            <a:r>
              <a:rPr lang="pt-BR" sz="1600" dirty="0"/>
              <a:t> para número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FCDFF6E5-4193-75A0-9091-1FE1FA7D72C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CECDDB14-6AEC-3571-889A-43C90C1E75FE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99F0B3-30BA-3A21-246D-EC4E7319B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D740037-881D-B8C6-A037-9A051F791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259"/>
            <a:ext cx="18473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Espaço Reservado para Conteúdo 13">
            <a:extLst>
              <a:ext uri="{FF2B5EF4-FFF2-40B4-BE49-F238E27FC236}">
                <a16:creationId xmlns:a16="http://schemas.microsoft.com/office/drawing/2014/main" id="{FD03C6AB-09C3-4545-A29B-5B1F19F6CEC3}"/>
              </a:ext>
            </a:extLst>
          </p:cNvPr>
          <p:cNvSpPr txBox="1">
            <a:spLocks/>
          </p:cNvSpPr>
          <p:nvPr/>
        </p:nvSpPr>
        <p:spPr>
          <a:xfrm>
            <a:off x="6313715" y="911084"/>
            <a:ext cx="5714403" cy="52154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ZeroDivisionError</a:t>
            </a:r>
            <a:r>
              <a:rPr lang="pt-BR" sz="1800" b="1" dirty="0"/>
              <a:t>:</a:t>
            </a:r>
            <a:r>
              <a:rPr lang="pt-BR" sz="1800" dirty="0"/>
              <a:t> divisão por zero.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print(10 / 0)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IndexError</a:t>
            </a:r>
            <a:r>
              <a:rPr lang="pt-BR" sz="1800" b="1" dirty="0"/>
              <a:t>: </a:t>
            </a:r>
            <a:r>
              <a:rPr lang="pt-BR" sz="1800" dirty="0"/>
              <a:t>índice inválido em lista/</a:t>
            </a:r>
            <a:r>
              <a:rPr lang="pt-BR" sz="1800" dirty="0" err="1"/>
              <a:t>tupla</a:t>
            </a:r>
            <a:r>
              <a:rPr lang="pt-BR" sz="1800" dirty="0"/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lista = [1, 2, 3]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print(lista[5])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KeyError</a:t>
            </a:r>
            <a:r>
              <a:rPr lang="pt-BR" sz="1800" b="1" dirty="0"/>
              <a:t>:</a:t>
            </a:r>
            <a:r>
              <a:rPr lang="pt-BR" sz="1800" dirty="0"/>
              <a:t> acessar chave inexistente em um dicionário.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d = {"a": 1}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print(d["b"])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AttributeError</a:t>
            </a:r>
            <a:r>
              <a:rPr lang="pt-BR" sz="1800" b="1" dirty="0"/>
              <a:t>:</a:t>
            </a:r>
            <a:r>
              <a:rPr lang="pt-BR" sz="1800" dirty="0"/>
              <a:t> tentar acessar atributo/método inexistente.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texto = "</a:t>
            </a:r>
            <a:r>
              <a:rPr lang="pt-BR" sz="1800" dirty="0" err="1"/>
              <a:t>Python"texto.append</a:t>
            </a:r>
            <a:r>
              <a:rPr lang="pt-BR" sz="1800" dirty="0"/>
              <a:t>("3")  # </a:t>
            </a:r>
            <a:r>
              <a:rPr lang="pt-BR" sz="1800" dirty="0" err="1"/>
              <a:t>strings</a:t>
            </a:r>
            <a:r>
              <a:rPr lang="pt-BR" sz="1800" dirty="0"/>
              <a:t> não têm </a:t>
            </a:r>
            <a:r>
              <a:rPr lang="pt-BR" sz="1800" dirty="0" err="1"/>
              <a:t>append</a:t>
            </a: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ImportError</a:t>
            </a:r>
            <a:r>
              <a:rPr lang="pt-BR" sz="1800" b="1" dirty="0"/>
              <a:t> / </a:t>
            </a:r>
            <a:r>
              <a:rPr lang="pt-BR" sz="1800" b="1" dirty="0" err="1"/>
              <a:t>ModuleNotFoundError</a:t>
            </a:r>
            <a:r>
              <a:rPr lang="pt-BR" sz="1800" b="1" dirty="0"/>
              <a:t>:</a:t>
            </a:r>
            <a:r>
              <a:rPr lang="pt-BR" sz="1800" dirty="0"/>
              <a:t> erro ao importar módulo inexistente.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modulo_que_nao_existe</a:t>
            </a: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FileNotFoundError</a:t>
            </a:r>
            <a:r>
              <a:rPr lang="pt-BR" sz="1800" b="1" dirty="0"/>
              <a:t>:</a:t>
            </a:r>
            <a:r>
              <a:rPr lang="pt-BR" sz="1800" dirty="0"/>
              <a:t> arquivo não encontrado.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open("nao_existe.txt")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OSError</a:t>
            </a:r>
            <a:r>
              <a:rPr lang="pt-BR" sz="1800" b="1" dirty="0"/>
              <a:t>: </a:t>
            </a:r>
            <a:r>
              <a:rPr lang="pt-BR" sz="1800" dirty="0"/>
              <a:t>erro relacionado ao sistema operacional (arquivos, permissões etc.).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RuntimeError</a:t>
            </a:r>
            <a:r>
              <a:rPr lang="pt-BR" sz="1800" b="1" dirty="0"/>
              <a:t>: </a:t>
            </a:r>
            <a:r>
              <a:rPr lang="pt-BR" sz="1800" dirty="0"/>
              <a:t>erro genérico que não se encaixa em outras categorias.</a:t>
            </a:r>
          </a:p>
        </p:txBody>
      </p:sp>
    </p:spTree>
    <p:extLst>
      <p:ext uri="{BB962C8B-B14F-4D97-AF65-F5344CB8AC3E}">
        <p14:creationId xmlns:p14="http://schemas.microsoft.com/office/powerpoint/2010/main" val="2527965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082E-0AE0-7AA4-3E33-6691CE4E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543DD5D4-4A04-E6EE-5024-AF9D69514E4F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B95B6CF-B37F-F596-AD9F-B5642EC30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E4C2020-44C6-F7D7-6798-BA76263E9407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1F6C8A5B-C735-97AC-8368-65902D9ECE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B7CE40D-447D-F3C0-5D7E-2E81D4BA84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B7E5331A-927D-DA51-ACA3-40A97CACD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52170"/>
            <a:ext cx="9055224" cy="669236"/>
          </a:xfrm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Variáveis, Escopo e Tratamento de Exceções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7035741-0895-0301-72C2-352B57C86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550521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Tratamento com “</a:t>
            </a:r>
            <a:r>
              <a:rPr lang="pt-BR" b="1" dirty="0" err="1"/>
              <a:t>try</a:t>
            </a:r>
            <a:r>
              <a:rPr lang="pt-BR" b="1" dirty="0"/>
              <a:t>” e “</a:t>
            </a:r>
            <a:r>
              <a:rPr lang="pt-BR" b="1" dirty="0" err="1"/>
              <a:t>except</a:t>
            </a:r>
            <a:r>
              <a:rPr lang="pt-BR" b="1" dirty="0"/>
              <a:t>”</a:t>
            </a:r>
            <a:endParaRPr lang="pt-BR" dirty="0"/>
          </a:p>
          <a:p>
            <a:pPr marL="0" indent="0">
              <a:buNone/>
            </a:pPr>
            <a:r>
              <a:rPr lang="pt-BR" sz="1800" dirty="0"/>
              <a:t>Para evitar que o programa pare quando ocorrer um erro usar a instrução TRY e para cada tipo de possível erro que for identificado usar um EXCEPT:</a:t>
            </a:r>
          </a:p>
          <a:p>
            <a:pPr marL="0" indent="0">
              <a:buNone/>
            </a:pPr>
            <a:r>
              <a:rPr lang="pt-BR" sz="1800" dirty="0" err="1"/>
              <a:t>try</a:t>
            </a:r>
            <a:r>
              <a:rPr lang="pt-BR" sz="1800" dirty="0"/>
              <a:t>:</a:t>
            </a:r>
          </a:p>
          <a:p>
            <a:pPr marL="0" indent="0">
              <a:buNone/>
            </a:pPr>
            <a:r>
              <a:rPr lang="pt-BR" sz="1800" dirty="0"/>
              <a:t>    numero = </a:t>
            </a:r>
            <a:r>
              <a:rPr lang="pt-BR" sz="1800" dirty="0" err="1"/>
              <a:t>int</a:t>
            </a:r>
            <a:r>
              <a:rPr lang="pt-BR" sz="1800" dirty="0"/>
              <a:t>(input("Digite um número: "))</a:t>
            </a:r>
          </a:p>
          <a:p>
            <a:pPr marL="0" indent="0">
              <a:buNone/>
            </a:pPr>
            <a:r>
              <a:rPr lang="pt-BR" sz="1800" dirty="0"/>
              <a:t>    resultado = 10 / numero</a:t>
            </a:r>
          </a:p>
          <a:p>
            <a:pPr marL="0" indent="0">
              <a:buNone/>
            </a:pPr>
            <a:r>
              <a:rPr lang="pt-BR" sz="1800" dirty="0"/>
              <a:t>    print("Resultado:", resultado)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err="1"/>
              <a:t>except</a:t>
            </a:r>
            <a:r>
              <a:rPr lang="pt-BR" sz="1800" dirty="0"/>
              <a:t> </a:t>
            </a:r>
            <a:r>
              <a:rPr lang="pt-BR" sz="1800" dirty="0" err="1"/>
              <a:t>ZeroDivisionError</a:t>
            </a:r>
            <a:r>
              <a:rPr lang="pt-BR" sz="1800" dirty="0"/>
              <a:t>:</a:t>
            </a:r>
          </a:p>
          <a:p>
            <a:pPr marL="0" indent="0">
              <a:buNone/>
            </a:pPr>
            <a:r>
              <a:rPr lang="pt-BR" sz="1800" dirty="0"/>
              <a:t>    print("Erro: não é possível dividir por zero!")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err="1"/>
              <a:t>except</a:t>
            </a:r>
            <a:r>
              <a:rPr lang="pt-BR" sz="1800" dirty="0"/>
              <a:t> </a:t>
            </a:r>
            <a:r>
              <a:rPr lang="pt-BR" sz="1800" dirty="0" err="1"/>
              <a:t>ValueError</a:t>
            </a:r>
            <a:r>
              <a:rPr lang="pt-BR" sz="1800" dirty="0"/>
              <a:t>:</a:t>
            </a:r>
          </a:p>
          <a:p>
            <a:pPr marL="0" indent="0">
              <a:buNone/>
            </a:pPr>
            <a:r>
              <a:rPr lang="pt-BR" sz="1800" dirty="0"/>
              <a:t>    print("Erro: você não digitou um número válido.")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FCDFF6E5-4193-75A0-9091-1FE1FA7D72C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CECDDB14-6AEC-3571-889A-43C90C1E75FE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99F0B3-30BA-3A21-246D-EC4E7319B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D740037-881D-B8C6-A037-9A051F791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259"/>
            <a:ext cx="18473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Espaço Reservado para Conteúdo 13">
            <a:extLst>
              <a:ext uri="{FF2B5EF4-FFF2-40B4-BE49-F238E27FC236}">
                <a16:creationId xmlns:a16="http://schemas.microsoft.com/office/drawing/2014/main" id="{6AC31856-F10E-4152-8DDD-9F14EF159CD3}"/>
              </a:ext>
            </a:extLst>
          </p:cNvPr>
          <p:cNvSpPr txBox="1">
            <a:spLocks/>
          </p:cNvSpPr>
          <p:nvPr/>
        </p:nvSpPr>
        <p:spPr>
          <a:xfrm>
            <a:off x="6231774" y="875327"/>
            <a:ext cx="5550521" cy="52154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Exemplo usando o tratamento com lógica condicional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# Usuário informa os números</a:t>
            </a:r>
          </a:p>
          <a:p>
            <a:pPr marL="0" indent="0">
              <a:buNone/>
            </a:pPr>
            <a:r>
              <a:rPr lang="pt-BR" sz="1800" dirty="0"/>
              <a:t>num1 = </a:t>
            </a:r>
            <a:r>
              <a:rPr lang="pt-BR" sz="1800" dirty="0" err="1"/>
              <a:t>float</a:t>
            </a:r>
            <a:r>
              <a:rPr lang="pt-BR" sz="1800" dirty="0"/>
              <a:t>(input("Digite o primeiro número: "))</a:t>
            </a:r>
          </a:p>
          <a:p>
            <a:pPr marL="0" indent="0">
              <a:buNone/>
            </a:pPr>
            <a:r>
              <a:rPr lang="pt-BR" sz="1800" dirty="0"/>
              <a:t>num2 = </a:t>
            </a:r>
            <a:r>
              <a:rPr lang="pt-BR" sz="1800" dirty="0" err="1"/>
              <a:t>float</a:t>
            </a:r>
            <a:r>
              <a:rPr lang="pt-BR" sz="1800" dirty="0"/>
              <a:t>(input("Digite o segundo número: "))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# Verifica antes de dividir</a:t>
            </a:r>
          </a:p>
          <a:p>
            <a:pPr marL="0" indent="0">
              <a:buNone/>
            </a:pPr>
            <a:r>
              <a:rPr lang="pt-BR" sz="1800" dirty="0" err="1"/>
              <a:t>if</a:t>
            </a:r>
            <a:r>
              <a:rPr lang="pt-BR" sz="1800" dirty="0"/>
              <a:t> num2 == 0:</a:t>
            </a:r>
          </a:p>
          <a:p>
            <a:pPr marL="0" indent="0">
              <a:buNone/>
            </a:pPr>
            <a:r>
              <a:rPr lang="pt-BR" sz="1800" dirty="0"/>
              <a:t>    print("Erro: não é possível dividir por zero!")</a:t>
            </a:r>
          </a:p>
          <a:p>
            <a:pPr marL="0" indent="0">
              <a:buNone/>
            </a:pPr>
            <a:r>
              <a:rPr lang="pt-BR" sz="1800" dirty="0" err="1"/>
              <a:t>else</a:t>
            </a:r>
            <a:r>
              <a:rPr lang="pt-BR" sz="1800" dirty="0"/>
              <a:t>:</a:t>
            </a:r>
          </a:p>
          <a:p>
            <a:pPr marL="0" indent="0">
              <a:buNone/>
            </a:pPr>
            <a:r>
              <a:rPr lang="pt-BR" sz="1800" dirty="0"/>
              <a:t>    resultado = num1 / num2</a:t>
            </a:r>
          </a:p>
          <a:p>
            <a:pPr marL="0" indent="0">
              <a:buNone/>
            </a:pPr>
            <a:r>
              <a:rPr lang="pt-BR" sz="1800" dirty="0"/>
              <a:t>    print(</a:t>
            </a:r>
            <a:r>
              <a:rPr lang="pt-BR" sz="1800" dirty="0" err="1"/>
              <a:t>f"O</a:t>
            </a:r>
            <a:r>
              <a:rPr lang="pt-BR" sz="1800" dirty="0"/>
              <a:t> resultado da divisão é: {resultado}")</a:t>
            </a:r>
          </a:p>
          <a:p>
            <a:pPr marL="0" indent="0"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O </a:t>
            </a:r>
            <a:r>
              <a:rPr lang="pt-BR" sz="1800" b="1" dirty="0" err="1"/>
              <a:t>if</a:t>
            </a:r>
            <a:r>
              <a:rPr lang="pt-BR" sz="1800" dirty="0"/>
              <a:t> previne o erro antes dele acontecer. O </a:t>
            </a:r>
            <a:r>
              <a:rPr lang="pt-BR" sz="1800" b="1" dirty="0" err="1"/>
              <a:t>try</a:t>
            </a:r>
            <a:r>
              <a:rPr lang="pt-BR" sz="1800" b="1" dirty="0"/>
              <a:t>/</a:t>
            </a:r>
            <a:r>
              <a:rPr lang="pt-BR" sz="1800" b="1" dirty="0" err="1"/>
              <a:t>except</a:t>
            </a:r>
            <a:r>
              <a:rPr lang="pt-BR" sz="1800" b="1" dirty="0"/>
              <a:t> </a:t>
            </a:r>
            <a:r>
              <a:rPr lang="pt-BR" sz="1800" dirty="0"/>
              <a:t>deixa o erro acontecer, mas trata ele de forma elegante sem quebrar o programa.</a:t>
            </a:r>
          </a:p>
        </p:txBody>
      </p:sp>
    </p:spTree>
    <p:extLst>
      <p:ext uri="{BB962C8B-B14F-4D97-AF65-F5344CB8AC3E}">
        <p14:creationId xmlns:p14="http://schemas.microsoft.com/office/powerpoint/2010/main" val="3304210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GRÁFICOS</a:t>
            </a:r>
            <a:endParaRPr lang="pt-BR" sz="5400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CRIANDO GRÁFICOS NO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Você pode criar gráficos simples em Python usando a biblioteca </a:t>
            </a:r>
            <a:r>
              <a:rPr lang="pt-BR" sz="1800" dirty="0" err="1"/>
              <a:t>matplotlib</a:t>
            </a:r>
            <a:r>
              <a:rPr lang="pt-BR" sz="1800" dirty="0"/>
              <a:t>, que é a mais popular para visualização de dados. Para usar esta biblioteca no </a:t>
            </a:r>
            <a:r>
              <a:rPr lang="pt-BR" sz="1800" dirty="0" err="1"/>
              <a:t>python</a:t>
            </a:r>
            <a:r>
              <a:rPr lang="pt-BR" sz="1800" dirty="0"/>
              <a:t> é necessário baixar usando o comando </a:t>
            </a:r>
            <a:r>
              <a:rPr lang="pt-BR" sz="1800" dirty="0" err="1"/>
              <a:t>pip</a:t>
            </a:r>
            <a:r>
              <a:rPr lang="pt-BR" sz="1800" dirty="0"/>
              <a:t> abaixo: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Como instalar a </a:t>
            </a:r>
            <a:r>
              <a:rPr lang="pt-BR" sz="1800" dirty="0" err="1"/>
              <a:t>Matpotlib</a:t>
            </a:r>
            <a:r>
              <a:rPr lang="pt-BR" sz="1800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pip</a:t>
            </a:r>
            <a:r>
              <a:rPr lang="pt-BR" sz="1800" dirty="0"/>
              <a:t> </a:t>
            </a:r>
            <a:r>
              <a:rPr lang="pt-BR" sz="1800" dirty="0" err="1"/>
              <a:t>install</a:t>
            </a:r>
            <a:r>
              <a:rPr lang="pt-BR" sz="1800" dirty="0"/>
              <a:t> </a:t>
            </a:r>
            <a:r>
              <a:rPr lang="pt-BR" sz="1800" dirty="0" err="1"/>
              <a:t>matplotlib</a:t>
            </a: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22A14B8-3B82-1846-4517-0EEAA4F09E45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b="1" dirty="0"/>
              <a:t>Estrutura básica de um programa com </a:t>
            </a:r>
            <a:r>
              <a:rPr lang="pt-BR" sz="1800" b="1" dirty="0" err="1"/>
              <a:t>Matpotlib</a:t>
            </a: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matplotlib.pyplot</a:t>
            </a:r>
            <a:r>
              <a:rPr lang="pt-BR" sz="1800" dirty="0"/>
              <a:t> as </a:t>
            </a:r>
            <a:r>
              <a:rPr lang="pt-BR" sz="1800" dirty="0" err="1"/>
              <a:t>plt</a:t>
            </a: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 Dados de exemplo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x = [1, 2, 3, 4, 5]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y = [2, 4, 6, 8, 10]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 Criando o gráfico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plt.plot</a:t>
            </a:r>
            <a:r>
              <a:rPr lang="pt-BR" sz="1800" dirty="0"/>
              <a:t>(x, y, </a:t>
            </a:r>
            <a:r>
              <a:rPr lang="pt-BR" sz="1800" dirty="0" err="1"/>
              <a:t>marker</a:t>
            </a:r>
            <a:r>
              <a:rPr lang="pt-BR" sz="1800" dirty="0"/>
              <a:t>="o")  # linha com marcadores nos pontos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plt.title</a:t>
            </a:r>
            <a:r>
              <a:rPr lang="pt-BR" sz="1800" dirty="0"/>
              <a:t>("Exemplo de Gráfico Simples")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plt.xlabel</a:t>
            </a:r>
            <a:r>
              <a:rPr lang="pt-BR" sz="1800" dirty="0"/>
              <a:t>("Eixo X")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plt.ylabel</a:t>
            </a:r>
            <a:r>
              <a:rPr lang="pt-BR" sz="1800" dirty="0"/>
              <a:t>("Eixo Y")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 Mostrar o gráfico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plt.show</a:t>
            </a:r>
            <a:r>
              <a:rPr lang="pt-BR" sz="1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42044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GRÁFICOS</a:t>
            </a:r>
            <a:endParaRPr lang="pt-BR" sz="5400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b="1" dirty="0"/>
              <a:t>Outros exemplos simples: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📊 Gráfico de barras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matplotlib.pyplot</a:t>
            </a:r>
            <a:r>
              <a:rPr lang="pt-BR" sz="1800" dirty="0"/>
              <a:t> as </a:t>
            </a:r>
            <a:r>
              <a:rPr lang="pt-BR" sz="1800" dirty="0" err="1"/>
              <a:t>plt</a:t>
            </a:r>
            <a:endParaRPr lang="pt-BR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categorias = ["A", "B", "C", "D"]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valores = [10, 15, 7, 12]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plt.bar</a:t>
            </a:r>
            <a:r>
              <a:rPr lang="pt-BR" sz="1800" dirty="0"/>
              <a:t>(categorias, valores, color="</a:t>
            </a:r>
            <a:r>
              <a:rPr lang="pt-BR" sz="1800" dirty="0" err="1"/>
              <a:t>skyblue</a:t>
            </a:r>
            <a:r>
              <a:rPr lang="pt-BR" sz="1800" dirty="0"/>
              <a:t>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plt.title</a:t>
            </a:r>
            <a:r>
              <a:rPr lang="pt-BR" sz="1800" dirty="0"/>
              <a:t>("Exemplo de Gráfico de Barras")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plt.show</a:t>
            </a:r>
            <a:r>
              <a:rPr lang="pt-BR" sz="1800" dirty="0"/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22A14B8-3B82-1846-4517-0EEAA4F09E45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         Gráfico de pizza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matplotlib.pyplot</a:t>
            </a:r>
            <a:r>
              <a:rPr lang="pt-BR" sz="1800" dirty="0"/>
              <a:t> as </a:t>
            </a:r>
            <a:r>
              <a:rPr lang="pt-BR" sz="1800" dirty="0" err="1"/>
              <a:t>plt</a:t>
            </a: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valores = [30, 20, 25, 25]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labels</a:t>
            </a:r>
            <a:r>
              <a:rPr lang="pt-BR" sz="1800" dirty="0"/>
              <a:t> = ["A", "B", "C", "D"]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plt.pie</a:t>
            </a:r>
            <a:r>
              <a:rPr lang="pt-BR" sz="1800" dirty="0"/>
              <a:t>(valores, </a:t>
            </a:r>
            <a:r>
              <a:rPr lang="pt-BR" sz="1800" dirty="0" err="1"/>
              <a:t>labels</a:t>
            </a:r>
            <a:r>
              <a:rPr lang="pt-BR" sz="1800" dirty="0"/>
              <a:t>=</a:t>
            </a:r>
            <a:r>
              <a:rPr lang="pt-BR" sz="1800" dirty="0" err="1"/>
              <a:t>labels</a:t>
            </a:r>
            <a:r>
              <a:rPr lang="pt-BR" sz="1800" dirty="0"/>
              <a:t>, </a:t>
            </a:r>
            <a:r>
              <a:rPr lang="pt-BR" sz="1800" dirty="0" err="1"/>
              <a:t>autopct</a:t>
            </a:r>
            <a:r>
              <a:rPr lang="pt-BR" sz="1800" dirty="0"/>
              <a:t>="%1.1f%%")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plt.title</a:t>
            </a:r>
            <a:r>
              <a:rPr lang="pt-BR" sz="1800" dirty="0"/>
              <a:t>("Exemplo de Gráfico de Pizza")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plt.show</a:t>
            </a:r>
            <a:r>
              <a:rPr lang="pt-BR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</p:txBody>
      </p:sp>
      <p:pic>
        <p:nvPicPr>
          <p:cNvPr id="8" name="Gráfico 7" descr="Gráfico de pizza">
            <a:extLst>
              <a:ext uri="{FF2B5EF4-FFF2-40B4-BE49-F238E27FC236}">
                <a16:creationId xmlns:a16="http://schemas.microsoft.com/office/drawing/2014/main" id="{B518D37F-C95A-4692-80D1-8AE4C60051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7990" y="875327"/>
            <a:ext cx="371685" cy="37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17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GRÁFICOS</a:t>
            </a:r>
            <a:endParaRPr lang="pt-BR" sz="5400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/>
              <a:t>Exemplo: gráfico de linha com dados digitados pelo usuário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 err="1"/>
              <a:t>import</a:t>
            </a:r>
            <a:r>
              <a:rPr lang="pt-BR" sz="2000" dirty="0"/>
              <a:t> </a:t>
            </a:r>
            <a:r>
              <a:rPr lang="pt-BR" sz="2000" dirty="0" err="1"/>
              <a:t>matplotlib.pyplot</a:t>
            </a:r>
            <a:r>
              <a:rPr lang="pt-BR" sz="2000" dirty="0"/>
              <a:t> as </a:t>
            </a:r>
            <a:r>
              <a:rPr lang="pt-BR" sz="2000" dirty="0" err="1"/>
              <a:t>plt</a:t>
            </a:r>
            <a:endParaRPr lang="pt-BR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/>
              <a:t># Usuário digita valores separados por vírgula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/>
              <a:t>x = </a:t>
            </a:r>
            <a:r>
              <a:rPr lang="pt-BR" sz="2000" dirty="0" err="1"/>
              <a:t>list</a:t>
            </a:r>
            <a:r>
              <a:rPr lang="pt-BR" sz="2000" dirty="0"/>
              <a:t>(</a:t>
            </a:r>
            <a:r>
              <a:rPr lang="pt-BR" sz="2000" dirty="0" err="1"/>
              <a:t>map</a:t>
            </a:r>
            <a:r>
              <a:rPr lang="pt-BR" sz="2000" dirty="0"/>
              <a:t>(</a:t>
            </a:r>
            <a:r>
              <a:rPr lang="pt-BR" sz="2000" dirty="0" err="1"/>
              <a:t>int</a:t>
            </a:r>
            <a:r>
              <a:rPr lang="pt-BR" sz="2000" dirty="0"/>
              <a:t>, input("Digite os valores de X separados por vírgula: ").split(",")))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/>
              <a:t>y = </a:t>
            </a:r>
            <a:r>
              <a:rPr lang="pt-BR" sz="2000" dirty="0" err="1"/>
              <a:t>list</a:t>
            </a:r>
            <a:r>
              <a:rPr lang="pt-BR" sz="2000" dirty="0"/>
              <a:t>(</a:t>
            </a:r>
            <a:r>
              <a:rPr lang="pt-BR" sz="2000" dirty="0" err="1"/>
              <a:t>map</a:t>
            </a:r>
            <a:r>
              <a:rPr lang="pt-BR" sz="2000" dirty="0"/>
              <a:t>(</a:t>
            </a:r>
            <a:r>
              <a:rPr lang="pt-BR" sz="2000" dirty="0" err="1"/>
              <a:t>int</a:t>
            </a:r>
            <a:r>
              <a:rPr lang="pt-BR" sz="2000" dirty="0"/>
              <a:t>, input("Digite os valores de Y separados por vírgula: ").split(",")))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/>
              <a:t># Criar o gráfico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 err="1"/>
              <a:t>plt.plot</a:t>
            </a:r>
            <a:r>
              <a:rPr lang="pt-BR" sz="2000" dirty="0"/>
              <a:t>(x, y, </a:t>
            </a:r>
            <a:r>
              <a:rPr lang="pt-BR" sz="2000" dirty="0" err="1"/>
              <a:t>marker</a:t>
            </a:r>
            <a:r>
              <a:rPr lang="pt-BR" sz="2000" dirty="0"/>
              <a:t>="o")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 err="1"/>
              <a:t>plt.title</a:t>
            </a:r>
            <a:r>
              <a:rPr lang="pt-BR" sz="2000" dirty="0"/>
              <a:t>("Gráfico Simples com Dados do Usuário")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 err="1"/>
              <a:t>plt.xlabel</a:t>
            </a:r>
            <a:r>
              <a:rPr lang="pt-BR" sz="2000" dirty="0"/>
              <a:t>("Eixo X")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 err="1"/>
              <a:t>plt.ylabel</a:t>
            </a:r>
            <a:r>
              <a:rPr lang="pt-BR" sz="2000" dirty="0"/>
              <a:t>("Eixo Y")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/>
              <a:t># Mostrar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 err="1"/>
              <a:t>plt.show</a:t>
            </a:r>
            <a:r>
              <a:rPr lang="pt-BR" sz="2000" dirty="0"/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887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GRÁFICOS</a:t>
            </a:r>
            <a:endParaRPr lang="pt-BR" sz="5400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 fontScale="40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 err="1"/>
              <a:t>import</a:t>
            </a:r>
            <a:r>
              <a:rPr lang="pt-BR" sz="2900" dirty="0"/>
              <a:t> </a:t>
            </a:r>
            <a:r>
              <a:rPr lang="pt-BR" sz="2900" dirty="0" err="1"/>
              <a:t>tkinter</a:t>
            </a:r>
            <a:r>
              <a:rPr lang="pt-BR" sz="2900" dirty="0"/>
              <a:t> as </a:t>
            </a:r>
            <a:r>
              <a:rPr lang="pt-BR" sz="2900" dirty="0" err="1"/>
              <a:t>tk</a:t>
            </a:r>
            <a:endParaRPr lang="pt-BR" sz="2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 err="1"/>
              <a:t>from</a:t>
            </a:r>
            <a:r>
              <a:rPr lang="pt-BR" sz="2900" dirty="0"/>
              <a:t> </a:t>
            </a:r>
            <a:r>
              <a:rPr lang="pt-BR" sz="2900" dirty="0" err="1"/>
              <a:t>tkinter</a:t>
            </a:r>
            <a:r>
              <a:rPr lang="pt-BR" sz="2900" dirty="0"/>
              <a:t> </a:t>
            </a:r>
            <a:r>
              <a:rPr lang="pt-BR" sz="2900" dirty="0" err="1"/>
              <a:t>import</a:t>
            </a:r>
            <a:r>
              <a:rPr lang="pt-BR" sz="2900" dirty="0"/>
              <a:t> </a:t>
            </a:r>
            <a:r>
              <a:rPr lang="pt-BR" sz="2900" dirty="0" err="1"/>
              <a:t>messagebox</a:t>
            </a:r>
            <a:endParaRPr lang="pt-BR" sz="2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 err="1"/>
              <a:t>import</a:t>
            </a:r>
            <a:r>
              <a:rPr lang="pt-BR" sz="2900" dirty="0"/>
              <a:t> </a:t>
            </a:r>
            <a:r>
              <a:rPr lang="pt-BR" sz="2900" dirty="0" err="1"/>
              <a:t>matplotlib.pyplot</a:t>
            </a:r>
            <a:r>
              <a:rPr lang="pt-BR" sz="2900" dirty="0"/>
              <a:t> as </a:t>
            </a:r>
            <a:r>
              <a:rPr lang="pt-BR" sz="2900" dirty="0" err="1"/>
              <a:t>plt</a:t>
            </a:r>
            <a:endParaRPr lang="pt-BR" sz="2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# Meses fixos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meses = ["Jan", "</a:t>
            </a:r>
            <a:r>
              <a:rPr lang="pt-BR" sz="2900" dirty="0" err="1"/>
              <a:t>Fev</a:t>
            </a:r>
            <a:r>
              <a:rPr lang="pt-BR" sz="2900" dirty="0"/>
              <a:t>", "Mar", "</a:t>
            </a:r>
            <a:r>
              <a:rPr lang="pt-BR" sz="2900" dirty="0" err="1"/>
              <a:t>Abr</a:t>
            </a:r>
            <a:r>
              <a:rPr lang="pt-BR" sz="2900" dirty="0"/>
              <a:t>", "Mai", "</a:t>
            </a:r>
            <a:r>
              <a:rPr lang="pt-BR" sz="2900" dirty="0" err="1"/>
              <a:t>Jun</a:t>
            </a:r>
            <a:r>
              <a:rPr lang="pt-BR" sz="2900" dirty="0"/>
              <a:t>"]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# Função para gerar gráfico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 err="1"/>
              <a:t>def</a:t>
            </a:r>
            <a:r>
              <a:rPr lang="pt-BR" sz="2900" dirty="0"/>
              <a:t> </a:t>
            </a:r>
            <a:r>
              <a:rPr lang="pt-BR" sz="2900" dirty="0" err="1"/>
              <a:t>mostrar_grafico</a:t>
            </a:r>
            <a:r>
              <a:rPr lang="pt-BR" sz="2900" dirty="0"/>
              <a:t>():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</a:t>
            </a:r>
            <a:r>
              <a:rPr lang="pt-BR" sz="2900" dirty="0" err="1"/>
              <a:t>try</a:t>
            </a:r>
            <a:r>
              <a:rPr lang="pt-BR" sz="29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pesos = [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    </a:t>
            </a:r>
            <a:r>
              <a:rPr lang="pt-BR" sz="2900" dirty="0" err="1"/>
              <a:t>float</a:t>
            </a:r>
            <a:r>
              <a:rPr lang="pt-BR" sz="2900" dirty="0"/>
              <a:t>(</a:t>
            </a:r>
            <a:r>
              <a:rPr lang="pt-BR" sz="2900" dirty="0" err="1"/>
              <a:t>entry_jan.get</a:t>
            </a:r>
            <a:r>
              <a:rPr lang="pt-BR" sz="2900" dirty="0"/>
              <a:t>()),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    </a:t>
            </a:r>
            <a:r>
              <a:rPr lang="pt-BR" sz="2900" dirty="0" err="1"/>
              <a:t>float</a:t>
            </a:r>
            <a:r>
              <a:rPr lang="pt-BR" sz="2900" dirty="0"/>
              <a:t>(</a:t>
            </a:r>
            <a:r>
              <a:rPr lang="pt-BR" sz="2900" dirty="0" err="1"/>
              <a:t>entry_fev.get</a:t>
            </a:r>
            <a:r>
              <a:rPr lang="pt-BR" sz="2900" dirty="0"/>
              <a:t>()),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    </a:t>
            </a:r>
            <a:r>
              <a:rPr lang="pt-BR" sz="2900" dirty="0" err="1"/>
              <a:t>float</a:t>
            </a:r>
            <a:r>
              <a:rPr lang="pt-BR" sz="2900" dirty="0"/>
              <a:t>(</a:t>
            </a:r>
            <a:r>
              <a:rPr lang="pt-BR" sz="2900" dirty="0" err="1"/>
              <a:t>entry_mar.get</a:t>
            </a:r>
            <a:r>
              <a:rPr lang="pt-BR" sz="2900" dirty="0"/>
              <a:t>()),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    </a:t>
            </a:r>
            <a:r>
              <a:rPr lang="pt-BR" sz="2900" dirty="0" err="1"/>
              <a:t>float</a:t>
            </a:r>
            <a:r>
              <a:rPr lang="pt-BR" sz="2900" dirty="0"/>
              <a:t>(</a:t>
            </a:r>
            <a:r>
              <a:rPr lang="pt-BR" sz="2900" dirty="0" err="1"/>
              <a:t>entry_abr.get</a:t>
            </a:r>
            <a:r>
              <a:rPr lang="pt-BR" sz="2900" dirty="0"/>
              <a:t>()),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    </a:t>
            </a:r>
            <a:r>
              <a:rPr lang="pt-BR" sz="2900" dirty="0" err="1"/>
              <a:t>float</a:t>
            </a:r>
            <a:r>
              <a:rPr lang="pt-BR" sz="2900" dirty="0"/>
              <a:t>(</a:t>
            </a:r>
            <a:r>
              <a:rPr lang="pt-BR" sz="2900" dirty="0" err="1"/>
              <a:t>entry_mai.get</a:t>
            </a:r>
            <a:r>
              <a:rPr lang="pt-BR" sz="2900" dirty="0"/>
              <a:t>()),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    </a:t>
            </a:r>
            <a:r>
              <a:rPr lang="pt-BR" sz="2900" dirty="0" err="1"/>
              <a:t>float</a:t>
            </a:r>
            <a:r>
              <a:rPr lang="pt-BR" sz="2900" dirty="0"/>
              <a:t>(</a:t>
            </a:r>
            <a:r>
              <a:rPr lang="pt-BR" sz="2900" dirty="0" err="1"/>
              <a:t>entry_jun.get</a:t>
            </a:r>
            <a:r>
              <a:rPr lang="pt-BR" sz="2900" dirty="0"/>
              <a:t>())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# Criar gráfico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</a:t>
            </a:r>
            <a:r>
              <a:rPr lang="pt-BR" sz="2900" dirty="0" err="1"/>
              <a:t>plt.plot</a:t>
            </a:r>
            <a:r>
              <a:rPr lang="pt-BR" sz="2900" dirty="0"/>
              <a:t>(meses, pesos, </a:t>
            </a:r>
            <a:r>
              <a:rPr lang="pt-BR" sz="2900" dirty="0" err="1"/>
              <a:t>marker</a:t>
            </a:r>
            <a:r>
              <a:rPr lang="pt-BR" sz="2900" dirty="0"/>
              <a:t>="o", </a:t>
            </a:r>
            <a:r>
              <a:rPr lang="pt-BR" sz="2900" dirty="0" err="1"/>
              <a:t>linestyle</a:t>
            </a:r>
            <a:r>
              <a:rPr lang="pt-BR" sz="2900" dirty="0"/>
              <a:t>="-", color="blue")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</a:t>
            </a:r>
            <a:r>
              <a:rPr lang="pt-BR" sz="2900" dirty="0" err="1"/>
              <a:t>plt.title</a:t>
            </a:r>
            <a:r>
              <a:rPr lang="pt-BR" sz="2900" dirty="0"/>
              <a:t>("Evolução do Peso nos Últimos 6 Meses")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</a:t>
            </a:r>
            <a:r>
              <a:rPr lang="pt-BR" sz="2900" dirty="0" err="1"/>
              <a:t>plt.xlabel</a:t>
            </a:r>
            <a:r>
              <a:rPr lang="pt-BR" sz="2900" dirty="0"/>
              <a:t>("Meses")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</a:t>
            </a:r>
            <a:r>
              <a:rPr lang="pt-BR" sz="2900" dirty="0" err="1"/>
              <a:t>plt.ylabel</a:t>
            </a:r>
            <a:r>
              <a:rPr lang="pt-BR" sz="2900" dirty="0"/>
              <a:t>("Peso (kg)")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# Mostrar valores no gráfico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for i, valor in </a:t>
            </a:r>
            <a:r>
              <a:rPr lang="pt-BR" sz="2900" dirty="0" err="1"/>
              <a:t>enumerate</a:t>
            </a:r>
            <a:r>
              <a:rPr lang="pt-BR" sz="2900" dirty="0"/>
              <a:t>(pesos):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    </a:t>
            </a:r>
            <a:r>
              <a:rPr lang="pt-BR" sz="2900" dirty="0" err="1"/>
              <a:t>plt.text</a:t>
            </a:r>
            <a:r>
              <a:rPr lang="pt-BR" sz="2900" dirty="0"/>
              <a:t>(meses[i], valor, f"{valor}kg", ha="center", </a:t>
            </a:r>
            <a:r>
              <a:rPr lang="pt-BR" sz="2900" dirty="0" err="1"/>
              <a:t>va</a:t>
            </a:r>
            <a:r>
              <a:rPr lang="pt-BR" sz="2900" dirty="0"/>
              <a:t>="</a:t>
            </a:r>
            <a:r>
              <a:rPr lang="pt-BR" sz="2900" dirty="0" err="1"/>
              <a:t>bottom</a:t>
            </a:r>
            <a:r>
              <a:rPr lang="pt-BR" sz="2900" dirty="0"/>
              <a:t>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</a:t>
            </a:r>
            <a:r>
              <a:rPr lang="pt-BR" sz="2900" dirty="0" err="1"/>
              <a:t>plt.show</a:t>
            </a:r>
            <a:r>
              <a:rPr lang="pt-BR" sz="2900" dirty="0"/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</a:t>
            </a:r>
            <a:r>
              <a:rPr lang="pt-BR" sz="2900" dirty="0" err="1"/>
              <a:t>except</a:t>
            </a:r>
            <a:r>
              <a:rPr lang="pt-BR" sz="2900" dirty="0"/>
              <a:t> </a:t>
            </a:r>
            <a:r>
              <a:rPr lang="pt-BR" sz="2900" dirty="0" err="1"/>
              <a:t>ValueError</a:t>
            </a:r>
            <a:r>
              <a:rPr lang="pt-BR" sz="29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900" dirty="0"/>
              <a:t>        </a:t>
            </a:r>
            <a:r>
              <a:rPr lang="pt-BR" sz="2900" dirty="0" err="1"/>
              <a:t>messagebox.showerror</a:t>
            </a:r>
            <a:r>
              <a:rPr lang="pt-BR" sz="2900" dirty="0"/>
              <a:t>("Erro", "Por favor, insira apenas números válidos!")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22A14B8-3B82-1846-4517-0EEAA4F09E45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/>
              <a:t># Criar janela principal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/>
              <a:t>root = </a:t>
            </a:r>
            <a:r>
              <a:rPr lang="pt-BR" sz="1900" dirty="0" err="1"/>
              <a:t>tk.Tk</a:t>
            </a:r>
            <a:r>
              <a:rPr lang="pt-BR" sz="19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root.title</a:t>
            </a:r>
            <a:r>
              <a:rPr lang="pt-BR" sz="1900" dirty="0"/>
              <a:t>("Registro de Peso")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/>
              <a:t># Criar entradas manualmente (sem laço)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tk.Label</a:t>
            </a:r>
            <a:r>
              <a:rPr lang="pt-BR" sz="1900" dirty="0"/>
              <a:t>(root, </a:t>
            </a:r>
            <a:r>
              <a:rPr lang="pt-BR" sz="1900" dirty="0" err="1"/>
              <a:t>text</a:t>
            </a:r>
            <a:r>
              <a:rPr lang="pt-BR" sz="1900" dirty="0"/>
              <a:t>="Peso em Jan:").pack()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entry_jan</a:t>
            </a:r>
            <a:r>
              <a:rPr lang="pt-BR" sz="1900" dirty="0"/>
              <a:t> = </a:t>
            </a:r>
            <a:r>
              <a:rPr lang="pt-BR" sz="1900" dirty="0" err="1"/>
              <a:t>tk.Entry</a:t>
            </a:r>
            <a:r>
              <a:rPr lang="pt-BR" sz="1900" dirty="0"/>
              <a:t>(root)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entry_jan.pack</a:t>
            </a:r>
            <a:r>
              <a:rPr lang="pt-BR" sz="19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tk.Label</a:t>
            </a:r>
            <a:r>
              <a:rPr lang="pt-BR" sz="1900" dirty="0"/>
              <a:t>(root, </a:t>
            </a:r>
            <a:r>
              <a:rPr lang="pt-BR" sz="1900" dirty="0" err="1"/>
              <a:t>text</a:t>
            </a:r>
            <a:r>
              <a:rPr lang="pt-BR" sz="1900" dirty="0"/>
              <a:t>="Peso em </a:t>
            </a:r>
            <a:r>
              <a:rPr lang="pt-BR" sz="1900" dirty="0" err="1"/>
              <a:t>Fev</a:t>
            </a:r>
            <a:r>
              <a:rPr lang="pt-BR" sz="1900" dirty="0"/>
              <a:t>:").pack()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entry_fev</a:t>
            </a:r>
            <a:r>
              <a:rPr lang="pt-BR" sz="1900" dirty="0"/>
              <a:t> = </a:t>
            </a:r>
            <a:r>
              <a:rPr lang="pt-BR" sz="1900" dirty="0" err="1"/>
              <a:t>tk.Entry</a:t>
            </a:r>
            <a:r>
              <a:rPr lang="pt-BR" sz="1900" dirty="0"/>
              <a:t>(root)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entry_fev.pack</a:t>
            </a:r>
            <a:r>
              <a:rPr lang="pt-BR" sz="19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tk.Label</a:t>
            </a:r>
            <a:r>
              <a:rPr lang="pt-BR" sz="1900" dirty="0"/>
              <a:t>(root, </a:t>
            </a:r>
            <a:r>
              <a:rPr lang="pt-BR" sz="1900" dirty="0" err="1"/>
              <a:t>text</a:t>
            </a:r>
            <a:r>
              <a:rPr lang="pt-BR" sz="1900" dirty="0"/>
              <a:t>="Peso em Mar:").pack()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entry_mar</a:t>
            </a:r>
            <a:r>
              <a:rPr lang="pt-BR" sz="1900" dirty="0"/>
              <a:t> = </a:t>
            </a:r>
            <a:r>
              <a:rPr lang="pt-BR" sz="1900" dirty="0" err="1"/>
              <a:t>tk.Entry</a:t>
            </a:r>
            <a:r>
              <a:rPr lang="pt-BR" sz="1900" dirty="0"/>
              <a:t>(root)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entry_mar.pack</a:t>
            </a:r>
            <a:r>
              <a:rPr lang="pt-BR" sz="19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tk.Label</a:t>
            </a:r>
            <a:r>
              <a:rPr lang="pt-BR" sz="1900" dirty="0"/>
              <a:t>(root, </a:t>
            </a:r>
            <a:r>
              <a:rPr lang="pt-BR" sz="1900" dirty="0" err="1"/>
              <a:t>text</a:t>
            </a:r>
            <a:r>
              <a:rPr lang="pt-BR" sz="1900" dirty="0"/>
              <a:t>="Peso em </a:t>
            </a:r>
            <a:r>
              <a:rPr lang="pt-BR" sz="1900" dirty="0" err="1"/>
              <a:t>Abr</a:t>
            </a:r>
            <a:r>
              <a:rPr lang="pt-BR" sz="1900" dirty="0"/>
              <a:t>:").pack()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entry_abr</a:t>
            </a:r>
            <a:r>
              <a:rPr lang="pt-BR" sz="1900" dirty="0"/>
              <a:t> = </a:t>
            </a:r>
            <a:r>
              <a:rPr lang="pt-BR" sz="1900" dirty="0" err="1"/>
              <a:t>tk.Entry</a:t>
            </a:r>
            <a:r>
              <a:rPr lang="pt-BR" sz="1900" dirty="0"/>
              <a:t>(root)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entry_abr.pack</a:t>
            </a:r>
            <a:r>
              <a:rPr lang="pt-BR" sz="19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tk.Label</a:t>
            </a:r>
            <a:r>
              <a:rPr lang="pt-BR" sz="1900" dirty="0"/>
              <a:t>(root, </a:t>
            </a:r>
            <a:r>
              <a:rPr lang="pt-BR" sz="1900" dirty="0" err="1"/>
              <a:t>text</a:t>
            </a:r>
            <a:r>
              <a:rPr lang="pt-BR" sz="1900" dirty="0"/>
              <a:t>="Peso em Mai:").pack()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entry_mai</a:t>
            </a:r>
            <a:r>
              <a:rPr lang="pt-BR" sz="1900" dirty="0"/>
              <a:t> = </a:t>
            </a:r>
            <a:r>
              <a:rPr lang="pt-BR" sz="1900" dirty="0" err="1"/>
              <a:t>tk.Entry</a:t>
            </a:r>
            <a:r>
              <a:rPr lang="pt-BR" sz="1900" dirty="0"/>
              <a:t>(root)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entry_mai.pack</a:t>
            </a:r>
            <a:r>
              <a:rPr lang="pt-BR" sz="19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tk.Label</a:t>
            </a:r>
            <a:r>
              <a:rPr lang="pt-BR" sz="1900" dirty="0"/>
              <a:t>(root, </a:t>
            </a:r>
            <a:r>
              <a:rPr lang="pt-BR" sz="1900" dirty="0" err="1"/>
              <a:t>text</a:t>
            </a:r>
            <a:r>
              <a:rPr lang="pt-BR" sz="1900" dirty="0"/>
              <a:t>="Peso em </a:t>
            </a:r>
            <a:r>
              <a:rPr lang="pt-BR" sz="1900" dirty="0" err="1"/>
              <a:t>Jun</a:t>
            </a:r>
            <a:r>
              <a:rPr lang="pt-BR" sz="1900" dirty="0"/>
              <a:t>:").pack()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entry_jun</a:t>
            </a:r>
            <a:r>
              <a:rPr lang="pt-BR" sz="1900" dirty="0"/>
              <a:t> = </a:t>
            </a:r>
            <a:r>
              <a:rPr lang="pt-BR" sz="1900" dirty="0" err="1"/>
              <a:t>tk.Entry</a:t>
            </a:r>
            <a:r>
              <a:rPr lang="pt-BR" sz="1900" dirty="0"/>
              <a:t>(root)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entry_jun.pack</a:t>
            </a:r>
            <a:r>
              <a:rPr lang="pt-BR" sz="19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/>
              <a:t># Botão para mostrar gráfico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tk.Button</a:t>
            </a:r>
            <a:r>
              <a:rPr lang="pt-BR" sz="1900" dirty="0"/>
              <a:t>(root, </a:t>
            </a:r>
            <a:r>
              <a:rPr lang="pt-BR" sz="1900" dirty="0" err="1"/>
              <a:t>text</a:t>
            </a:r>
            <a:r>
              <a:rPr lang="pt-BR" sz="1900" dirty="0"/>
              <a:t>="Mostrar Gráfico", </a:t>
            </a:r>
            <a:r>
              <a:rPr lang="pt-BR" sz="1900" dirty="0" err="1"/>
              <a:t>command</a:t>
            </a:r>
            <a:r>
              <a:rPr lang="pt-BR" sz="1900" dirty="0"/>
              <a:t>=</a:t>
            </a:r>
            <a:r>
              <a:rPr lang="pt-BR" sz="1900" dirty="0" err="1"/>
              <a:t>mostrar_grafico</a:t>
            </a:r>
            <a:r>
              <a:rPr lang="pt-BR" sz="1900" dirty="0"/>
              <a:t>).pack(</a:t>
            </a:r>
            <a:r>
              <a:rPr lang="pt-BR" sz="1900" dirty="0" err="1"/>
              <a:t>pady</a:t>
            </a:r>
            <a:r>
              <a:rPr lang="pt-BR" sz="1900" dirty="0"/>
              <a:t>=10)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/>
              <a:t># Rodar interface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 err="1"/>
              <a:t>root.mainloop</a:t>
            </a:r>
            <a:r>
              <a:rPr lang="pt-BR" sz="19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715040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ARQUIVOS EXECUTAVEIS</a:t>
            </a:r>
            <a:endParaRPr lang="pt-BR" sz="5400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Um arquivo executável (.</a:t>
            </a:r>
            <a:r>
              <a:rPr lang="pt-BR" sz="1800" dirty="0" err="1"/>
              <a:t>exe</a:t>
            </a:r>
            <a:r>
              <a:rPr lang="pt-BR" sz="1800" dirty="0"/>
              <a:t>) é um arquivo que foi compilado em linguagem de máquina para rodar diretamente sem precisar do interpretador da linguagem.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Existem várias formas de transformar um arquivo de uma determinada linguagem de programação em executável. Em </a:t>
            </a:r>
            <a:r>
              <a:rPr lang="pt-BR" sz="1800" dirty="0" err="1"/>
              <a:t>python</a:t>
            </a:r>
            <a:r>
              <a:rPr lang="pt-BR" sz="1800" dirty="0"/>
              <a:t> uma das formas é usando a biblioteca abaixo.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Exemplo: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dirty="0" err="1"/>
              <a:t>python</a:t>
            </a:r>
            <a:r>
              <a:rPr lang="pt-BR" dirty="0"/>
              <a:t> -m </a:t>
            </a:r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auto-</a:t>
            </a:r>
            <a:r>
              <a:rPr lang="pt-BR" dirty="0" err="1"/>
              <a:t>py</a:t>
            </a:r>
            <a:r>
              <a:rPr lang="pt-BR" dirty="0"/>
              <a:t>-</a:t>
            </a:r>
            <a:r>
              <a:rPr lang="pt-BR" dirty="0" err="1"/>
              <a:t>to-exe</a:t>
            </a:r>
            <a:endParaRPr lang="pt-BR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Após instalar a biblioteca, usar o comando abaixo para transformar o arquivo: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dirty="0" err="1"/>
              <a:t>python</a:t>
            </a:r>
            <a:r>
              <a:rPr lang="pt-BR" dirty="0"/>
              <a:t> -m </a:t>
            </a:r>
            <a:r>
              <a:rPr lang="pt-BR" dirty="0" err="1"/>
              <a:t>auto_py_to_exe</a:t>
            </a:r>
            <a:endParaRPr lang="pt-BR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22A14B8-3B82-1846-4517-0EEAA4F09E45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900" dirty="0"/>
              <a:t>Escolher o local do arquivo, e 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F851601-3CAC-48EF-BF48-09377863F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367" y="1534484"/>
            <a:ext cx="4342542" cy="455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562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14069</TotalTime>
  <Words>1848</Words>
  <Application>Microsoft Office PowerPoint</Application>
  <PresentationFormat>Widescreen</PresentationFormat>
  <Paragraphs>300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Arial Unicode MS</vt:lpstr>
      <vt:lpstr>Agency FB</vt:lpstr>
      <vt:lpstr>Arial</vt:lpstr>
      <vt:lpstr>Calibri</vt:lpstr>
      <vt:lpstr>Calibri Light</vt:lpstr>
      <vt:lpstr>Times New Roman</vt:lpstr>
      <vt:lpstr>Tema do Office</vt:lpstr>
      <vt:lpstr>Apresentação do PowerPoint</vt:lpstr>
      <vt:lpstr>Variáveis, Escopo e Tratamento de Exceções em Python</vt:lpstr>
      <vt:lpstr>Variáveis, Escopo e Tratamento de Exceções em Python</vt:lpstr>
      <vt:lpstr>Variáveis, Escopo e Tratamento de Exceções em Python</vt:lpstr>
      <vt:lpstr>Variáveis, Escopo e Tratamento de Exceções em Python</vt:lpstr>
      <vt:lpstr>Variáveis, Escopo e Tratamento de Exceções em Python</vt:lpstr>
      <vt:lpstr>Variáveis, Escopo e Tratamento de Exceções em Python</vt:lpstr>
      <vt:lpstr>GRÁFICOS</vt:lpstr>
      <vt:lpstr>GRÁFICOS</vt:lpstr>
      <vt:lpstr>GRÁFICOS</vt:lpstr>
      <vt:lpstr>GRÁFICOS</vt:lpstr>
      <vt:lpstr>ARQUIVOS EXECUTAVEIS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190</cp:revision>
  <dcterms:created xsi:type="dcterms:W3CDTF">2017-07-19T17:45:31Z</dcterms:created>
  <dcterms:modified xsi:type="dcterms:W3CDTF">2025-10-30T18:32:27Z</dcterms:modified>
</cp:coreProperties>
</file>