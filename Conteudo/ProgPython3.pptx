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25" r:id="rId4"/>
    <p:sldId id="326" r:id="rId5"/>
    <p:sldId id="327" r:id="rId6"/>
    <p:sldId id="328" r:id="rId7"/>
    <p:sldId id="329" r:id="rId8"/>
    <p:sldId id="332" r:id="rId9"/>
    <p:sldId id="333" r:id="rId10"/>
    <p:sldId id="330" r:id="rId11"/>
    <p:sldId id="331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325"/>
            <p14:sldId id="326"/>
            <p14:sldId id="327"/>
            <p14:sldId id="328"/>
            <p14:sldId id="329"/>
            <p14:sldId id="332"/>
            <p14:sldId id="333"/>
            <p14:sldId id="330"/>
            <p14:sldId id="331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66CC"/>
    <a:srgbClr val="CC0000"/>
    <a:srgbClr val="CC3300"/>
    <a:srgbClr val="FF66FF"/>
    <a:srgbClr val="00B0F0"/>
    <a:srgbClr val="FF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Estilo Escuro 1 - Ênfas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o-yong.tistory.com/entry/Google-Colab-%EB%8B%A8%EC%B6%95%ED%82%A4-%EB%AA%A8%EC%9D%8C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solution.pro/fr/t/google-colab/google-colab-quick-guide/google-colab-guide-rapide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 dirty="0"/>
              <a:t>Aula 3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3600" dirty="0"/>
              <a:t>O que é possível fazer no Google </a:t>
            </a:r>
            <a:r>
              <a:rPr lang="pt-BR" sz="3600" dirty="0" err="1"/>
              <a:t>Colab</a:t>
            </a:r>
            <a:r>
              <a:rPr lang="pt-BR" sz="3600" dirty="0"/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dirty="0"/>
              <a:t>Google </a:t>
            </a:r>
            <a:r>
              <a:rPr lang="pt-BR" sz="2000" dirty="0" err="1"/>
              <a:t>Colab</a:t>
            </a:r>
            <a:r>
              <a:rPr lang="pt-BR" sz="2000" dirty="0"/>
              <a:t> (ou </a:t>
            </a:r>
            <a:r>
              <a:rPr lang="pt-BR" sz="2000" dirty="0" err="1"/>
              <a:t>Colaboratory</a:t>
            </a:r>
            <a:r>
              <a:rPr lang="pt-BR" sz="2000" dirty="0"/>
              <a:t>) é uma plataforma online gratuita do Google que permite escrever e executar códigos Python diretamente no navegador, sem precisar instalar nada.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</a:rPr>
              <a:t>https://colab.google/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AD001AD-53B4-4EF2-A642-986D5641CE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313715" y="1509665"/>
            <a:ext cx="5715798" cy="405821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E7C84C8-BD01-4E98-8469-032040B5BD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853892" y="4075851"/>
            <a:ext cx="1930776" cy="193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221783" cy="5215431"/>
          </a:xfrm>
        </p:spPr>
        <p:txBody>
          <a:bodyPr>
            <a:normAutofit/>
          </a:bodyPr>
          <a:lstStyle/>
          <a:p>
            <a:r>
              <a:rPr lang="pt-BR" sz="2400" dirty="0"/>
              <a:t>Criar projetos de ciência de dados e IA. Ideal para trabalhar com bibliotecas como </a:t>
            </a:r>
            <a:r>
              <a:rPr lang="pt-BR" sz="2400" dirty="0" err="1"/>
              <a:t>NumPy</a:t>
            </a:r>
            <a:r>
              <a:rPr lang="pt-BR" sz="2400" dirty="0"/>
              <a:t>, Pandas, </a:t>
            </a:r>
            <a:r>
              <a:rPr lang="pt-BR" sz="2400" dirty="0" err="1"/>
              <a:t>Matplotlib</a:t>
            </a:r>
            <a:r>
              <a:rPr lang="pt-BR" sz="2400" dirty="0"/>
              <a:t>, </a:t>
            </a:r>
            <a:r>
              <a:rPr lang="pt-BR" sz="2400" dirty="0" err="1"/>
              <a:t>Scikit-learn</a:t>
            </a:r>
            <a:r>
              <a:rPr lang="pt-BR" sz="2400" dirty="0"/>
              <a:t>, </a:t>
            </a:r>
            <a:r>
              <a:rPr lang="pt-BR" sz="2400" dirty="0" err="1"/>
              <a:t>TensorFlow</a:t>
            </a:r>
            <a:r>
              <a:rPr lang="pt-BR" sz="2400" dirty="0"/>
              <a:t>, entre outras.</a:t>
            </a:r>
          </a:p>
          <a:p>
            <a:r>
              <a:rPr lang="pt-BR" sz="2400" dirty="0"/>
              <a:t>Usar poder de processamento gratuito. Acesso a </a:t>
            </a:r>
            <a:r>
              <a:rPr lang="pt-BR" sz="2400" dirty="0" err="1"/>
              <a:t>GPUs</a:t>
            </a:r>
            <a:r>
              <a:rPr lang="pt-BR" sz="2400" dirty="0"/>
              <a:t> e </a:t>
            </a:r>
            <a:r>
              <a:rPr lang="pt-BR" sz="2400" dirty="0" err="1"/>
              <a:t>TPUs</a:t>
            </a:r>
            <a:r>
              <a:rPr lang="pt-BR" sz="2400" dirty="0"/>
              <a:t> gratuitas, úteis para treinar modelos de inteligência artificial.</a:t>
            </a:r>
          </a:p>
          <a:p>
            <a:r>
              <a:rPr lang="pt-BR" sz="2400" dirty="0"/>
              <a:t>Importar e manipular </a:t>
            </a:r>
            <a:r>
              <a:rPr lang="pt-BR" sz="2400" dirty="0" err="1"/>
              <a:t>dados.Pode</a:t>
            </a:r>
            <a:r>
              <a:rPr lang="pt-BR" sz="2400" dirty="0"/>
              <a:t> carregar arquivos do computador, Google Drive, ou links externos para processar dados.</a:t>
            </a:r>
          </a:p>
          <a:p>
            <a:r>
              <a:rPr lang="pt-BR" sz="2400" dirty="0"/>
              <a:t>Documentar o código com texto formatado. Utiliza células </a:t>
            </a:r>
            <a:r>
              <a:rPr lang="pt-BR" sz="2400" dirty="0" err="1"/>
              <a:t>Markdown</a:t>
            </a:r>
            <a:r>
              <a:rPr lang="pt-BR" sz="2400" dirty="0"/>
              <a:t> para escrever explicações, títulos e fórmulas matemáticas com formatação.</a:t>
            </a:r>
          </a:p>
          <a:p>
            <a:r>
              <a:rPr lang="pt-BR" sz="2400" dirty="0"/>
              <a:t>Compartilhar com outras pessoas. Funciona como o Google </a:t>
            </a:r>
            <a:r>
              <a:rPr lang="pt-BR" sz="2400" dirty="0" err="1"/>
              <a:t>Docs</a:t>
            </a:r>
            <a:r>
              <a:rPr lang="pt-BR" sz="2400" dirty="0"/>
              <a:t>: você pode compartilhar o notebook com colegas ou professores.</a:t>
            </a:r>
          </a:p>
          <a:p>
            <a:r>
              <a:rPr lang="pt-BR" sz="2400" dirty="0"/>
              <a:t>Salvar no Google Drive automaticamente. Todos os notebooks podem ser salvos e acessados facilmente pela sua conta do Google.</a:t>
            </a:r>
          </a:p>
          <a:p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34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221783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NOTEBOOKS</a:t>
            </a:r>
          </a:p>
          <a:p>
            <a:pPr marL="0" indent="0">
              <a:buNone/>
            </a:pPr>
            <a:r>
              <a:rPr lang="pt-BR" dirty="0"/>
              <a:t>No Google </a:t>
            </a:r>
            <a:r>
              <a:rPr lang="pt-BR" dirty="0" err="1"/>
              <a:t>Colab</a:t>
            </a:r>
            <a:r>
              <a:rPr lang="pt-BR" dirty="0"/>
              <a:t>, um notebook é um documento interativo que permite combinar código executável (principalmente em Python), texto explicativo, imagens, equações e outros elementos em um único lugar. É uma ferramenta muito usada para desenvolvimento e compartilhamento de projetos de ciência de dados, aprendizado de máquina e análise, e é baseado na estrutura do </a:t>
            </a:r>
            <a:r>
              <a:rPr lang="pt-BR" dirty="0" err="1"/>
              <a:t>Jupyter</a:t>
            </a:r>
            <a:r>
              <a:rPr lang="pt-BR" dirty="0"/>
              <a:t> Notebook. Basta acessar o link do Google </a:t>
            </a:r>
            <a:r>
              <a:rPr lang="pt-BR" dirty="0" err="1"/>
              <a:t>Colab</a:t>
            </a:r>
            <a:r>
              <a:rPr lang="pt-BR" dirty="0"/>
              <a:t> e </a:t>
            </a:r>
            <a:r>
              <a:rPr lang="pt-BR" dirty="0" err="1"/>
              <a:t>logar</a:t>
            </a:r>
            <a:r>
              <a:rPr lang="pt-BR" dirty="0"/>
              <a:t> usando sua conta </a:t>
            </a:r>
            <a:r>
              <a:rPr lang="pt-BR" dirty="0" err="1"/>
              <a:t>google</a:t>
            </a:r>
            <a:r>
              <a:rPr lang="pt-BR" dirty="0"/>
              <a:t> com um </a:t>
            </a:r>
            <a:r>
              <a:rPr lang="pt-BR" dirty="0" err="1"/>
              <a:t>endereçoi</a:t>
            </a:r>
            <a:r>
              <a:rPr lang="pt-BR" dirty="0"/>
              <a:t> GMAIL.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3B73A63-6D11-4901-A5EF-750F6AC6D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160" y="4303455"/>
            <a:ext cx="4227015" cy="189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6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221783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NOTEBOOKS</a:t>
            </a:r>
          </a:p>
          <a:p>
            <a:pPr marL="0" indent="0">
              <a:buNone/>
            </a:pPr>
            <a:r>
              <a:rPr lang="pt-BR" dirty="0"/>
              <a:t>Na tela do notebook, você digita as instruções e clica no botão “EXECUTAR” para que ele processe as informações e exiba os resultados.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B6DC0C-8C6C-4B6E-8A4E-C38552185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072" y="2267227"/>
            <a:ext cx="6925642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0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221783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NOTEBOOKS</a:t>
            </a:r>
          </a:p>
          <a:p>
            <a:pPr marL="0" indent="0">
              <a:buNone/>
            </a:pPr>
            <a:r>
              <a:rPr lang="pt-BR" dirty="0"/>
              <a:t>Exemplo de instrução digitada no notebook para imprimir uma mensagem par ao usuário: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print(“</a:t>
            </a:r>
            <a:r>
              <a:rPr lang="pt-BR" dirty="0" err="1"/>
              <a:t>Hello</a:t>
            </a:r>
            <a:r>
              <a:rPr lang="pt-BR" dirty="0"/>
              <a:t> World em Python!")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“print” exibe na tela onde será consumida a aplicação criada em Python para o usuário final.</a:t>
            </a:r>
          </a:p>
        </p:txBody>
      </p:sp>
    </p:spTree>
    <p:extLst>
      <p:ext uri="{BB962C8B-B14F-4D97-AF65-F5344CB8AC3E}">
        <p14:creationId xmlns:p14="http://schemas.microsoft.com/office/powerpoint/2010/main" val="360150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221783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NOTEBOOKS</a:t>
            </a:r>
          </a:p>
          <a:p>
            <a:pPr marL="0" indent="0">
              <a:buNone/>
            </a:pPr>
            <a:r>
              <a:rPr lang="pt-BR" dirty="0"/>
              <a:t>Comparação do mesmo comando executado em 2 linguagens diferentes:</a:t>
            </a:r>
          </a:p>
          <a:p>
            <a:pPr marL="0" indent="0">
              <a:buNone/>
            </a:pPr>
            <a:r>
              <a:rPr lang="pt-BR" dirty="0"/>
              <a:t>Python</a:t>
            </a:r>
          </a:p>
          <a:p>
            <a:pPr marL="0" indent="0">
              <a:buNone/>
            </a:pPr>
            <a:r>
              <a:rPr lang="pt-BR" dirty="0"/>
              <a:t>print(“</a:t>
            </a:r>
            <a:r>
              <a:rPr lang="pt-BR" dirty="0" err="1"/>
              <a:t>Hello</a:t>
            </a:r>
            <a:r>
              <a:rPr lang="pt-BR" dirty="0"/>
              <a:t> World em Python!")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JAVA</a:t>
            </a:r>
          </a:p>
          <a:p>
            <a:pPr marL="0" indent="0">
              <a:buNone/>
            </a:pP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ImprimirTexto</a:t>
            </a:r>
            <a:r>
              <a:rPr lang="pt-BR" dirty="0"/>
              <a:t> {</a:t>
            </a: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  <a:br>
              <a:rPr lang="pt-BR" dirty="0"/>
            </a:br>
            <a:r>
              <a:rPr lang="pt-BR" dirty="0" err="1"/>
              <a:t>System.out.println</a:t>
            </a:r>
            <a:r>
              <a:rPr lang="pt-BR" dirty="0"/>
              <a:t>("Olá, mundo em Java!");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318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0" y="875327"/>
            <a:ext cx="11221783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NOTEBOOKS</a:t>
            </a:r>
          </a:p>
          <a:p>
            <a:pPr marL="0" indent="0">
              <a:buNone/>
            </a:pPr>
            <a:r>
              <a:rPr lang="pt-BR" dirty="0"/>
              <a:t>Comando para receber do usuário um valor</a:t>
            </a:r>
          </a:p>
          <a:p>
            <a:pPr marL="0" indent="0">
              <a:buNone/>
            </a:pPr>
            <a:r>
              <a:rPr lang="pt-BR" dirty="0"/>
              <a:t>Input()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dirty="0"/>
              <a:t>nome=input(“Informe o seu nome:”)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b="1" dirty="0"/>
              <a:t>nome</a:t>
            </a:r>
            <a:r>
              <a:rPr lang="pt-BR" dirty="0"/>
              <a:t> é o que chamamos de variável. O input esta sendo utilizado para receber um valor digitado e esta atribuindo este valor para a variável citada.</a:t>
            </a:r>
          </a:p>
        </p:txBody>
      </p:sp>
    </p:spTree>
    <p:extLst>
      <p:ext uri="{BB962C8B-B14F-4D97-AF65-F5344CB8AC3E}">
        <p14:creationId xmlns:p14="http://schemas.microsoft.com/office/powerpoint/2010/main" val="34585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08" y="746259"/>
            <a:ext cx="11221783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NOTEBOOKS</a:t>
            </a:r>
          </a:p>
          <a:p>
            <a:pPr marL="0" indent="0">
              <a:buNone/>
            </a:pPr>
            <a:r>
              <a:rPr lang="pt-BR" dirty="0"/>
              <a:t>Variáveis</a:t>
            </a:r>
          </a:p>
          <a:p>
            <a:pPr marL="0" indent="0">
              <a:buNone/>
            </a:pPr>
            <a:r>
              <a:rPr lang="pt-BR" dirty="0"/>
              <a:t>As variáveis são espaços que são reservados na memória do sistema que esta sendo utilizado para armazenar valores que podem sofrer alterações sempre que necessário. </a:t>
            </a:r>
          </a:p>
          <a:p>
            <a:pPr marL="0" indent="0">
              <a:buNone/>
            </a:pPr>
            <a:r>
              <a:rPr lang="pt-BR" dirty="0"/>
              <a:t>Porém cada tipo de valor possuem uma forma correta de ser identificado em uma variável.</a:t>
            </a:r>
          </a:p>
          <a:p>
            <a:pPr marL="0" indent="0">
              <a:buNone/>
            </a:pPr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dirty="0"/>
              <a:t>Inteiros: </a:t>
            </a:r>
            <a:r>
              <a:rPr lang="pt-BR" dirty="0" err="1"/>
              <a:t>int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Decimais: </a:t>
            </a:r>
            <a:r>
              <a:rPr lang="pt-BR" dirty="0" err="1"/>
              <a:t>float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Textos: </a:t>
            </a:r>
            <a:r>
              <a:rPr lang="pt-BR" dirty="0" err="1"/>
              <a:t>str</a:t>
            </a:r>
            <a:r>
              <a:rPr lang="pt-BR" dirty="0"/>
              <a:t> (</a:t>
            </a:r>
            <a:r>
              <a:rPr lang="pt-BR" dirty="0" err="1"/>
              <a:t>string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500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578630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Operadores Matemáticos</a:t>
            </a:r>
          </a:p>
          <a:p>
            <a:pPr marL="0" indent="0" algn="just">
              <a:buNone/>
            </a:pPr>
            <a:r>
              <a:rPr lang="pt-BR" dirty="0"/>
              <a:t>O Python pode ser utilizado como uma calculadora matemática avançada. Praticamente, todos os operadores aritméticos funcionam da mesma forma como os conhecemos da matemática elementar. Por exemplo, para trabalharmos com as 4 principais funções matemáticas, a soma, subtração, multiplicação e divisão, temos os operadores conforme tabela a seguir.</a:t>
            </a:r>
          </a:p>
        </p:txBody>
      </p:sp>
      <p:graphicFrame>
        <p:nvGraphicFramePr>
          <p:cNvPr id="9" name="Tabela 2">
            <a:extLst>
              <a:ext uri="{FF2B5EF4-FFF2-40B4-BE49-F238E27FC236}">
                <a16:creationId xmlns:a16="http://schemas.microsoft.com/office/drawing/2014/main" id="{AA814BF3-032D-4E2D-B09C-BC8AE5358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90578"/>
              </p:ext>
            </p:extLst>
          </p:nvPr>
        </p:nvGraphicFramePr>
        <p:xfrm>
          <a:off x="6761524" y="1733204"/>
          <a:ext cx="4376272" cy="296672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188136">
                  <a:extLst>
                    <a:ext uri="{9D8B030D-6E8A-4147-A177-3AD203B41FA5}">
                      <a16:colId xmlns:a16="http://schemas.microsoft.com/office/drawing/2014/main" val="176276110"/>
                    </a:ext>
                  </a:extLst>
                </a:gridCol>
                <a:gridCol w="2188136">
                  <a:extLst>
                    <a:ext uri="{9D8B030D-6E8A-4147-A177-3AD203B41FA5}">
                      <a16:colId xmlns:a16="http://schemas.microsoft.com/office/drawing/2014/main" val="3357701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Operação</a:t>
                      </a:r>
                      <a:endParaRPr lang="pt-BR" sz="1600" b="0" i="0" u="none" strike="noStrike" cap="none" dirty="0">
                        <a:solidFill>
                          <a:schemeClr val="lt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Operador</a:t>
                      </a:r>
                      <a:endParaRPr lang="pt-BR" sz="1600" b="0" i="0" u="none" strike="noStrike" cap="none" dirty="0">
                        <a:solidFill>
                          <a:schemeClr val="lt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7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Adição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+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58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Subtração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-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2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Multiplicação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*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96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Divisão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/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462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Exponenciação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**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367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Divisão parte inteira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//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160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Módulo / Resto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%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658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23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318B-1DFD-B4DC-6D21-97D50A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30DDC40-48A9-0B5A-3311-4003E8245319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F0169C6-AADD-862A-48EE-BEA7240F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82E55AD-D645-2702-2590-0D8663AE293B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7CB6A91-C7EA-D56F-71CE-18C06A9B7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01A32-93E4-F1CA-0B97-FC352D0D3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CA983F8-998E-7FA9-D2FE-37984A5D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/>
              <a:t>Programação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E22AE3E-BE8C-43E4-D97C-06E5AAA0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578630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Operadores Matemáticos</a:t>
            </a:r>
          </a:p>
          <a:p>
            <a:pPr marL="0" indent="0" algn="just">
              <a:buNone/>
            </a:pPr>
            <a:r>
              <a:rPr lang="pt-BR" dirty="0"/>
              <a:t>O Python pode ser utilizado como uma calculadora matemática avançada. Praticamente, todos os operadores aritméticos funcionam da mesma forma como os conhecemos da matemática elementar. Por exemplo, para trabalharmos com as 4 principais funções matemáticas, a soma, subtração, multiplicação e divisão, temos os operadores conforme tabela a seguir.</a:t>
            </a:r>
          </a:p>
        </p:txBody>
      </p:sp>
      <p:graphicFrame>
        <p:nvGraphicFramePr>
          <p:cNvPr id="9" name="Tabela 2">
            <a:extLst>
              <a:ext uri="{FF2B5EF4-FFF2-40B4-BE49-F238E27FC236}">
                <a16:creationId xmlns:a16="http://schemas.microsoft.com/office/drawing/2014/main" id="{AA814BF3-032D-4E2D-B09C-BC8AE5358AE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61524" y="1733204"/>
          <a:ext cx="4376272" cy="296672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188136">
                  <a:extLst>
                    <a:ext uri="{9D8B030D-6E8A-4147-A177-3AD203B41FA5}">
                      <a16:colId xmlns:a16="http://schemas.microsoft.com/office/drawing/2014/main" val="176276110"/>
                    </a:ext>
                  </a:extLst>
                </a:gridCol>
                <a:gridCol w="2188136">
                  <a:extLst>
                    <a:ext uri="{9D8B030D-6E8A-4147-A177-3AD203B41FA5}">
                      <a16:colId xmlns:a16="http://schemas.microsoft.com/office/drawing/2014/main" val="3357701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Operação</a:t>
                      </a:r>
                      <a:endParaRPr lang="pt-BR" sz="1600" b="0" i="0" u="none" strike="noStrike" cap="none" dirty="0">
                        <a:solidFill>
                          <a:schemeClr val="lt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Operador</a:t>
                      </a:r>
                      <a:endParaRPr lang="pt-BR" sz="1600" b="0" i="0" u="none" strike="noStrike" cap="none" dirty="0">
                        <a:solidFill>
                          <a:schemeClr val="lt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7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Adição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+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58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Subtração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-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2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Multiplicação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*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96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Divisão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/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462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Exponenciação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**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367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Divisão parte inteira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//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160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Módulo / Resto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cap="none" dirty="0">
                          <a:sym typeface="Anaheim"/>
                        </a:rPr>
                        <a:t>%</a:t>
                      </a:r>
                      <a:endParaRPr lang="pt-BR" sz="1600" b="0" i="0" u="none" strike="noStrike" cap="none" dirty="0">
                        <a:solidFill>
                          <a:schemeClr val="tx1"/>
                        </a:solidFill>
                        <a:latin typeface="Anaheim"/>
                        <a:sym typeface="Anahe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658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999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13973</TotalTime>
  <Words>705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Agency FB</vt:lpstr>
      <vt:lpstr>Anaheim</vt:lpstr>
      <vt:lpstr>Arial</vt:lpstr>
      <vt:lpstr>Calibri</vt:lpstr>
      <vt:lpstr>Calibri Light</vt:lpstr>
      <vt:lpstr>Tema do Office</vt:lpstr>
      <vt:lpstr>Apresentação do PowerPoint</vt:lpstr>
      <vt:lpstr>Programação em Python</vt:lpstr>
      <vt:lpstr>Programação em Python</vt:lpstr>
      <vt:lpstr>Programação em Python</vt:lpstr>
      <vt:lpstr>Programação em Python</vt:lpstr>
      <vt:lpstr>Programação em Python</vt:lpstr>
      <vt:lpstr>Programação em Python</vt:lpstr>
      <vt:lpstr>Programação em Python</vt:lpstr>
      <vt:lpstr>Programação em Python</vt:lpstr>
      <vt:lpstr>Programação em Python</vt:lpstr>
      <vt:lpstr>Programação em Python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169</cp:revision>
  <dcterms:created xsi:type="dcterms:W3CDTF">2017-07-19T17:45:31Z</dcterms:created>
  <dcterms:modified xsi:type="dcterms:W3CDTF">2025-09-23T21:12:57Z</dcterms:modified>
</cp:coreProperties>
</file>